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 /><Relationship Id="rId29" Type="http://schemas.openxmlformats.org/officeDocument/2006/relationships/tableStyles" Target="tableStyles.xml" /><Relationship Id="rId3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3766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6058617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570736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8233989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354110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6730443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6721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78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18486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1707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76486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270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6275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9495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8337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2084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98636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87443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8032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300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8883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862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6130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07147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1048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72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73259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4826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5391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1604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228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7523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82077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7137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12740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40208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5627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72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6683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80084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1626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8145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2849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7201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591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6236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414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4730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6139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8227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4329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4322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69924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23964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3546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1234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2035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420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608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327898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5564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55840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2663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140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9016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69599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887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38696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0745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201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2492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5054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086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5759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46001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883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1396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3987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4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5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0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286422" name="Text 0"/>
          <p:cNvSpPr/>
          <p:nvPr/>
        </p:nvSpPr>
        <p:spPr bwMode="auto"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6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WORKSHOP · 90 MIN</a:t>
            </a:r>
            <a:endParaRPr lang="en-US" sz="1200"/>
          </a:p>
        </p:txBody>
      </p:sp>
      <p:sp>
        <p:nvSpPr>
          <p:cNvPr id="1388869714" name="Text 1"/>
          <p:cNvSpPr/>
          <p:nvPr/>
        </p:nvSpPr>
        <p:spPr bwMode="auto">
          <a:xfrm>
            <a:off x="548640" y="1592454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Creación de agentes de IA</a:t>
            </a:r>
            <a:endParaRPr lang="en-US" sz="5600"/>
          </a:p>
        </p:txBody>
      </p:sp>
      <p:sp>
        <p:nvSpPr>
          <p:cNvPr id="438377865" name="Text 2"/>
          <p:cNvSpPr/>
          <p:nvPr/>
        </p:nvSpPr>
        <p:spPr bwMode="auto">
          <a:xfrm>
            <a:off x="548640" y="2415414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400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para automatización de procesos</a:t>
            </a:r>
            <a:endParaRPr lang="en-US" sz="4400"/>
          </a:p>
        </p:txBody>
      </p:sp>
      <p:sp>
        <p:nvSpPr>
          <p:cNvPr id="1286904091" name="Shape 4"/>
          <p:cNvSpPr/>
          <p:nvPr/>
        </p:nvSpPr>
        <p:spPr bwMode="auto">
          <a:xfrm>
            <a:off x="548640" y="3176852"/>
            <a:ext cx="3657600" cy="0"/>
          </a:xfrm>
          <a:prstGeom prst="line">
            <a:avLst/>
          </a:prstGeom>
          <a:noFill/>
          <a:ln w="25400">
            <a:solidFill>
              <a:srgbClr val="00D9FF"/>
            </a:solidFill>
            <a:prstDash val="solid"/>
          </a:ln>
        </p:spPr>
      </p:sp>
      <p:pic>
        <p:nvPicPr>
          <p:cNvPr id="1460345812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40080" y="4297680"/>
            <a:ext cx="457200" cy="457200"/>
          </a:xfrm>
          <a:prstGeom prst="rect">
            <a:avLst/>
          </a:prstGeom>
        </p:spPr>
      </p:pic>
      <p:sp>
        <p:nvSpPr>
          <p:cNvPr id="1117764476" name="Text 5"/>
          <p:cNvSpPr/>
          <p:nvPr/>
        </p:nvSpPr>
        <p:spPr bwMode="auto">
          <a:xfrm>
            <a:off x="118872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3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FUNDAMENTOS</a:t>
            </a:r>
            <a:endParaRPr lang="en-US" sz="1300"/>
          </a:p>
        </p:txBody>
      </p:sp>
      <p:sp>
        <p:nvSpPr>
          <p:cNvPr id="1800642912" name="Text 6"/>
          <p:cNvSpPr/>
          <p:nvPr/>
        </p:nvSpPr>
        <p:spPr bwMode="auto">
          <a:xfrm>
            <a:off x="1188720" y="4526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Fundamentals</a:t>
            </a:r>
            <a:endParaRPr lang="en-US" sz="1000"/>
          </a:p>
        </p:txBody>
      </p:sp>
      <p:pic>
        <p:nvPicPr>
          <p:cNvPr id="1182174120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297680" y="4297680"/>
            <a:ext cx="457200" cy="457200"/>
          </a:xfrm>
          <a:prstGeom prst="rect">
            <a:avLst/>
          </a:prstGeom>
        </p:spPr>
      </p:pic>
      <p:sp>
        <p:nvSpPr>
          <p:cNvPr id="1798670581" name="Text 7"/>
          <p:cNvSpPr/>
          <p:nvPr/>
        </p:nvSpPr>
        <p:spPr bwMode="auto">
          <a:xfrm>
            <a:off x="484632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3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ARQUITECTURAS</a:t>
            </a:r>
            <a:endParaRPr lang="en-US" sz="1300"/>
          </a:p>
        </p:txBody>
      </p:sp>
      <p:sp>
        <p:nvSpPr>
          <p:cNvPr id="1954238870" name="Text 8"/>
          <p:cNvSpPr/>
          <p:nvPr/>
        </p:nvSpPr>
        <p:spPr bwMode="auto">
          <a:xfrm>
            <a:off x="4846320" y="4526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Architectures</a:t>
            </a:r>
            <a:endParaRPr lang="en-US" sz="1000"/>
          </a:p>
        </p:txBody>
      </p:sp>
      <p:pic>
        <p:nvPicPr>
          <p:cNvPr id="574061626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955280" y="4297680"/>
            <a:ext cx="457200" cy="457200"/>
          </a:xfrm>
          <a:prstGeom prst="rect">
            <a:avLst/>
          </a:prstGeom>
        </p:spPr>
      </p:pic>
      <p:sp>
        <p:nvSpPr>
          <p:cNvPr id="1254350028" name="Text 9"/>
          <p:cNvSpPr/>
          <p:nvPr/>
        </p:nvSpPr>
        <p:spPr bwMode="auto">
          <a:xfrm>
            <a:off x="850392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3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WORKSHOP</a:t>
            </a:r>
            <a:endParaRPr lang="en-US" sz="1300"/>
          </a:p>
        </p:txBody>
      </p:sp>
      <p:sp>
        <p:nvSpPr>
          <p:cNvPr id="1008493900" name="Text 10"/>
          <p:cNvSpPr/>
          <p:nvPr/>
        </p:nvSpPr>
        <p:spPr bwMode="auto">
          <a:xfrm>
            <a:off x="8503920" y="4526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Hands-on</a:t>
            </a:r>
            <a:endParaRPr lang="en-US" sz="1000"/>
          </a:p>
        </p:txBody>
      </p:sp>
      <p:sp>
        <p:nvSpPr>
          <p:cNvPr id="1650913213" name="Text 12"/>
          <p:cNvSpPr/>
          <p:nvPr/>
        </p:nvSpPr>
        <p:spPr bwMode="auto">
          <a:xfrm>
            <a:off x="548640" y="6126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0" i="0" u="none" strike="noStrike" cap="none" spc="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Cristian Rios · elrarodenegro</a:t>
            </a:r>
            <a:endParaRPr lang="en-US" sz="1100"/>
          </a:p>
        </p:txBody>
      </p:sp>
      <p:sp>
        <p:nvSpPr>
          <p:cNvPr id="845111754" name="Shape 13"/>
          <p:cNvSpPr/>
          <p:nvPr/>
        </p:nvSpPr>
        <p:spPr bwMode="auto">
          <a:xfrm>
            <a:off x="10241280" y="5760720"/>
            <a:ext cx="1463040" cy="54864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005357167" name="Text 14"/>
          <p:cNvSpPr/>
          <p:nvPr/>
        </p:nvSpPr>
        <p:spPr bwMode="auto">
          <a:xfrm>
            <a:off x="10241280" y="5760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&gt; agent.run()</a:t>
            </a:r>
            <a:endParaRPr lang="en-US" sz="1300"/>
          </a:p>
        </p:txBody>
      </p:sp>
      <p:pic>
        <p:nvPicPr>
          <p:cNvPr id="160457283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10589690" y="134964"/>
            <a:ext cx="1488351" cy="14674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3789040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 i="1" u="none" strike="noStrike" cap="none" spc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&gt;_ </a:t>
            </a:r>
            <a:r>
              <a:rPr lang="es-ES" sz="3200" b="1" i="1" u="none" strike="noStrike" cap="none" spc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WHOAMI</a:t>
            </a:r>
            <a:endParaRPr sz="3200" i="0"/>
          </a:p>
        </p:txBody>
      </p:sp>
      <p:sp>
        <p:nvSpPr>
          <p:cNvPr id="895938218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869652134" name="Shape 3"/>
          <p:cNvSpPr/>
          <p:nvPr/>
        </p:nvSpPr>
        <p:spPr bwMode="auto">
          <a:xfrm>
            <a:off x="548640" y="1554480"/>
            <a:ext cx="5029200" cy="457200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202317523" name="Shape 4"/>
          <p:cNvSpPr/>
          <p:nvPr/>
        </p:nvSpPr>
        <p:spPr bwMode="auto">
          <a:xfrm>
            <a:off x="548640" y="1554480"/>
            <a:ext cx="502920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66580260" name="Text 5"/>
          <p:cNvSpPr/>
          <p:nvPr/>
        </p:nvSpPr>
        <p:spPr bwMode="auto">
          <a:xfrm>
            <a:off x="822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 spc="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CRISTIA</a:t>
            </a:r>
            <a:r>
              <a:rPr lang="es-ES" sz="2400" b="1" spc="399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 </a:t>
            </a:r>
            <a:r>
              <a:rPr lang="es-ES" sz="2400" b="1" spc="399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es-ES" sz="2400" b="1" spc="399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IOS</a:t>
            </a:r>
            <a:endParaRPr lang="en-US" sz="2400"/>
          </a:p>
        </p:txBody>
      </p:sp>
      <p:sp>
        <p:nvSpPr>
          <p:cNvPr id="288026262" name="Text 6"/>
          <p:cNvSpPr/>
          <p:nvPr/>
        </p:nvSpPr>
        <p:spPr bwMode="auto">
          <a:xfrm>
            <a:off x="82296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elrarodenegro</a:t>
            </a:r>
            <a:endParaRPr lang="en-US" sz="1800"/>
          </a:p>
        </p:txBody>
      </p:sp>
      <p:sp>
        <p:nvSpPr>
          <p:cNvPr id="51608463" name="Shape 7"/>
          <p:cNvSpPr/>
          <p:nvPr/>
        </p:nvSpPr>
        <p:spPr bwMode="auto">
          <a:xfrm>
            <a:off x="822960" y="2697480"/>
            <a:ext cx="1371600" cy="0"/>
          </a:xfrm>
          <a:prstGeom prst="line">
            <a:avLst/>
          </a:prstGeom>
          <a:noFill/>
          <a:ln w="19050">
            <a:solidFill>
              <a:srgbClr val="00D9FF"/>
            </a:solidFill>
            <a:prstDash val="solid"/>
          </a:ln>
        </p:spPr>
      </p:sp>
      <p:sp>
        <p:nvSpPr>
          <p:cNvPr id="2045327872" name="Shape 8"/>
          <p:cNvSpPr/>
          <p:nvPr/>
        </p:nvSpPr>
        <p:spPr bwMode="auto">
          <a:xfrm>
            <a:off x="822960" y="3017519"/>
            <a:ext cx="45720" cy="4572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2690077" name="Text 9"/>
          <p:cNvSpPr/>
          <p:nvPr/>
        </p:nvSpPr>
        <p:spPr bwMode="auto">
          <a:xfrm>
            <a:off x="100584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s-E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Jr </a:t>
            </a: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Security Architect @ Axity</a:t>
            </a:r>
            <a:endParaRPr lang="en-US" sz="1300"/>
          </a:p>
        </p:txBody>
      </p:sp>
      <p:sp>
        <p:nvSpPr>
          <p:cNvPr id="2087375937" name="Shape 10"/>
          <p:cNvSpPr/>
          <p:nvPr/>
        </p:nvSpPr>
        <p:spPr bwMode="auto">
          <a:xfrm>
            <a:off x="822960" y="3429000"/>
            <a:ext cx="45720" cy="4572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55009483" name="Text 11"/>
          <p:cNvSpPr/>
          <p:nvPr/>
        </p:nvSpPr>
        <p:spPr bwMode="auto">
          <a:xfrm>
            <a:off x="100584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Tenable </a:t>
            </a:r>
            <a:r>
              <a:rPr lang="es-E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Guardian</a:t>
            </a: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 · LATAM</a:t>
            </a:r>
            <a:endParaRPr lang="en-US" sz="1300"/>
          </a:p>
        </p:txBody>
      </p:sp>
      <p:sp>
        <p:nvSpPr>
          <p:cNvPr id="68476863" name="Shape 12"/>
          <p:cNvSpPr/>
          <p:nvPr/>
        </p:nvSpPr>
        <p:spPr bwMode="auto">
          <a:xfrm>
            <a:off x="822960" y="3840480"/>
            <a:ext cx="45720" cy="4572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3995341" name="Text 13"/>
          <p:cNvSpPr/>
          <p:nvPr/>
        </p:nvSpPr>
        <p:spPr bwMode="auto">
          <a:xfrm>
            <a:off x="100584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Builder de plataformas de threat hunting</a:t>
            </a:r>
            <a:endParaRPr lang="en-US" sz="1300"/>
          </a:p>
        </p:txBody>
      </p:sp>
      <p:sp>
        <p:nvSpPr>
          <p:cNvPr id="1529351714" name="Shape 14"/>
          <p:cNvSpPr/>
          <p:nvPr/>
        </p:nvSpPr>
        <p:spPr bwMode="auto">
          <a:xfrm>
            <a:off x="822960" y="4251960"/>
            <a:ext cx="45720" cy="4572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2411626" name="Text 15"/>
          <p:cNvSpPr/>
          <p:nvPr/>
        </p:nvSpPr>
        <p:spPr bwMode="auto">
          <a:xfrm>
            <a:off x="1005840" y="4160519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Founder de elrarodenegro · educación en hacking ético</a:t>
            </a:r>
            <a:endParaRPr lang="en-US" sz="1300"/>
          </a:p>
        </p:txBody>
      </p:sp>
      <p:sp>
        <p:nvSpPr>
          <p:cNvPr id="1643755265" name="Text 16"/>
          <p:cNvSpPr/>
          <p:nvPr/>
        </p:nvSpPr>
        <p:spPr bwMode="auto">
          <a:xfrm>
            <a:off x="822960" y="4937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400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ORIGIN STORY</a:t>
            </a:r>
            <a:endParaRPr lang="en-US" sz="1100"/>
          </a:p>
        </p:txBody>
      </p:sp>
      <p:sp>
        <p:nvSpPr>
          <p:cNvPr id="340552024" name="Text 17"/>
          <p:cNvSpPr/>
          <p:nvPr/>
        </p:nvSpPr>
        <p:spPr bwMode="auto">
          <a:xfrm>
            <a:off x="82296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World Cybersecurity Championship · Athens</a:t>
            </a:r>
            <a:endParaRPr lang="en-US" sz="1300"/>
          </a:p>
        </p:txBody>
      </p:sp>
      <p:sp>
        <p:nvSpPr>
          <p:cNvPr id="1415218394" name="Text 19"/>
          <p:cNvSpPr/>
          <p:nvPr/>
        </p:nvSpPr>
        <p:spPr bwMode="auto">
          <a:xfrm>
            <a:off x="640080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 spc="4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STACK</a:t>
            </a:r>
            <a:endParaRPr lang="en-US" sz="1400"/>
          </a:p>
        </p:txBody>
      </p:sp>
      <p:sp>
        <p:nvSpPr>
          <p:cNvPr id="212140567" name="Text 20"/>
          <p:cNvSpPr/>
          <p:nvPr/>
        </p:nvSpPr>
        <p:spPr bwMode="auto">
          <a:xfrm>
            <a:off x="640080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AI / Agents</a:t>
            </a:r>
            <a:endParaRPr lang="en-US" sz="1100"/>
          </a:p>
        </p:txBody>
      </p:sp>
      <p:sp>
        <p:nvSpPr>
          <p:cNvPr id="1325279892" name="Shape 21"/>
          <p:cNvSpPr/>
          <p:nvPr/>
        </p:nvSpPr>
        <p:spPr bwMode="auto">
          <a:xfrm>
            <a:off x="6400800" y="2331720"/>
            <a:ext cx="128016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126702401" name="Text 22"/>
          <p:cNvSpPr/>
          <p:nvPr/>
        </p:nvSpPr>
        <p:spPr bwMode="auto">
          <a:xfrm>
            <a:off x="64008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Claude API</a:t>
            </a:r>
            <a:endParaRPr lang="en-US" sz="1000"/>
          </a:p>
        </p:txBody>
      </p:sp>
      <p:sp>
        <p:nvSpPr>
          <p:cNvPr id="726033358" name="Shape 23"/>
          <p:cNvSpPr/>
          <p:nvPr/>
        </p:nvSpPr>
        <p:spPr bwMode="auto">
          <a:xfrm>
            <a:off x="7818120" y="233172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965391821" name="Text 24"/>
          <p:cNvSpPr/>
          <p:nvPr/>
        </p:nvSpPr>
        <p:spPr bwMode="auto">
          <a:xfrm>
            <a:off x="781812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OpenAI</a:t>
            </a:r>
            <a:endParaRPr lang="en-US" sz="1000"/>
          </a:p>
        </p:txBody>
      </p:sp>
      <p:sp>
        <p:nvSpPr>
          <p:cNvPr id="1957667103" name="Shape 25"/>
          <p:cNvSpPr/>
          <p:nvPr/>
        </p:nvSpPr>
        <p:spPr bwMode="auto">
          <a:xfrm>
            <a:off x="8869680" y="2331720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08547956" name="Text 26"/>
          <p:cNvSpPr/>
          <p:nvPr/>
        </p:nvSpPr>
        <p:spPr bwMode="auto">
          <a:xfrm>
            <a:off x="8869680" y="23317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Tool Use</a:t>
            </a:r>
            <a:endParaRPr lang="en-US" sz="1000"/>
          </a:p>
        </p:txBody>
      </p:sp>
      <p:sp>
        <p:nvSpPr>
          <p:cNvPr id="1013416889" name="Shape 27"/>
          <p:cNvSpPr/>
          <p:nvPr/>
        </p:nvSpPr>
        <p:spPr bwMode="auto">
          <a:xfrm>
            <a:off x="10104120" y="2331720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81685841" name="Text 28"/>
          <p:cNvSpPr/>
          <p:nvPr/>
        </p:nvSpPr>
        <p:spPr bwMode="auto">
          <a:xfrm>
            <a:off x="10104120" y="23317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MCP</a:t>
            </a:r>
            <a:endParaRPr lang="en-US" sz="1000"/>
          </a:p>
        </p:txBody>
      </p:sp>
      <p:sp>
        <p:nvSpPr>
          <p:cNvPr id="2070119988" name="Text 29"/>
          <p:cNvSpPr/>
          <p:nvPr/>
        </p:nvSpPr>
        <p:spPr bwMode="auto">
          <a:xfrm>
            <a:off x="6400800" y="2880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Backend</a:t>
            </a:r>
            <a:endParaRPr lang="en-US" sz="1100"/>
          </a:p>
        </p:txBody>
      </p:sp>
      <p:sp>
        <p:nvSpPr>
          <p:cNvPr id="517884513" name="Shape 30"/>
          <p:cNvSpPr/>
          <p:nvPr/>
        </p:nvSpPr>
        <p:spPr bwMode="auto">
          <a:xfrm>
            <a:off x="6400800" y="320040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751482762" name="Text 31"/>
          <p:cNvSpPr/>
          <p:nvPr/>
        </p:nvSpPr>
        <p:spPr bwMode="auto">
          <a:xfrm>
            <a:off x="6400800" y="32004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Python</a:t>
            </a:r>
            <a:endParaRPr lang="en-US" sz="1000"/>
          </a:p>
        </p:txBody>
      </p:sp>
      <p:sp>
        <p:nvSpPr>
          <p:cNvPr id="1333196201" name="Shape 32"/>
          <p:cNvSpPr/>
          <p:nvPr/>
        </p:nvSpPr>
        <p:spPr bwMode="auto">
          <a:xfrm>
            <a:off x="7452360" y="3200400"/>
            <a:ext cx="100584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84423342" name="Text 33"/>
          <p:cNvSpPr/>
          <p:nvPr/>
        </p:nvSpPr>
        <p:spPr bwMode="auto">
          <a:xfrm>
            <a:off x="7452360" y="32004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FastAPI</a:t>
            </a:r>
            <a:endParaRPr lang="en-US" sz="1000"/>
          </a:p>
        </p:txBody>
      </p:sp>
      <p:sp>
        <p:nvSpPr>
          <p:cNvPr id="741950826" name="Shape 34"/>
          <p:cNvSpPr/>
          <p:nvPr/>
        </p:nvSpPr>
        <p:spPr bwMode="auto">
          <a:xfrm>
            <a:off x="8595360" y="320040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76221618" name="Text 35"/>
          <p:cNvSpPr/>
          <p:nvPr/>
        </p:nvSpPr>
        <p:spPr bwMode="auto">
          <a:xfrm>
            <a:off x="8595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Celery + Redis</a:t>
            </a:r>
            <a:endParaRPr lang="en-US" sz="1000"/>
          </a:p>
        </p:txBody>
      </p:sp>
      <p:sp>
        <p:nvSpPr>
          <p:cNvPr id="299045058" name="Text 36"/>
          <p:cNvSpPr/>
          <p:nvPr/>
        </p:nvSpPr>
        <p:spPr bwMode="auto">
          <a:xfrm>
            <a:off x="6400800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Data</a:t>
            </a:r>
            <a:endParaRPr lang="en-US" sz="1100"/>
          </a:p>
        </p:txBody>
      </p:sp>
      <p:sp>
        <p:nvSpPr>
          <p:cNvPr id="2131857565" name="Shape 37"/>
          <p:cNvSpPr/>
          <p:nvPr/>
        </p:nvSpPr>
        <p:spPr bwMode="auto">
          <a:xfrm>
            <a:off x="6400800" y="4069080"/>
            <a:ext cx="128016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827931813" name="Text 38"/>
          <p:cNvSpPr/>
          <p:nvPr/>
        </p:nvSpPr>
        <p:spPr bwMode="auto">
          <a:xfrm>
            <a:off x="6400800" y="40690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PostgreSQL</a:t>
            </a:r>
            <a:endParaRPr lang="en-US" sz="1000"/>
          </a:p>
        </p:txBody>
      </p:sp>
      <p:sp>
        <p:nvSpPr>
          <p:cNvPr id="433700981" name="Shape 39"/>
          <p:cNvSpPr/>
          <p:nvPr/>
        </p:nvSpPr>
        <p:spPr bwMode="auto">
          <a:xfrm>
            <a:off x="7818120" y="4069080"/>
            <a:ext cx="82296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104010446" name="Text 40"/>
          <p:cNvSpPr/>
          <p:nvPr/>
        </p:nvSpPr>
        <p:spPr bwMode="auto">
          <a:xfrm>
            <a:off x="7818120" y="40690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Neo4j</a:t>
            </a:r>
            <a:endParaRPr lang="en-US" sz="1000"/>
          </a:p>
        </p:txBody>
      </p:sp>
      <p:sp>
        <p:nvSpPr>
          <p:cNvPr id="1872984616" name="Text 41"/>
          <p:cNvSpPr/>
          <p:nvPr/>
        </p:nvSpPr>
        <p:spPr bwMode="auto">
          <a:xfrm>
            <a:off x="6400800" y="4617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Security</a:t>
            </a:r>
            <a:endParaRPr lang="en-US" sz="1100"/>
          </a:p>
        </p:txBody>
      </p:sp>
      <p:sp>
        <p:nvSpPr>
          <p:cNvPr id="1880080945" name="Shape 42"/>
          <p:cNvSpPr/>
          <p:nvPr/>
        </p:nvSpPr>
        <p:spPr bwMode="auto">
          <a:xfrm>
            <a:off x="6400800" y="4937760"/>
            <a:ext cx="155448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929145213" name="Text 43"/>
          <p:cNvSpPr/>
          <p:nvPr/>
        </p:nvSpPr>
        <p:spPr bwMode="auto">
          <a:xfrm>
            <a:off x="6400800" y="4937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Tenable Suite</a:t>
            </a:r>
            <a:endParaRPr lang="en-US" sz="1000"/>
          </a:p>
        </p:txBody>
      </p:sp>
      <p:sp>
        <p:nvSpPr>
          <p:cNvPr id="1597921530" name="Shape 44"/>
          <p:cNvSpPr/>
          <p:nvPr/>
        </p:nvSpPr>
        <p:spPr bwMode="auto">
          <a:xfrm>
            <a:off x="8092440" y="4937760"/>
            <a:ext cx="128016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060950514" name="Text 45"/>
          <p:cNvSpPr/>
          <p:nvPr/>
        </p:nvSpPr>
        <p:spPr bwMode="auto">
          <a:xfrm>
            <a:off x="8092440" y="49377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Burp Suite</a:t>
            </a:r>
            <a:endParaRPr lang="en-US" sz="1000"/>
          </a:p>
        </p:txBody>
      </p:sp>
      <p:sp>
        <p:nvSpPr>
          <p:cNvPr id="1882055676" name="Shape 46"/>
          <p:cNvSpPr/>
          <p:nvPr/>
        </p:nvSpPr>
        <p:spPr bwMode="auto">
          <a:xfrm>
            <a:off x="9509760" y="4937760"/>
            <a:ext cx="822960" cy="292608"/>
          </a:xfrm>
          <a:prstGeom prst="roundRect">
            <a:avLst>
              <a:gd name="adj" fmla="val 15625"/>
            </a:avLst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916049655" name="Text 47"/>
          <p:cNvSpPr/>
          <p:nvPr/>
        </p:nvSpPr>
        <p:spPr bwMode="auto">
          <a:xfrm>
            <a:off x="9509760" y="49377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OSINT</a:t>
            </a:r>
            <a:endParaRPr lang="en-US" sz="1000"/>
          </a:p>
        </p:txBody>
      </p:sp>
      <p:sp>
        <p:nvSpPr>
          <p:cNvPr id="243286789" name="Shape 48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922068516" name="Text 49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088905361" name="Text 50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78637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3200"/>
          </a:p>
        </p:txBody>
      </p:sp>
      <p:sp>
        <p:nvSpPr>
          <p:cNvPr id="81446705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248330203" name="Shape 3"/>
          <p:cNvSpPr/>
          <p:nvPr/>
        </p:nvSpPr>
        <p:spPr bwMode="auto">
          <a:xfrm>
            <a:off x="548640" y="1691640"/>
            <a:ext cx="11064240" cy="105156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513332107" name="Shape 4"/>
          <p:cNvSpPr/>
          <p:nvPr/>
        </p:nvSpPr>
        <p:spPr bwMode="auto">
          <a:xfrm>
            <a:off x="548640" y="1691640"/>
            <a:ext cx="91440" cy="1051560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36811748" name="Text 5"/>
          <p:cNvSpPr/>
          <p:nvPr/>
        </p:nvSpPr>
        <p:spPr bwMode="auto">
          <a:xfrm>
            <a:off x="777240" y="1828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25 min</a:t>
            </a:r>
            <a:endParaRPr lang="en-US" sz="1800"/>
          </a:p>
        </p:txBody>
      </p:sp>
      <p:sp>
        <p:nvSpPr>
          <p:cNvPr id="2044130783" name="Text 6"/>
          <p:cNvSpPr/>
          <p:nvPr/>
        </p:nvSpPr>
        <p:spPr bwMode="auto">
          <a:xfrm>
            <a:off x="777240" y="2240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min</a:t>
            </a:r>
            <a:endParaRPr lang="en-US" sz="1000"/>
          </a:p>
        </p:txBody>
      </p:sp>
      <p:pic>
        <p:nvPicPr>
          <p:cNvPr id="1491636299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286000" y="1984248"/>
            <a:ext cx="457200" cy="457200"/>
          </a:xfrm>
          <a:prstGeom prst="rect">
            <a:avLst/>
          </a:prstGeom>
        </p:spPr>
      </p:pic>
      <p:sp>
        <p:nvSpPr>
          <p:cNvPr id="1426075391" name="Text 7"/>
          <p:cNvSpPr/>
          <p:nvPr/>
        </p:nvSpPr>
        <p:spPr bwMode="auto">
          <a:xfrm>
            <a:off x="292608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Fundamentos</a:t>
            </a:r>
            <a:endParaRPr lang="en-US" sz="2200"/>
          </a:p>
        </p:txBody>
      </p:sp>
      <p:sp>
        <p:nvSpPr>
          <p:cNvPr id="1188932679" name="Text 8"/>
          <p:cNvSpPr/>
          <p:nvPr/>
        </p:nvSpPr>
        <p:spPr bwMode="auto">
          <a:xfrm>
            <a:off x="292608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Fundamentals</a:t>
            </a:r>
            <a:endParaRPr lang="en-US" sz="1100"/>
          </a:p>
        </p:txBody>
      </p:sp>
      <p:sp>
        <p:nvSpPr>
          <p:cNvPr id="350424475" name="Text 9"/>
          <p:cNvSpPr/>
          <p:nvPr/>
        </p:nvSpPr>
        <p:spPr bwMode="auto">
          <a:xfrm>
            <a:off x="6583680" y="19842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¿Qué es un agente? Anatomía. Cuándo NO usar agentes.</a:t>
            </a:r>
            <a:endParaRPr lang="en-US" sz="1200"/>
          </a:p>
        </p:txBody>
      </p:sp>
      <p:sp>
        <p:nvSpPr>
          <p:cNvPr id="1437666985" name="Shape 10"/>
          <p:cNvSpPr/>
          <p:nvPr/>
        </p:nvSpPr>
        <p:spPr bwMode="auto">
          <a:xfrm>
            <a:off x="548640" y="2880360"/>
            <a:ext cx="11064240" cy="105156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171772016" name="Shape 11"/>
          <p:cNvSpPr/>
          <p:nvPr/>
        </p:nvSpPr>
        <p:spPr bwMode="auto">
          <a:xfrm>
            <a:off x="548640" y="2880360"/>
            <a:ext cx="91440" cy="1051560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42182911" name="Text 12"/>
          <p:cNvSpPr/>
          <p:nvPr/>
        </p:nvSpPr>
        <p:spPr bwMode="auto">
          <a:xfrm>
            <a:off x="777240" y="3017519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20 min</a:t>
            </a:r>
            <a:endParaRPr lang="en-US" sz="1800"/>
          </a:p>
        </p:txBody>
      </p:sp>
      <p:sp>
        <p:nvSpPr>
          <p:cNvPr id="1871096111" name="Text 13"/>
          <p:cNvSpPr/>
          <p:nvPr/>
        </p:nvSpPr>
        <p:spPr bwMode="auto">
          <a:xfrm>
            <a:off x="777240" y="3429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min</a:t>
            </a:r>
            <a:endParaRPr lang="en-US" sz="1000"/>
          </a:p>
        </p:txBody>
      </p:sp>
      <p:pic>
        <p:nvPicPr>
          <p:cNvPr id="914818551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286000" y="3172968"/>
            <a:ext cx="457200" cy="457200"/>
          </a:xfrm>
          <a:prstGeom prst="rect">
            <a:avLst/>
          </a:prstGeom>
        </p:spPr>
      </p:pic>
      <p:sp>
        <p:nvSpPr>
          <p:cNvPr id="985877512" name="Text 14"/>
          <p:cNvSpPr/>
          <p:nvPr/>
        </p:nvSpPr>
        <p:spPr bwMode="auto">
          <a:xfrm>
            <a:off x="292608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Arquitecturas</a:t>
            </a:r>
            <a:endParaRPr lang="en-US" sz="2200"/>
          </a:p>
        </p:txBody>
      </p:sp>
      <p:sp>
        <p:nvSpPr>
          <p:cNvPr id="931541841" name="Text 15"/>
          <p:cNvSpPr/>
          <p:nvPr/>
        </p:nvSpPr>
        <p:spPr bwMode="auto">
          <a:xfrm>
            <a:off x="292608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Architectures</a:t>
            </a:r>
            <a:endParaRPr lang="en-US" sz="1100"/>
          </a:p>
        </p:txBody>
      </p:sp>
      <p:sp>
        <p:nvSpPr>
          <p:cNvPr id="1167015610" name="Text 16"/>
          <p:cNvSpPr/>
          <p:nvPr/>
        </p:nvSpPr>
        <p:spPr bwMode="auto">
          <a:xfrm>
            <a:off x="6583680" y="3172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4 niveles: simple → multi-agente → producción. MCP.</a:t>
            </a:r>
            <a:endParaRPr lang="en-US" sz="1200"/>
          </a:p>
        </p:txBody>
      </p:sp>
      <p:sp>
        <p:nvSpPr>
          <p:cNvPr id="1596764636" name="Shape 17"/>
          <p:cNvSpPr/>
          <p:nvPr/>
        </p:nvSpPr>
        <p:spPr bwMode="auto">
          <a:xfrm>
            <a:off x="548640" y="4069080"/>
            <a:ext cx="11064240" cy="105156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967532270" name="Shape 18"/>
          <p:cNvSpPr/>
          <p:nvPr/>
        </p:nvSpPr>
        <p:spPr bwMode="auto">
          <a:xfrm>
            <a:off x="548640" y="4069080"/>
            <a:ext cx="91440" cy="105156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0516752" name="Text 19"/>
          <p:cNvSpPr/>
          <p:nvPr/>
        </p:nvSpPr>
        <p:spPr bwMode="auto">
          <a:xfrm>
            <a:off x="777240" y="4206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40 min</a:t>
            </a:r>
            <a:endParaRPr lang="en-US" sz="1800"/>
          </a:p>
        </p:txBody>
      </p:sp>
      <p:sp>
        <p:nvSpPr>
          <p:cNvPr id="197901584" name="Text 20"/>
          <p:cNvSpPr/>
          <p:nvPr/>
        </p:nvSpPr>
        <p:spPr bwMode="auto">
          <a:xfrm>
            <a:off x="777240" y="4617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min</a:t>
            </a:r>
            <a:endParaRPr lang="en-US" sz="1000"/>
          </a:p>
        </p:txBody>
      </p:sp>
      <p:pic>
        <p:nvPicPr>
          <p:cNvPr id="2084724481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286000" y="4361688"/>
            <a:ext cx="457200" cy="457200"/>
          </a:xfrm>
          <a:prstGeom prst="rect">
            <a:avLst/>
          </a:prstGeom>
        </p:spPr>
      </p:pic>
      <p:sp>
        <p:nvSpPr>
          <p:cNvPr id="1776826863" name="Text 21"/>
          <p:cNvSpPr/>
          <p:nvPr/>
        </p:nvSpPr>
        <p:spPr bwMode="auto">
          <a:xfrm>
            <a:off x="2926080" y="4160519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Workshop</a:t>
            </a:r>
            <a:endParaRPr lang="en-US" sz="2200"/>
          </a:p>
        </p:txBody>
      </p:sp>
      <p:sp>
        <p:nvSpPr>
          <p:cNvPr id="1845008433" name="Text 22"/>
          <p:cNvSpPr/>
          <p:nvPr/>
        </p:nvSpPr>
        <p:spPr bwMode="auto">
          <a:xfrm>
            <a:off x="292608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Hands-on</a:t>
            </a:r>
            <a:endParaRPr lang="en-US" sz="1100"/>
          </a:p>
        </p:txBody>
      </p:sp>
      <p:sp>
        <p:nvSpPr>
          <p:cNvPr id="1287979148" name="Text 23"/>
          <p:cNvSpPr/>
          <p:nvPr/>
        </p:nvSpPr>
        <p:spPr bwMode="auto">
          <a:xfrm>
            <a:off x="6583680" y="436168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3 casos: low-code → Python + Claude → comparación de modelos.</a:t>
            </a:r>
            <a:endParaRPr lang="en-US" sz="1200"/>
          </a:p>
        </p:txBody>
      </p:sp>
      <p:sp>
        <p:nvSpPr>
          <p:cNvPr id="1186323404" name="Shape 24"/>
          <p:cNvSpPr/>
          <p:nvPr/>
        </p:nvSpPr>
        <p:spPr bwMode="auto">
          <a:xfrm>
            <a:off x="548640" y="5257800"/>
            <a:ext cx="11064240" cy="105156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014647171" name="Shape 25"/>
          <p:cNvSpPr/>
          <p:nvPr/>
        </p:nvSpPr>
        <p:spPr bwMode="auto">
          <a:xfrm>
            <a:off x="548640" y="5257800"/>
            <a:ext cx="91440" cy="1051560"/>
          </a:xfrm>
          <a:prstGeom prst="rect">
            <a:avLst/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726791" name="Text 26"/>
          <p:cNvSpPr/>
          <p:nvPr/>
        </p:nvSpPr>
        <p:spPr bwMode="auto">
          <a:xfrm>
            <a:off x="777240" y="5394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FBBF24"/>
                </a:solidFill>
                <a:latin typeface="Consolas"/>
                <a:ea typeface="Consolas"/>
                <a:cs typeface="Consolas"/>
              </a:rPr>
              <a:t>5 min</a:t>
            </a:r>
            <a:endParaRPr lang="en-US" sz="1800"/>
          </a:p>
        </p:txBody>
      </p:sp>
      <p:sp>
        <p:nvSpPr>
          <p:cNvPr id="1478647783" name="Text 27"/>
          <p:cNvSpPr/>
          <p:nvPr/>
        </p:nvSpPr>
        <p:spPr bwMode="auto">
          <a:xfrm>
            <a:off x="777240" y="5806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min</a:t>
            </a:r>
            <a:endParaRPr lang="en-US" sz="1000"/>
          </a:p>
        </p:txBody>
      </p:sp>
      <p:pic>
        <p:nvPicPr>
          <p:cNvPr id="1141493078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2286000" y="5550408"/>
            <a:ext cx="457200" cy="457200"/>
          </a:xfrm>
          <a:prstGeom prst="rect">
            <a:avLst/>
          </a:prstGeom>
        </p:spPr>
      </p:pic>
      <p:sp>
        <p:nvSpPr>
          <p:cNvPr id="44084989" name="Text 28"/>
          <p:cNvSpPr/>
          <p:nvPr/>
        </p:nvSpPr>
        <p:spPr bwMode="auto">
          <a:xfrm>
            <a:off x="292608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Cierre + Q&amp;A</a:t>
            </a:r>
            <a:endParaRPr lang="en-US" sz="2200"/>
          </a:p>
        </p:txBody>
      </p:sp>
      <p:sp>
        <p:nvSpPr>
          <p:cNvPr id="1521924891" name="Text 29"/>
          <p:cNvSpPr/>
          <p:nvPr/>
        </p:nvSpPr>
        <p:spPr bwMode="auto">
          <a:xfrm>
            <a:off x="2926080" y="5760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Wrap up</a:t>
            </a:r>
            <a:endParaRPr lang="en-US" sz="1100"/>
          </a:p>
        </p:txBody>
      </p:sp>
      <p:sp>
        <p:nvSpPr>
          <p:cNvPr id="1992361858" name="Text 30"/>
          <p:cNvSpPr/>
          <p:nvPr/>
        </p:nvSpPr>
        <p:spPr bwMode="auto">
          <a:xfrm>
            <a:off x="6583680" y="55504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Mensajes clave. Recursos. Preguntas.</a:t>
            </a:r>
            <a:endParaRPr lang="en-US" sz="1200"/>
          </a:p>
        </p:txBody>
      </p:sp>
      <p:sp>
        <p:nvSpPr>
          <p:cNvPr id="620932457" name="Shape 31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786909187" name="Text 32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78718993" name="Text 33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3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080400" name="Text 0"/>
          <p:cNvSpPr/>
          <p:nvPr/>
        </p:nvSpPr>
        <p:spPr bwMode="auto">
          <a:xfrm>
            <a:off x="548640" y="13716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01</a:t>
            </a:r>
            <a:endParaRPr lang="en-US" sz="24000"/>
          </a:p>
        </p:txBody>
      </p:sp>
      <p:sp>
        <p:nvSpPr>
          <p:cNvPr id="1557309243" name="Shape 1"/>
          <p:cNvSpPr/>
          <p:nvPr/>
        </p:nvSpPr>
        <p:spPr bwMode="auto">
          <a:xfrm>
            <a:off x="548640" y="3657600"/>
            <a:ext cx="548640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1586674" name="Text 2"/>
          <p:cNvSpPr/>
          <p:nvPr/>
        </p:nvSpPr>
        <p:spPr bwMode="auto">
          <a:xfrm>
            <a:off x="5486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5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BLOQUE 01</a:t>
            </a:r>
            <a:endParaRPr lang="en-US" sz="1300"/>
          </a:p>
        </p:txBody>
      </p:sp>
      <p:sp>
        <p:nvSpPr>
          <p:cNvPr id="1730661124" name="Text 3"/>
          <p:cNvSpPr/>
          <p:nvPr/>
        </p:nvSpPr>
        <p:spPr bwMode="auto">
          <a:xfrm>
            <a:off x="548640" y="4160519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Fundamentos de IA agéntica</a:t>
            </a:r>
            <a:endParaRPr lang="en-US" sz="4200"/>
          </a:p>
        </p:txBody>
      </p:sp>
      <p:sp>
        <p:nvSpPr>
          <p:cNvPr id="1254801250" name="Text 5"/>
          <p:cNvSpPr/>
          <p:nvPr/>
        </p:nvSpPr>
        <p:spPr bwMode="auto"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¿Qué es un agente · Anatomía · Vs. automatización tradicional · Cuándo NO usar</a:t>
            </a:r>
            <a:endParaRPr lang="en-US" sz="1300"/>
          </a:p>
        </p:txBody>
      </p:sp>
      <p:sp>
        <p:nvSpPr>
          <p:cNvPr id="1949143181" name="Shape 6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813777078" name="Text 7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4868388" name="Text 8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4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924183" name="Text 0"/>
          <p:cNvSpPr/>
          <p:nvPr/>
        </p:nvSpPr>
        <p:spPr bwMode="auto">
          <a:xfrm>
            <a:off x="548640" y="184004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¿Cuántas cosas hiciste hoy</a:t>
            </a:r>
            <a:endParaRPr lang="en-US" sz="4400"/>
          </a:p>
        </p:txBody>
      </p:sp>
      <p:sp>
        <p:nvSpPr>
          <p:cNvPr id="25442223" name="Text 1"/>
          <p:cNvSpPr/>
          <p:nvPr/>
        </p:nvSpPr>
        <p:spPr bwMode="auto">
          <a:xfrm>
            <a:off x="548640" y="275444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400" b="1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que una máquina pudo haber hecho por ti?</a:t>
            </a:r>
            <a:endParaRPr lang="en-US" sz="4400"/>
          </a:p>
        </p:txBody>
      </p:sp>
      <p:sp>
        <p:nvSpPr>
          <p:cNvPr id="1677898301" name="Shape 2"/>
          <p:cNvSpPr/>
          <p:nvPr/>
        </p:nvSpPr>
        <p:spPr bwMode="auto">
          <a:xfrm>
            <a:off x="5029200" y="3657600"/>
            <a:ext cx="2103120" cy="0"/>
          </a:xfrm>
          <a:prstGeom prst="line">
            <a:avLst/>
          </a:prstGeom>
          <a:noFill/>
          <a:ln w="25400">
            <a:solidFill>
              <a:srgbClr val="00FF94"/>
            </a:solidFill>
            <a:prstDash val="solid"/>
          </a:ln>
        </p:spPr>
      </p:sp>
      <p:sp>
        <p:nvSpPr>
          <p:cNvPr id="188678247" name="Shape 5"/>
          <p:cNvSpPr/>
          <p:nvPr/>
        </p:nvSpPr>
        <p:spPr bwMode="auto">
          <a:xfrm>
            <a:off x="4114800" y="5303520"/>
            <a:ext cx="393192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pic>
        <p:nvPicPr>
          <p:cNvPr id="1767453901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343400" y="5440680"/>
            <a:ext cx="365760" cy="365760"/>
          </a:xfrm>
          <a:prstGeom prst="rect">
            <a:avLst/>
          </a:prstGeom>
        </p:spPr>
      </p:pic>
      <p:sp>
        <p:nvSpPr>
          <p:cNvPr id="41084768" name="Text 6"/>
          <p:cNvSpPr/>
          <p:nvPr/>
        </p:nvSpPr>
        <p:spPr bwMode="auto">
          <a:xfrm>
            <a:off x="4846320" y="5349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DEMO EN VIVO  →  Tenable AI Agent</a:t>
            </a:r>
            <a:endParaRPr lang="en-US" sz="1200"/>
          </a:p>
        </p:txBody>
      </p:sp>
      <p:sp>
        <p:nvSpPr>
          <p:cNvPr id="1537294380" name="Shape 7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339224634" name="Text 8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369297995" name="Text 9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5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838132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Tres conceptos que la gente confunde</a:t>
            </a:r>
            <a:endParaRPr lang="en-US" sz="3200"/>
          </a:p>
        </p:txBody>
      </p:sp>
      <p:sp>
        <p:nvSpPr>
          <p:cNvPr id="320499228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259051734" name="Shape 3"/>
          <p:cNvSpPr/>
          <p:nvPr/>
        </p:nvSpPr>
        <p:spPr bwMode="auto">
          <a:xfrm>
            <a:off x="548640" y="1691640"/>
            <a:ext cx="3611880" cy="461772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561967380" name="Shape 4"/>
          <p:cNvSpPr/>
          <p:nvPr/>
        </p:nvSpPr>
        <p:spPr bwMode="auto">
          <a:xfrm>
            <a:off x="548640" y="1691640"/>
            <a:ext cx="361188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92986525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7240" y="1965960"/>
            <a:ext cx="640080" cy="640080"/>
          </a:xfrm>
          <a:prstGeom prst="rect">
            <a:avLst/>
          </a:prstGeom>
        </p:spPr>
      </p:pic>
      <p:sp>
        <p:nvSpPr>
          <p:cNvPr id="1154604363" name="Text 5"/>
          <p:cNvSpPr/>
          <p:nvPr/>
        </p:nvSpPr>
        <p:spPr bwMode="auto">
          <a:xfrm>
            <a:off x="1508759" y="2011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 spc="4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LLM</a:t>
            </a:r>
            <a:endParaRPr lang="en-US" sz="1600"/>
          </a:p>
        </p:txBody>
      </p:sp>
      <p:sp>
        <p:nvSpPr>
          <p:cNvPr id="1843968091" name="Text 6"/>
          <p:cNvSpPr/>
          <p:nvPr/>
        </p:nvSpPr>
        <p:spPr bwMode="auto">
          <a:xfrm>
            <a:off x="1508759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Large Language Model</a:t>
            </a:r>
            <a:endParaRPr lang="en-US" sz="1000"/>
          </a:p>
        </p:txBody>
      </p:sp>
      <p:sp>
        <p:nvSpPr>
          <p:cNvPr id="575118545" name="Text 7"/>
          <p:cNvSpPr/>
          <p:nvPr/>
        </p:nvSpPr>
        <p:spPr bwMode="auto">
          <a:xfrm>
            <a:off x="777240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cerebro</a:t>
            </a:r>
            <a:endParaRPr lang="en-US" sz="2200"/>
          </a:p>
        </p:txBody>
      </p:sp>
      <p:sp>
        <p:nvSpPr>
          <p:cNvPr id="541220811" name="Text 8"/>
          <p:cNvSpPr/>
          <p:nvPr/>
        </p:nvSpPr>
        <p:spPr bwMode="auto">
          <a:xfrm>
            <a:off x="777240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The brain</a:t>
            </a:r>
            <a:endParaRPr lang="en-US" sz="1100"/>
          </a:p>
        </p:txBody>
      </p:sp>
      <p:sp>
        <p:nvSpPr>
          <p:cNvPr id="1807721666" name="Shape 9"/>
          <p:cNvSpPr/>
          <p:nvPr/>
        </p:nvSpPr>
        <p:spPr bwMode="auto">
          <a:xfrm>
            <a:off x="777240" y="3611880"/>
            <a:ext cx="914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926132822" name="Text 10"/>
          <p:cNvSpPr/>
          <p:nvPr/>
        </p:nvSpPr>
        <p:spPr bwMode="auto">
          <a:xfrm>
            <a:off x="7772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Recibe texto, devuelve texto.</a:t>
            </a:r>
            <a:endParaRPr lang="en-US" sz="12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No tiene memoria entre llamadas.</a:t>
            </a:r>
            <a:endParaRPr lang="en-US" sz="12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No puede ejecutar acciones.</a:t>
            </a:r>
            <a:endParaRPr lang="en-US" sz="1200"/>
          </a:p>
        </p:txBody>
      </p:sp>
      <p:sp>
        <p:nvSpPr>
          <p:cNvPr id="1017362416" name="Text 11"/>
          <p:cNvSpPr/>
          <p:nvPr/>
        </p:nvSpPr>
        <p:spPr bwMode="auto">
          <a:xfrm>
            <a:off x="777240" y="5440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EJEMPLOS</a:t>
            </a:r>
            <a:endParaRPr lang="en-US" sz="900"/>
          </a:p>
        </p:txBody>
      </p:sp>
      <p:sp>
        <p:nvSpPr>
          <p:cNvPr id="145921835" name="Text 12"/>
          <p:cNvSpPr/>
          <p:nvPr/>
        </p:nvSpPr>
        <p:spPr bwMode="auto">
          <a:xfrm>
            <a:off x="777240" y="5669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GPT-4, Claude, Gemini</a:t>
            </a:r>
            <a:endParaRPr lang="en-US" sz="1100"/>
          </a:p>
        </p:txBody>
      </p:sp>
      <p:sp>
        <p:nvSpPr>
          <p:cNvPr id="227711007" name="Shape 13"/>
          <p:cNvSpPr/>
          <p:nvPr/>
        </p:nvSpPr>
        <p:spPr bwMode="auto">
          <a:xfrm>
            <a:off x="4370832" y="1691640"/>
            <a:ext cx="3611880" cy="461772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364215761" name="Shape 14"/>
          <p:cNvSpPr/>
          <p:nvPr/>
        </p:nvSpPr>
        <p:spPr bwMode="auto">
          <a:xfrm>
            <a:off x="4370832" y="1691640"/>
            <a:ext cx="361188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92813990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599432" y="1965960"/>
            <a:ext cx="640080" cy="640080"/>
          </a:xfrm>
          <a:prstGeom prst="rect">
            <a:avLst/>
          </a:prstGeom>
        </p:spPr>
      </p:pic>
      <p:sp>
        <p:nvSpPr>
          <p:cNvPr id="1140957579" name="Text 15"/>
          <p:cNvSpPr/>
          <p:nvPr/>
        </p:nvSpPr>
        <p:spPr bwMode="auto">
          <a:xfrm>
            <a:off x="5330952" y="2011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 spc="4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CHATBOT</a:t>
            </a:r>
            <a:endParaRPr lang="en-US" sz="1600"/>
          </a:p>
        </p:txBody>
      </p:sp>
      <p:sp>
        <p:nvSpPr>
          <p:cNvPr id="1938409741" name="Text 16"/>
          <p:cNvSpPr/>
          <p:nvPr/>
        </p:nvSpPr>
        <p:spPr bwMode="auto">
          <a:xfrm>
            <a:off x="5330952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Conversational UI</a:t>
            </a:r>
            <a:endParaRPr lang="en-US" sz="1000"/>
          </a:p>
        </p:txBody>
      </p:sp>
      <p:sp>
        <p:nvSpPr>
          <p:cNvPr id="499335549" name="Text 17"/>
          <p:cNvSpPr/>
          <p:nvPr/>
        </p:nvSpPr>
        <p:spPr bwMode="auto">
          <a:xfrm>
            <a:off x="4599432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mesero</a:t>
            </a:r>
            <a:endParaRPr lang="en-US" sz="2200"/>
          </a:p>
        </p:txBody>
      </p:sp>
      <p:sp>
        <p:nvSpPr>
          <p:cNvPr id="513921263" name="Text 18"/>
          <p:cNvSpPr/>
          <p:nvPr/>
        </p:nvSpPr>
        <p:spPr bwMode="auto">
          <a:xfrm>
            <a:off x="4599432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The waiter</a:t>
            </a:r>
            <a:endParaRPr lang="en-US" sz="1100"/>
          </a:p>
        </p:txBody>
      </p:sp>
      <p:sp>
        <p:nvSpPr>
          <p:cNvPr id="1431636209" name="Shape 19"/>
          <p:cNvSpPr/>
          <p:nvPr/>
        </p:nvSpPr>
        <p:spPr bwMode="auto">
          <a:xfrm>
            <a:off x="4599432" y="3611880"/>
            <a:ext cx="914400" cy="0"/>
          </a:xfrm>
          <a:prstGeom prst="line">
            <a:avLst/>
          </a:prstGeom>
          <a:noFill/>
          <a:ln w="19050">
            <a:solidFill>
              <a:srgbClr val="00D9FF"/>
            </a:solidFill>
            <a:prstDash val="solid"/>
          </a:ln>
        </p:spPr>
      </p:sp>
      <p:sp>
        <p:nvSpPr>
          <p:cNvPr id="1298784303" name="Text 20"/>
          <p:cNvSpPr/>
          <p:nvPr/>
        </p:nvSpPr>
        <p:spPr bwMode="auto">
          <a:xfrm>
            <a:off x="4599432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LLM + interfaz de chat.</a:t>
            </a:r>
            <a:endParaRPr lang="en-US" sz="12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Mantiene la conversación.</a:t>
            </a:r>
            <a:endParaRPr lang="en-US" sz="12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Responde, pero no actúa por ti.</a:t>
            </a:r>
            <a:endParaRPr lang="en-US" sz="1200"/>
          </a:p>
        </p:txBody>
      </p:sp>
      <p:sp>
        <p:nvSpPr>
          <p:cNvPr id="1271656800" name="Text 21"/>
          <p:cNvSpPr/>
          <p:nvPr/>
        </p:nvSpPr>
        <p:spPr bwMode="auto">
          <a:xfrm>
            <a:off x="4599432" y="5440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EJEMPLOS</a:t>
            </a:r>
            <a:endParaRPr lang="en-US" sz="900"/>
          </a:p>
        </p:txBody>
      </p:sp>
      <p:sp>
        <p:nvSpPr>
          <p:cNvPr id="1968914714" name="Text 22"/>
          <p:cNvSpPr/>
          <p:nvPr/>
        </p:nvSpPr>
        <p:spPr bwMode="auto">
          <a:xfrm>
            <a:off x="4599432" y="5669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ChatGPT, claude.ai</a:t>
            </a:r>
            <a:endParaRPr lang="en-US" sz="1100"/>
          </a:p>
        </p:txBody>
      </p:sp>
      <p:sp>
        <p:nvSpPr>
          <p:cNvPr id="1197654011" name="Shape 23"/>
          <p:cNvSpPr/>
          <p:nvPr/>
        </p:nvSpPr>
        <p:spPr bwMode="auto">
          <a:xfrm>
            <a:off x="8193024" y="1691640"/>
            <a:ext cx="3611880" cy="461772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639198054" name="Shape 24"/>
          <p:cNvSpPr/>
          <p:nvPr/>
        </p:nvSpPr>
        <p:spPr bwMode="auto">
          <a:xfrm>
            <a:off x="8193024" y="1691640"/>
            <a:ext cx="3611880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50460456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421624" y="1965960"/>
            <a:ext cx="640080" cy="640080"/>
          </a:xfrm>
          <a:prstGeom prst="rect">
            <a:avLst/>
          </a:prstGeom>
        </p:spPr>
      </p:pic>
      <p:sp>
        <p:nvSpPr>
          <p:cNvPr id="714910092" name="Text 25"/>
          <p:cNvSpPr/>
          <p:nvPr/>
        </p:nvSpPr>
        <p:spPr bwMode="auto">
          <a:xfrm>
            <a:off x="9153144" y="2011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 spc="4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AGENTE</a:t>
            </a:r>
            <a:endParaRPr lang="en-US" sz="1600"/>
          </a:p>
        </p:txBody>
      </p:sp>
      <p:sp>
        <p:nvSpPr>
          <p:cNvPr id="1985197822" name="Text 26"/>
          <p:cNvSpPr/>
          <p:nvPr/>
        </p:nvSpPr>
        <p:spPr bwMode="auto">
          <a:xfrm>
            <a:off x="9153144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Agent</a:t>
            </a:r>
            <a:endParaRPr lang="en-US" sz="1000"/>
          </a:p>
        </p:txBody>
      </p:sp>
      <p:sp>
        <p:nvSpPr>
          <p:cNvPr id="1369523132" name="Text 27"/>
          <p:cNvSpPr/>
          <p:nvPr/>
        </p:nvSpPr>
        <p:spPr bwMode="auto">
          <a:xfrm>
            <a:off x="8421624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asistente</a:t>
            </a:r>
            <a:endParaRPr lang="en-US" sz="2200"/>
          </a:p>
        </p:txBody>
      </p:sp>
      <p:sp>
        <p:nvSpPr>
          <p:cNvPr id="15697637" name="Text 28"/>
          <p:cNvSpPr/>
          <p:nvPr/>
        </p:nvSpPr>
        <p:spPr bwMode="auto">
          <a:xfrm>
            <a:off x="8421624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The assistant</a:t>
            </a:r>
            <a:endParaRPr lang="en-US" sz="1100"/>
          </a:p>
        </p:txBody>
      </p:sp>
      <p:sp>
        <p:nvSpPr>
          <p:cNvPr id="1042749180" name="Shape 29"/>
          <p:cNvSpPr/>
          <p:nvPr/>
        </p:nvSpPr>
        <p:spPr bwMode="auto">
          <a:xfrm>
            <a:off x="8421624" y="3611880"/>
            <a:ext cx="914400" cy="0"/>
          </a:xfrm>
          <a:prstGeom prst="line">
            <a:avLst/>
          </a:prstGeom>
          <a:noFill/>
          <a:ln w="19050">
            <a:solidFill>
              <a:srgbClr val="00FF94"/>
            </a:solidFill>
            <a:prstDash val="solid"/>
          </a:ln>
        </p:spPr>
      </p:sp>
      <p:sp>
        <p:nvSpPr>
          <p:cNvPr id="2095087691" name="Text 30"/>
          <p:cNvSpPr/>
          <p:nvPr/>
        </p:nvSpPr>
        <p:spPr bwMode="auto">
          <a:xfrm>
            <a:off x="8421624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LLM + herramientas + memoria.</a:t>
            </a:r>
            <a:endParaRPr lang="en-US" sz="12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Decide qué hacer, lo ejecuta,</a:t>
            </a:r>
            <a:endParaRPr lang="en-US" sz="12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observa el resultado, itera.</a:t>
            </a:r>
            <a:endParaRPr lang="en-US" sz="1200"/>
          </a:p>
        </p:txBody>
      </p:sp>
      <p:sp>
        <p:nvSpPr>
          <p:cNvPr id="938946806" name="Text 31"/>
          <p:cNvSpPr/>
          <p:nvPr/>
        </p:nvSpPr>
        <p:spPr bwMode="auto">
          <a:xfrm>
            <a:off x="8421624" y="5440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EJEMPLOS</a:t>
            </a:r>
            <a:endParaRPr lang="en-US" sz="900"/>
          </a:p>
        </p:txBody>
      </p:sp>
      <p:sp>
        <p:nvSpPr>
          <p:cNvPr id="1812465061" name="Text 32"/>
          <p:cNvSpPr/>
          <p:nvPr/>
        </p:nvSpPr>
        <p:spPr bwMode="auto">
          <a:xfrm>
            <a:off x="8421624" y="5669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Cursor, Claude Code, n8n + AI</a:t>
            </a:r>
            <a:endParaRPr lang="en-US" sz="1100"/>
          </a:p>
        </p:txBody>
      </p:sp>
      <p:sp>
        <p:nvSpPr>
          <p:cNvPr id="947804741" name="Shape 33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42298016" name="Text 34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r>
              <a:rPr lang="es-ES" sz="900"/>
              <a:t> Rio</a:t>
            </a:r>
            <a:endParaRPr lang="en-US" sz="900"/>
          </a:p>
        </p:txBody>
      </p:sp>
      <p:sp>
        <p:nvSpPr>
          <p:cNvPr id="571105170" name="Text 35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6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954999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loop del agente</a:t>
            </a:r>
            <a:endParaRPr lang="en-US" sz="3200"/>
          </a:p>
        </p:txBody>
      </p:sp>
      <p:sp>
        <p:nvSpPr>
          <p:cNvPr id="852652710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863076084" name="Text 3"/>
          <p:cNvSpPr/>
          <p:nvPr/>
        </p:nvSpPr>
        <p:spPr bwMode="auto"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corazón de cualquier agente:</a:t>
            </a:r>
            <a:endParaRPr lang="en-US" sz="1600"/>
          </a:p>
        </p:txBody>
      </p:sp>
      <p:sp>
        <p:nvSpPr>
          <p:cNvPr id="338541232" name="Shape 4"/>
          <p:cNvSpPr/>
          <p:nvPr/>
        </p:nvSpPr>
        <p:spPr bwMode="auto">
          <a:xfrm>
            <a:off x="860908" y="2194560"/>
            <a:ext cx="2377440" cy="219456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1316957230" name="Shape 5"/>
          <p:cNvSpPr/>
          <p:nvPr/>
        </p:nvSpPr>
        <p:spPr bwMode="auto">
          <a:xfrm>
            <a:off x="860908" y="2194560"/>
            <a:ext cx="237744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9490625" name="Text 6"/>
          <p:cNvSpPr/>
          <p:nvPr/>
        </p:nvSpPr>
        <p:spPr bwMode="auto">
          <a:xfrm>
            <a:off x="860908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01</a:t>
            </a:r>
            <a:endParaRPr lang="en-US" sz="1400"/>
          </a:p>
        </p:txBody>
      </p:sp>
      <p:pic>
        <p:nvPicPr>
          <p:cNvPr id="465107132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683868" y="2834640"/>
            <a:ext cx="731520" cy="731520"/>
          </a:xfrm>
          <a:prstGeom prst="rect">
            <a:avLst/>
          </a:prstGeom>
        </p:spPr>
      </p:pic>
      <p:sp>
        <p:nvSpPr>
          <p:cNvPr id="1520973667" name="Text 7"/>
          <p:cNvSpPr/>
          <p:nvPr/>
        </p:nvSpPr>
        <p:spPr bwMode="auto">
          <a:xfrm>
            <a:off x="8609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PERCIBIR</a:t>
            </a:r>
            <a:endParaRPr lang="en-US" sz="1600"/>
          </a:p>
        </p:txBody>
      </p:sp>
      <p:sp>
        <p:nvSpPr>
          <p:cNvPr id="487406384" name="Text 8"/>
          <p:cNvSpPr/>
          <p:nvPr/>
        </p:nvSpPr>
        <p:spPr bwMode="auto">
          <a:xfrm>
            <a:off x="860908" y="3950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Perceive</a:t>
            </a:r>
            <a:endParaRPr lang="en-US" sz="1000"/>
          </a:p>
        </p:txBody>
      </p:sp>
      <p:sp>
        <p:nvSpPr>
          <p:cNvPr id="1881580349" name="Text 9"/>
          <p:cNvSpPr/>
          <p:nvPr/>
        </p:nvSpPr>
        <p:spPr bwMode="auto">
          <a:xfrm>
            <a:off x="860908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Recibe input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y contexto</a:t>
            </a:r>
            <a:endParaRPr lang="en-US" sz="1100"/>
          </a:p>
        </p:txBody>
      </p:sp>
      <p:sp>
        <p:nvSpPr>
          <p:cNvPr id="340219173" name="Text 10"/>
          <p:cNvSpPr/>
          <p:nvPr/>
        </p:nvSpPr>
        <p:spPr bwMode="auto">
          <a:xfrm>
            <a:off x="3256636" y="30632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FF94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2200"/>
          </a:p>
        </p:txBody>
      </p:sp>
      <p:sp>
        <p:nvSpPr>
          <p:cNvPr id="532112231" name="Shape 11"/>
          <p:cNvSpPr/>
          <p:nvPr/>
        </p:nvSpPr>
        <p:spPr bwMode="auto">
          <a:xfrm>
            <a:off x="3558387" y="2194560"/>
            <a:ext cx="2377440" cy="219456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248112888" name="Shape 12"/>
          <p:cNvSpPr/>
          <p:nvPr/>
        </p:nvSpPr>
        <p:spPr bwMode="auto">
          <a:xfrm>
            <a:off x="3558387" y="2194560"/>
            <a:ext cx="237744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5283903" name="Text 13"/>
          <p:cNvSpPr/>
          <p:nvPr/>
        </p:nvSpPr>
        <p:spPr bwMode="auto">
          <a:xfrm>
            <a:off x="3558387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02</a:t>
            </a:r>
            <a:endParaRPr lang="en-US" sz="1400"/>
          </a:p>
        </p:txBody>
      </p:sp>
      <p:pic>
        <p:nvPicPr>
          <p:cNvPr id="1388603726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381348" y="2834640"/>
            <a:ext cx="731520" cy="731520"/>
          </a:xfrm>
          <a:prstGeom prst="rect">
            <a:avLst/>
          </a:prstGeom>
        </p:spPr>
      </p:pic>
      <p:sp>
        <p:nvSpPr>
          <p:cNvPr id="1974379809" name="Text 14"/>
          <p:cNvSpPr/>
          <p:nvPr/>
        </p:nvSpPr>
        <p:spPr bwMode="auto">
          <a:xfrm>
            <a:off x="3558387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RAZONAR</a:t>
            </a:r>
            <a:endParaRPr lang="en-US" sz="1600"/>
          </a:p>
        </p:txBody>
      </p:sp>
      <p:sp>
        <p:nvSpPr>
          <p:cNvPr id="206083519" name="Text 15"/>
          <p:cNvSpPr/>
          <p:nvPr/>
        </p:nvSpPr>
        <p:spPr bwMode="auto">
          <a:xfrm>
            <a:off x="3558387" y="3950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Reason</a:t>
            </a:r>
            <a:endParaRPr lang="en-US" sz="1000"/>
          </a:p>
        </p:txBody>
      </p:sp>
      <p:sp>
        <p:nvSpPr>
          <p:cNvPr id="124269441" name="Text 16"/>
          <p:cNvSpPr/>
          <p:nvPr/>
        </p:nvSpPr>
        <p:spPr bwMode="auto">
          <a:xfrm>
            <a:off x="3558387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Decide qué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herramienta usar</a:t>
            </a:r>
            <a:endParaRPr lang="en-US" sz="1100"/>
          </a:p>
        </p:txBody>
      </p:sp>
      <p:sp>
        <p:nvSpPr>
          <p:cNvPr id="937295859" name="Text 17"/>
          <p:cNvSpPr/>
          <p:nvPr/>
        </p:nvSpPr>
        <p:spPr bwMode="auto">
          <a:xfrm>
            <a:off x="5954116" y="30632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FF94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2200"/>
          </a:p>
        </p:txBody>
      </p:sp>
      <p:sp>
        <p:nvSpPr>
          <p:cNvPr id="457308595" name="Shape 18"/>
          <p:cNvSpPr/>
          <p:nvPr/>
        </p:nvSpPr>
        <p:spPr bwMode="auto">
          <a:xfrm>
            <a:off x="6255868" y="2194560"/>
            <a:ext cx="2377440" cy="219456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2147053095" name="Shape 19"/>
          <p:cNvSpPr/>
          <p:nvPr/>
        </p:nvSpPr>
        <p:spPr bwMode="auto">
          <a:xfrm>
            <a:off x="6255868" y="2194560"/>
            <a:ext cx="237744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63484385" name="Text 20"/>
          <p:cNvSpPr/>
          <p:nvPr/>
        </p:nvSpPr>
        <p:spPr bwMode="auto">
          <a:xfrm>
            <a:off x="6255868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03</a:t>
            </a:r>
            <a:endParaRPr lang="en-US" sz="1400"/>
          </a:p>
        </p:txBody>
      </p:sp>
      <p:pic>
        <p:nvPicPr>
          <p:cNvPr id="502099793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078828" y="2834640"/>
            <a:ext cx="731520" cy="731520"/>
          </a:xfrm>
          <a:prstGeom prst="rect">
            <a:avLst/>
          </a:prstGeom>
        </p:spPr>
      </p:pic>
      <p:sp>
        <p:nvSpPr>
          <p:cNvPr id="1192289312" name="Text 21"/>
          <p:cNvSpPr/>
          <p:nvPr/>
        </p:nvSpPr>
        <p:spPr bwMode="auto">
          <a:xfrm>
            <a:off x="625586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ACTUAR</a:t>
            </a:r>
            <a:endParaRPr lang="en-US" sz="1600"/>
          </a:p>
        </p:txBody>
      </p:sp>
      <p:sp>
        <p:nvSpPr>
          <p:cNvPr id="1608880042" name="Text 22"/>
          <p:cNvSpPr/>
          <p:nvPr/>
        </p:nvSpPr>
        <p:spPr bwMode="auto">
          <a:xfrm>
            <a:off x="6255868" y="3950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Act</a:t>
            </a:r>
            <a:endParaRPr lang="en-US" sz="1000"/>
          </a:p>
        </p:txBody>
      </p:sp>
      <p:sp>
        <p:nvSpPr>
          <p:cNvPr id="1612091167" name="Text 23"/>
          <p:cNvSpPr/>
          <p:nvPr/>
        </p:nvSpPr>
        <p:spPr bwMode="auto">
          <a:xfrm>
            <a:off x="6255868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Ejecuta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la herramienta</a:t>
            </a:r>
            <a:endParaRPr lang="en-US" sz="1100"/>
          </a:p>
        </p:txBody>
      </p:sp>
      <p:sp>
        <p:nvSpPr>
          <p:cNvPr id="822410148" name="Text 24"/>
          <p:cNvSpPr/>
          <p:nvPr/>
        </p:nvSpPr>
        <p:spPr bwMode="auto">
          <a:xfrm>
            <a:off x="8651596" y="30632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FF94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2200"/>
          </a:p>
        </p:txBody>
      </p:sp>
      <p:sp>
        <p:nvSpPr>
          <p:cNvPr id="945938338" name="Shape 25"/>
          <p:cNvSpPr/>
          <p:nvPr/>
        </p:nvSpPr>
        <p:spPr bwMode="auto">
          <a:xfrm>
            <a:off x="8953348" y="2194560"/>
            <a:ext cx="2377440" cy="219456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890185351" name="Shape 26"/>
          <p:cNvSpPr/>
          <p:nvPr/>
        </p:nvSpPr>
        <p:spPr bwMode="auto">
          <a:xfrm>
            <a:off x="8953348" y="2194560"/>
            <a:ext cx="237744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25843658" name="Text 27"/>
          <p:cNvSpPr/>
          <p:nvPr/>
        </p:nvSpPr>
        <p:spPr bwMode="auto">
          <a:xfrm>
            <a:off x="8953348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04</a:t>
            </a:r>
            <a:endParaRPr lang="en-US" sz="1400"/>
          </a:p>
        </p:txBody>
      </p:sp>
      <p:pic>
        <p:nvPicPr>
          <p:cNvPr id="885496105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9776308" y="2834640"/>
            <a:ext cx="731520" cy="731520"/>
          </a:xfrm>
          <a:prstGeom prst="rect">
            <a:avLst/>
          </a:prstGeom>
        </p:spPr>
      </p:pic>
      <p:sp>
        <p:nvSpPr>
          <p:cNvPr id="1102951401" name="Text 28"/>
          <p:cNvSpPr/>
          <p:nvPr/>
        </p:nvSpPr>
        <p:spPr bwMode="auto">
          <a:xfrm>
            <a:off x="895334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OBSERVAR</a:t>
            </a:r>
            <a:endParaRPr lang="en-US" sz="1600"/>
          </a:p>
        </p:txBody>
      </p:sp>
      <p:sp>
        <p:nvSpPr>
          <p:cNvPr id="1840801561" name="Text 29"/>
          <p:cNvSpPr/>
          <p:nvPr/>
        </p:nvSpPr>
        <p:spPr bwMode="auto">
          <a:xfrm>
            <a:off x="8953348" y="39502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Observe</a:t>
            </a:r>
            <a:endParaRPr lang="en-US" sz="1000"/>
          </a:p>
        </p:txBody>
      </p:sp>
      <p:sp>
        <p:nvSpPr>
          <p:cNvPr id="846938377" name="Text 30"/>
          <p:cNvSpPr/>
          <p:nvPr/>
        </p:nvSpPr>
        <p:spPr bwMode="auto">
          <a:xfrm>
            <a:off x="8953348" y="4526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Lee resultado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y decide</a:t>
            </a:r>
            <a:endParaRPr lang="en-US" sz="1100"/>
          </a:p>
        </p:txBody>
      </p:sp>
      <p:sp>
        <p:nvSpPr>
          <p:cNvPr id="1820794626" name="Shape 31"/>
          <p:cNvSpPr/>
          <p:nvPr/>
        </p:nvSpPr>
        <p:spPr bwMode="auto">
          <a:xfrm>
            <a:off x="10142068" y="5257800"/>
            <a:ext cx="0" cy="274320"/>
          </a:xfrm>
          <a:prstGeom prst="line">
            <a:avLst/>
          </a:prstGeom>
          <a:noFill/>
          <a:ln w="25400">
            <a:solidFill>
              <a:srgbClr val="00FF94"/>
            </a:solidFill>
            <a:prstDash val="solid"/>
          </a:ln>
        </p:spPr>
      </p:sp>
      <p:sp>
        <p:nvSpPr>
          <p:cNvPr id="1121248285" name="Shape 32"/>
          <p:cNvSpPr/>
          <p:nvPr/>
        </p:nvSpPr>
        <p:spPr bwMode="auto">
          <a:xfrm>
            <a:off x="2049627" y="5532120"/>
            <a:ext cx="8092440" cy="0"/>
          </a:xfrm>
          <a:prstGeom prst="line">
            <a:avLst/>
          </a:prstGeom>
          <a:noFill/>
          <a:ln w="25400">
            <a:solidFill>
              <a:srgbClr val="00FF94"/>
            </a:solidFill>
            <a:prstDash val="dash"/>
          </a:ln>
        </p:spPr>
      </p:sp>
      <p:sp>
        <p:nvSpPr>
          <p:cNvPr id="1001232693" name="Shape 33"/>
          <p:cNvSpPr/>
          <p:nvPr/>
        </p:nvSpPr>
        <p:spPr bwMode="auto">
          <a:xfrm>
            <a:off x="2049627" y="5257800"/>
            <a:ext cx="0" cy="274320"/>
          </a:xfrm>
          <a:prstGeom prst="line">
            <a:avLst/>
          </a:prstGeom>
          <a:noFill/>
          <a:ln w="25400">
            <a:solidFill>
              <a:srgbClr val="00FF94"/>
            </a:solidFill>
            <a:prstDash val="solid"/>
          </a:ln>
        </p:spPr>
      </p:sp>
      <p:sp>
        <p:nvSpPr>
          <p:cNvPr id="279815500" name="Text 34"/>
          <p:cNvSpPr/>
          <p:nvPr/>
        </p:nvSpPr>
        <p:spPr bwMode="auto">
          <a:xfrm>
            <a:off x="1912468" y="5102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00FF94"/>
                </a:solidFill>
                <a:latin typeface="Calibri"/>
                <a:ea typeface="Calibri"/>
                <a:cs typeface="Calibri"/>
              </a:rPr>
              <a:t>▲</a:t>
            </a:r>
            <a:endParaRPr lang="en-US" sz="1400"/>
          </a:p>
        </p:txBody>
      </p:sp>
      <p:sp>
        <p:nvSpPr>
          <p:cNvPr id="1827563478" name="Shape 35"/>
          <p:cNvSpPr/>
          <p:nvPr/>
        </p:nvSpPr>
        <p:spPr bwMode="auto">
          <a:xfrm>
            <a:off x="4815688" y="5349240"/>
            <a:ext cx="2560320" cy="365760"/>
          </a:xfrm>
          <a:prstGeom prst="rect">
            <a:avLst/>
          </a:prstGeom>
          <a:solidFill>
            <a:srgbClr val="0A0E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7466526" name="Text 36"/>
          <p:cNvSpPr/>
          <p:nvPr/>
        </p:nvSpPr>
        <p:spPr bwMode="auto">
          <a:xfrm>
            <a:off x="4815688" y="5349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 i="1" spc="2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LOOP · until done</a:t>
            </a:r>
            <a:endParaRPr lang="en-US" sz="1200"/>
          </a:p>
        </p:txBody>
      </p:sp>
      <p:sp>
        <p:nvSpPr>
          <p:cNvPr id="1942004671" name="Shape 37"/>
          <p:cNvSpPr/>
          <p:nvPr/>
        </p:nvSpPr>
        <p:spPr bwMode="auto">
          <a:xfrm>
            <a:off x="548640" y="5989320"/>
            <a:ext cx="11064240" cy="365760"/>
          </a:xfrm>
          <a:prstGeom prst="rect">
            <a:avLst/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571978530" name="Text 38"/>
          <p:cNvSpPr/>
          <p:nvPr/>
        </p:nvSpPr>
        <p:spPr bwMode="auto"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alibri"/>
                <a:ea typeface="Calibri"/>
                <a:cs typeface="Calibri"/>
              </a:rPr>
              <a:t>TAKEAWAY:  </a:t>
            </a: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un agente no es "un chatbot inteligente" — es un sistema que </a:t>
            </a: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decide y actúa</a:t>
            </a: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 en bucle.</a:t>
            </a:r>
            <a:endParaRPr lang="en-US" sz="1200"/>
          </a:p>
        </p:txBody>
      </p:sp>
      <p:sp>
        <p:nvSpPr>
          <p:cNvPr id="297572542" name="Shape 39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964916627" name="Text 40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139234610" name="Text 41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7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599526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Anatomía de un agente</a:t>
            </a:r>
            <a:endParaRPr lang="en-US" sz="3200"/>
          </a:p>
        </p:txBody>
      </p:sp>
      <p:sp>
        <p:nvSpPr>
          <p:cNvPr id="1816847091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977393862" name="Text 3"/>
          <p:cNvSpPr/>
          <p:nvPr/>
        </p:nvSpPr>
        <p:spPr bwMode="auto">
          <a:xfrm>
            <a:off x="548640" y="1508759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Como un asistente humano nuevo en su primer día:</a:t>
            </a:r>
            <a:endParaRPr lang="en-US" sz="1400"/>
          </a:p>
        </p:txBody>
      </p:sp>
      <p:sp>
        <p:nvSpPr>
          <p:cNvPr id="1453069313" name="Shape 4"/>
          <p:cNvSpPr/>
          <p:nvPr/>
        </p:nvSpPr>
        <p:spPr bwMode="auto">
          <a:xfrm>
            <a:off x="457200" y="1965960"/>
            <a:ext cx="2212848" cy="4160519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181748080" name="Shape 5"/>
          <p:cNvSpPr/>
          <p:nvPr/>
        </p:nvSpPr>
        <p:spPr bwMode="auto">
          <a:xfrm>
            <a:off x="457200" y="1965960"/>
            <a:ext cx="2212848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60547926" name="Text 6"/>
          <p:cNvSpPr/>
          <p:nvPr/>
        </p:nvSpPr>
        <p:spPr bwMode="auto">
          <a:xfrm>
            <a:off x="457200" y="2148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01</a:t>
            </a:r>
            <a:endParaRPr lang="en-US" sz="3600"/>
          </a:p>
        </p:txBody>
      </p:sp>
      <p:pic>
        <p:nvPicPr>
          <p:cNvPr id="1986177431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271016" y="2788920"/>
            <a:ext cx="585216" cy="585216"/>
          </a:xfrm>
          <a:prstGeom prst="rect">
            <a:avLst/>
          </a:prstGeom>
        </p:spPr>
      </p:pic>
      <p:sp>
        <p:nvSpPr>
          <p:cNvPr id="1909877266" name="Text 7"/>
          <p:cNvSpPr/>
          <p:nvPr/>
        </p:nvSpPr>
        <p:spPr bwMode="auto">
          <a:xfrm>
            <a:off x="457200" y="347472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MODELO</a:t>
            </a:r>
            <a:endParaRPr lang="en-US" sz="1300"/>
          </a:p>
        </p:txBody>
      </p:sp>
      <p:sp>
        <p:nvSpPr>
          <p:cNvPr id="1752091031" name="Text 8"/>
          <p:cNvSpPr/>
          <p:nvPr/>
        </p:nvSpPr>
        <p:spPr bwMode="auto">
          <a:xfrm>
            <a:off x="457200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Model / LLM</a:t>
            </a:r>
            <a:endParaRPr lang="en-US" sz="900"/>
          </a:p>
        </p:txBody>
      </p:sp>
      <p:sp>
        <p:nvSpPr>
          <p:cNvPr id="2145068184" name="Shape 9"/>
          <p:cNvSpPr/>
          <p:nvPr/>
        </p:nvSpPr>
        <p:spPr bwMode="auto">
          <a:xfrm>
            <a:off x="1197864" y="4114800"/>
            <a:ext cx="731520" cy="0"/>
          </a:xfrm>
          <a:prstGeom prst="line">
            <a:avLst/>
          </a:prstGeom>
          <a:noFill/>
          <a:ln w="12700">
            <a:solidFill>
              <a:srgbClr val="1E2940"/>
            </a:solidFill>
            <a:prstDash val="solid"/>
          </a:ln>
        </p:spPr>
      </p:sp>
      <p:sp>
        <p:nvSpPr>
          <p:cNvPr id="403716402" name="Text 10"/>
          <p:cNvSpPr/>
          <p:nvPr/>
        </p:nvSpPr>
        <p:spPr bwMode="auto">
          <a:xfrm>
            <a:off x="594360" y="420624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La inteligencia que razona</a:t>
            </a:r>
            <a:endParaRPr lang="en-US" sz="1050"/>
          </a:p>
        </p:txBody>
      </p:sp>
      <p:sp>
        <p:nvSpPr>
          <p:cNvPr id="312279610" name="Shape 11"/>
          <p:cNvSpPr/>
          <p:nvPr/>
        </p:nvSpPr>
        <p:spPr bwMode="auto">
          <a:xfrm>
            <a:off x="594360" y="5166360"/>
            <a:ext cx="1938528" cy="841248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556059386" name="Text 12"/>
          <p:cNvSpPr/>
          <p:nvPr/>
        </p:nvSpPr>
        <p:spPr bwMode="auto">
          <a:xfrm>
            <a:off x="594360" y="521208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00" b="1" spc="2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ANALOGÍA</a:t>
            </a:r>
            <a:endParaRPr lang="en-US" sz="800"/>
          </a:p>
        </p:txBody>
      </p:sp>
      <p:sp>
        <p:nvSpPr>
          <p:cNvPr id="1283101162" name="Text 13"/>
          <p:cNvSpPr/>
          <p:nvPr/>
        </p:nvSpPr>
        <p:spPr bwMode="auto">
          <a:xfrm>
            <a:off x="640080" y="541324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cerebro de la persona</a:t>
            </a:r>
            <a:endParaRPr lang="en-US" sz="1000"/>
          </a:p>
        </p:txBody>
      </p:sp>
      <p:sp>
        <p:nvSpPr>
          <p:cNvPr id="1326439512" name="Shape 14"/>
          <p:cNvSpPr/>
          <p:nvPr/>
        </p:nvSpPr>
        <p:spPr bwMode="auto">
          <a:xfrm>
            <a:off x="2715768" y="1965960"/>
            <a:ext cx="2212848" cy="4160519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124973357" name="Shape 15"/>
          <p:cNvSpPr/>
          <p:nvPr/>
        </p:nvSpPr>
        <p:spPr bwMode="auto">
          <a:xfrm>
            <a:off x="2715768" y="1965960"/>
            <a:ext cx="2212848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41404683" name="Text 16"/>
          <p:cNvSpPr/>
          <p:nvPr/>
        </p:nvSpPr>
        <p:spPr bwMode="auto">
          <a:xfrm>
            <a:off x="2715768" y="2148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02</a:t>
            </a:r>
            <a:endParaRPr lang="en-US" sz="3600"/>
          </a:p>
        </p:txBody>
      </p:sp>
      <p:pic>
        <p:nvPicPr>
          <p:cNvPr id="176434578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529584" y="2788920"/>
            <a:ext cx="585216" cy="585216"/>
          </a:xfrm>
          <a:prstGeom prst="rect">
            <a:avLst/>
          </a:prstGeom>
        </p:spPr>
      </p:pic>
      <p:sp>
        <p:nvSpPr>
          <p:cNvPr id="1865450126" name="Text 17"/>
          <p:cNvSpPr/>
          <p:nvPr/>
        </p:nvSpPr>
        <p:spPr bwMode="auto">
          <a:xfrm>
            <a:off x="2715768" y="347472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INSTRUCCIONES</a:t>
            </a:r>
            <a:endParaRPr lang="en-US" sz="1300"/>
          </a:p>
        </p:txBody>
      </p:sp>
      <p:sp>
        <p:nvSpPr>
          <p:cNvPr id="352975653" name="Text 18"/>
          <p:cNvSpPr/>
          <p:nvPr/>
        </p:nvSpPr>
        <p:spPr bwMode="auto">
          <a:xfrm>
            <a:off x="2715768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System prompt</a:t>
            </a:r>
            <a:endParaRPr lang="en-US" sz="900"/>
          </a:p>
        </p:txBody>
      </p:sp>
      <p:sp>
        <p:nvSpPr>
          <p:cNvPr id="1451907344" name="Shape 19"/>
          <p:cNvSpPr/>
          <p:nvPr/>
        </p:nvSpPr>
        <p:spPr bwMode="auto">
          <a:xfrm>
            <a:off x="3456432" y="4114800"/>
            <a:ext cx="731520" cy="0"/>
          </a:xfrm>
          <a:prstGeom prst="line">
            <a:avLst/>
          </a:prstGeom>
          <a:noFill/>
          <a:ln w="12700">
            <a:solidFill>
              <a:srgbClr val="1E2940"/>
            </a:solidFill>
            <a:prstDash val="solid"/>
          </a:ln>
        </p:spPr>
      </p:sp>
      <p:sp>
        <p:nvSpPr>
          <p:cNvPr id="1468917518" name="Text 20"/>
          <p:cNvSpPr/>
          <p:nvPr/>
        </p:nvSpPr>
        <p:spPr bwMode="auto">
          <a:xfrm>
            <a:off x="2852928" y="420624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Reglas, tono, objetivos</a:t>
            </a:r>
            <a:endParaRPr lang="en-US" sz="1050"/>
          </a:p>
        </p:txBody>
      </p:sp>
      <p:sp>
        <p:nvSpPr>
          <p:cNvPr id="191286748" name="Shape 21"/>
          <p:cNvSpPr/>
          <p:nvPr/>
        </p:nvSpPr>
        <p:spPr bwMode="auto">
          <a:xfrm>
            <a:off x="2852928" y="5166360"/>
            <a:ext cx="1938528" cy="841248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2124632915" name="Text 22"/>
          <p:cNvSpPr/>
          <p:nvPr/>
        </p:nvSpPr>
        <p:spPr bwMode="auto">
          <a:xfrm>
            <a:off x="2852928" y="521208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00" b="1" spc="2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ANALOGÍA</a:t>
            </a:r>
            <a:endParaRPr lang="en-US" sz="800"/>
          </a:p>
        </p:txBody>
      </p:sp>
      <p:sp>
        <p:nvSpPr>
          <p:cNvPr id="958765019" name="Text 23"/>
          <p:cNvSpPr/>
          <p:nvPr/>
        </p:nvSpPr>
        <p:spPr bwMode="auto">
          <a:xfrm>
            <a:off x="2898648" y="541324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manual del puesto</a:t>
            </a:r>
            <a:endParaRPr lang="en-US" sz="1000"/>
          </a:p>
        </p:txBody>
      </p:sp>
      <p:sp>
        <p:nvSpPr>
          <p:cNvPr id="1497984330" name="Shape 24"/>
          <p:cNvSpPr/>
          <p:nvPr/>
        </p:nvSpPr>
        <p:spPr bwMode="auto">
          <a:xfrm>
            <a:off x="4974336" y="1965960"/>
            <a:ext cx="2212848" cy="4160519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949150989" name="Shape 25"/>
          <p:cNvSpPr/>
          <p:nvPr/>
        </p:nvSpPr>
        <p:spPr bwMode="auto">
          <a:xfrm>
            <a:off x="4974336" y="1965960"/>
            <a:ext cx="2212848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85447306" name="Text 26"/>
          <p:cNvSpPr/>
          <p:nvPr/>
        </p:nvSpPr>
        <p:spPr bwMode="auto">
          <a:xfrm>
            <a:off x="4974336" y="2148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03</a:t>
            </a:r>
            <a:endParaRPr lang="en-US" sz="3600"/>
          </a:p>
        </p:txBody>
      </p:sp>
      <p:pic>
        <p:nvPicPr>
          <p:cNvPr id="1278316334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788152" y="2788920"/>
            <a:ext cx="585216" cy="585216"/>
          </a:xfrm>
          <a:prstGeom prst="rect">
            <a:avLst/>
          </a:prstGeom>
        </p:spPr>
      </p:pic>
      <p:sp>
        <p:nvSpPr>
          <p:cNvPr id="444660207" name="Text 27"/>
          <p:cNvSpPr/>
          <p:nvPr/>
        </p:nvSpPr>
        <p:spPr bwMode="auto">
          <a:xfrm>
            <a:off x="4974336" y="347472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HERRAMIENTAS</a:t>
            </a:r>
            <a:endParaRPr lang="en-US" sz="1300"/>
          </a:p>
        </p:txBody>
      </p:sp>
      <p:sp>
        <p:nvSpPr>
          <p:cNvPr id="1610490005" name="Text 28"/>
          <p:cNvSpPr/>
          <p:nvPr/>
        </p:nvSpPr>
        <p:spPr bwMode="auto">
          <a:xfrm>
            <a:off x="4974336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Tools</a:t>
            </a:r>
            <a:endParaRPr lang="en-US" sz="900"/>
          </a:p>
        </p:txBody>
      </p:sp>
      <p:sp>
        <p:nvSpPr>
          <p:cNvPr id="1780050274" name="Shape 29"/>
          <p:cNvSpPr/>
          <p:nvPr/>
        </p:nvSpPr>
        <p:spPr bwMode="auto">
          <a:xfrm>
            <a:off x="5715000" y="4114800"/>
            <a:ext cx="731520" cy="0"/>
          </a:xfrm>
          <a:prstGeom prst="line">
            <a:avLst/>
          </a:prstGeom>
          <a:noFill/>
          <a:ln w="12700">
            <a:solidFill>
              <a:srgbClr val="1E2940"/>
            </a:solidFill>
            <a:prstDash val="solid"/>
          </a:ln>
        </p:spPr>
      </p:sp>
      <p:sp>
        <p:nvSpPr>
          <p:cNvPr id="425742243" name="Text 30"/>
          <p:cNvSpPr/>
          <p:nvPr/>
        </p:nvSpPr>
        <p:spPr bwMode="auto">
          <a:xfrm>
            <a:off x="5111496" y="420624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APIs, funciones, sistemas que puede invocar</a:t>
            </a:r>
            <a:endParaRPr lang="en-US" sz="1050"/>
          </a:p>
        </p:txBody>
      </p:sp>
      <p:sp>
        <p:nvSpPr>
          <p:cNvPr id="949245770" name="Shape 31"/>
          <p:cNvSpPr/>
          <p:nvPr/>
        </p:nvSpPr>
        <p:spPr bwMode="auto">
          <a:xfrm>
            <a:off x="5111496" y="5166360"/>
            <a:ext cx="1938528" cy="841248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2011244302" name="Text 32"/>
          <p:cNvSpPr/>
          <p:nvPr/>
        </p:nvSpPr>
        <p:spPr bwMode="auto">
          <a:xfrm>
            <a:off x="5111496" y="521208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00" b="1" spc="2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ANALOGÍA</a:t>
            </a:r>
            <a:endParaRPr lang="en-US" sz="800"/>
          </a:p>
        </p:txBody>
      </p:sp>
      <p:sp>
        <p:nvSpPr>
          <p:cNvPr id="1943542236" name="Text 33"/>
          <p:cNvSpPr/>
          <p:nvPr/>
        </p:nvSpPr>
        <p:spPr bwMode="auto">
          <a:xfrm>
            <a:off x="5157216" y="541324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Sus credenciales y accesos</a:t>
            </a:r>
            <a:endParaRPr lang="en-US" sz="1000"/>
          </a:p>
        </p:txBody>
      </p:sp>
      <p:sp>
        <p:nvSpPr>
          <p:cNvPr id="742062312" name="Shape 34"/>
          <p:cNvSpPr/>
          <p:nvPr/>
        </p:nvSpPr>
        <p:spPr bwMode="auto">
          <a:xfrm>
            <a:off x="7232904" y="1965960"/>
            <a:ext cx="2212848" cy="4160519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524595064" name="Shape 35"/>
          <p:cNvSpPr/>
          <p:nvPr/>
        </p:nvSpPr>
        <p:spPr bwMode="auto">
          <a:xfrm>
            <a:off x="7232904" y="1965960"/>
            <a:ext cx="2212848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21457352" name="Text 36"/>
          <p:cNvSpPr/>
          <p:nvPr/>
        </p:nvSpPr>
        <p:spPr bwMode="auto">
          <a:xfrm>
            <a:off x="7232904" y="2148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04</a:t>
            </a:r>
            <a:endParaRPr lang="en-US" sz="3600"/>
          </a:p>
        </p:txBody>
      </p:sp>
      <p:pic>
        <p:nvPicPr>
          <p:cNvPr id="968144344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046720" y="2788920"/>
            <a:ext cx="585216" cy="585216"/>
          </a:xfrm>
          <a:prstGeom prst="rect">
            <a:avLst/>
          </a:prstGeom>
        </p:spPr>
      </p:pic>
      <p:sp>
        <p:nvSpPr>
          <p:cNvPr id="1457159068" name="Text 37"/>
          <p:cNvSpPr/>
          <p:nvPr/>
        </p:nvSpPr>
        <p:spPr bwMode="auto">
          <a:xfrm>
            <a:off x="7232904" y="347472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MEMORIA</a:t>
            </a:r>
            <a:endParaRPr lang="en-US" sz="1300"/>
          </a:p>
        </p:txBody>
      </p:sp>
      <p:sp>
        <p:nvSpPr>
          <p:cNvPr id="630097772" name="Text 38"/>
          <p:cNvSpPr/>
          <p:nvPr/>
        </p:nvSpPr>
        <p:spPr bwMode="auto">
          <a:xfrm>
            <a:off x="7232904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Memory</a:t>
            </a:r>
            <a:endParaRPr lang="en-US" sz="900"/>
          </a:p>
        </p:txBody>
      </p:sp>
      <p:sp>
        <p:nvSpPr>
          <p:cNvPr id="856426953" name="Shape 39"/>
          <p:cNvSpPr/>
          <p:nvPr/>
        </p:nvSpPr>
        <p:spPr bwMode="auto">
          <a:xfrm>
            <a:off x="7973568" y="4114800"/>
            <a:ext cx="731520" cy="0"/>
          </a:xfrm>
          <a:prstGeom prst="line">
            <a:avLst/>
          </a:prstGeom>
          <a:noFill/>
          <a:ln w="12700">
            <a:solidFill>
              <a:srgbClr val="1E2940"/>
            </a:solidFill>
            <a:prstDash val="solid"/>
          </a:ln>
        </p:spPr>
      </p:sp>
      <p:sp>
        <p:nvSpPr>
          <p:cNvPr id="2096842871" name="Text 40"/>
          <p:cNvSpPr/>
          <p:nvPr/>
        </p:nvSpPr>
        <p:spPr bwMode="auto">
          <a:xfrm>
            <a:off x="7370064" y="420624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Corto plazo (chat) y largo plazo (vector DB)</a:t>
            </a:r>
            <a:endParaRPr lang="en-US" sz="1050"/>
          </a:p>
        </p:txBody>
      </p:sp>
      <p:sp>
        <p:nvSpPr>
          <p:cNvPr id="974338230" name="Shape 41"/>
          <p:cNvSpPr/>
          <p:nvPr/>
        </p:nvSpPr>
        <p:spPr bwMode="auto">
          <a:xfrm>
            <a:off x="7370064" y="5166360"/>
            <a:ext cx="1938528" cy="841248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139352493" name="Text 42"/>
          <p:cNvSpPr/>
          <p:nvPr/>
        </p:nvSpPr>
        <p:spPr bwMode="auto">
          <a:xfrm>
            <a:off x="7370064" y="521208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00" b="1" spc="2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ANALOGÍA</a:t>
            </a:r>
            <a:endParaRPr lang="en-US" sz="800"/>
          </a:p>
        </p:txBody>
      </p:sp>
      <p:sp>
        <p:nvSpPr>
          <p:cNvPr id="1066675013" name="Text 43"/>
          <p:cNvSpPr/>
          <p:nvPr/>
        </p:nvSpPr>
        <p:spPr bwMode="auto">
          <a:xfrm>
            <a:off x="7415784" y="541324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Su libreta de notas</a:t>
            </a:r>
            <a:endParaRPr lang="en-US" sz="1000"/>
          </a:p>
        </p:txBody>
      </p:sp>
      <p:sp>
        <p:nvSpPr>
          <p:cNvPr id="1361845005" name="Shape 44"/>
          <p:cNvSpPr/>
          <p:nvPr/>
        </p:nvSpPr>
        <p:spPr bwMode="auto">
          <a:xfrm>
            <a:off x="9491472" y="1965960"/>
            <a:ext cx="2212848" cy="4160519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56489369" name="Shape 45"/>
          <p:cNvSpPr/>
          <p:nvPr/>
        </p:nvSpPr>
        <p:spPr bwMode="auto">
          <a:xfrm>
            <a:off x="9491472" y="1965960"/>
            <a:ext cx="2212848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22784792" name="Text 46"/>
          <p:cNvSpPr/>
          <p:nvPr/>
        </p:nvSpPr>
        <p:spPr bwMode="auto">
          <a:xfrm>
            <a:off x="9491472" y="2148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05</a:t>
            </a:r>
            <a:endParaRPr lang="en-US" sz="3600"/>
          </a:p>
        </p:txBody>
      </p:sp>
      <p:pic>
        <p:nvPicPr>
          <p:cNvPr id="368401963" name="Image 4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10305288" y="2788920"/>
            <a:ext cx="585216" cy="585216"/>
          </a:xfrm>
          <a:prstGeom prst="rect">
            <a:avLst/>
          </a:prstGeom>
        </p:spPr>
      </p:pic>
      <p:sp>
        <p:nvSpPr>
          <p:cNvPr id="1281566656" name="Text 47"/>
          <p:cNvSpPr/>
          <p:nvPr/>
        </p:nvSpPr>
        <p:spPr bwMode="auto">
          <a:xfrm>
            <a:off x="9491472" y="347472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ORQUESTADOR</a:t>
            </a:r>
            <a:endParaRPr lang="en-US" sz="1300"/>
          </a:p>
        </p:txBody>
      </p:sp>
      <p:sp>
        <p:nvSpPr>
          <p:cNvPr id="157756867" name="Text 48"/>
          <p:cNvSpPr/>
          <p:nvPr/>
        </p:nvSpPr>
        <p:spPr bwMode="auto">
          <a:xfrm>
            <a:off x="9491472" y="37947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Orchestrator</a:t>
            </a:r>
            <a:endParaRPr lang="en-US" sz="900"/>
          </a:p>
        </p:txBody>
      </p:sp>
      <p:sp>
        <p:nvSpPr>
          <p:cNvPr id="2083265649" name="Shape 49"/>
          <p:cNvSpPr/>
          <p:nvPr/>
        </p:nvSpPr>
        <p:spPr bwMode="auto">
          <a:xfrm>
            <a:off x="10232136" y="4114800"/>
            <a:ext cx="731520" cy="0"/>
          </a:xfrm>
          <a:prstGeom prst="line">
            <a:avLst/>
          </a:prstGeom>
          <a:noFill/>
          <a:ln w="12700">
            <a:solidFill>
              <a:srgbClr val="1E2940"/>
            </a:solidFill>
            <a:prstDash val="solid"/>
          </a:ln>
        </p:spPr>
      </p:sp>
      <p:sp>
        <p:nvSpPr>
          <p:cNvPr id="593010301" name="Text 50"/>
          <p:cNvSpPr/>
          <p:nvPr/>
        </p:nvSpPr>
        <p:spPr bwMode="auto">
          <a:xfrm>
            <a:off x="9628632" y="420624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Quién decide el flujo: el LLM o código externo</a:t>
            </a:r>
            <a:endParaRPr lang="en-US" sz="1050"/>
          </a:p>
        </p:txBody>
      </p:sp>
      <p:sp>
        <p:nvSpPr>
          <p:cNvPr id="585192657" name="Shape 51"/>
          <p:cNvSpPr/>
          <p:nvPr/>
        </p:nvSpPr>
        <p:spPr bwMode="auto">
          <a:xfrm>
            <a:off x="9628632" y="5166360"/>
            <a:ext cx="1938528" cy="841248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739690536" name="Text 52"/>
          <p:cNvSpPr/>
          <p:nvPr/>
        </p:nvSpPr>
        <p:spPr bwMode="auto">
          <a:xfrm>
            <a:off x="9628632" y="5212080"/>
            <a:ext cx="193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800" b="1" spc="2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ANALOGÍA</a:t>
            </a:r>
            <a:endParaRPr lang="en-US" sz="800"/>
          </a:p>
        </p:txBody>
      </p:sp>
      <p:sp>
        <p:nvSpPr>
          <p:cNvPr id="366333627" name="Text 53"/>
          <p:cNvSpPr/>
          <p:nvPr/>
        </p:nvSpPr>
        <p:spPr bwMode="auto">
          <a:xfrm>
            <a:off x="9674352" y="541324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supervisor que coordina</a:t>
            </a:r>
            <a:endParaRPr lang="en-US" sz="1000"/>
          </a:p>
        </p:txBody>
      </p:sp>
      <p:sp>
        <p:nvSpPr>
          <p:cNvPr id="1993573782" name="Shape 54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2109363033" name="Text 55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200187643" name="Text 56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8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059773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Agentes vs. Automatización tradicional</a:t>
            </a:r>
            <a:endParaRPr lang="en-US" sz="3200"/>
          </a:p>
        </p:txBody>
      </p:sp>
      <p:sp>
        <p:nvSpPr>
          <p:cNvPr id="1553685392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703076809" name="Shape 3"/>
          <p:cNvSpPr/>
          <p:nvPr/>
        </p:nvSpPr>
        <p:spPr bwMode="auto">
          <a:xfrm>
            <a:off x="548640" y="1691640"/>
            <a:ext cx="5440680" cy="457200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62117460" name="Shape 4"/>
          <p:cNvSpPr/>
          <p:nvPr/>
        </p:nvSpPr>
        <p:spPr bwMode="auto">
          <a:xfrm>
            <a:off x="548640" y="1691640"/>
            <a:ext cx="544068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44125933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22960" y="1920240"/>
            <a:ext cx="548640" cy="548640"/>
          </a:xfrm>
          <a:prstGeom prst="rect">
            <a:avLst/>
          </a:prstGeom>
        </p:spPr>
      </p:pic>
      <p:sp>
        <p:nvSpPr>
          <p:cNvPr id="54464788" name="Text 5"/>
          <p:cNvSpPr/>
          <p:nvPr/>
        </p:nvSpPr>
        <p:spPr bwMode="auto">
          <a:xfrm>
            <a:off x="1508759" y="1874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 spc="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AUTOMATIZACIÓN TRADICIONAL</a:t>
            </a:r>
            <a:endParaRPr lang="en-US" sz="1500"/>
          </a:p>
        </p:txBody>
      </p:sp>
      <p:sp>
        <p:nvSpPr>
          <p:cNvPr id="306350596" name="Text 6"/>
          <p:cNvSpPr/>
          <p:nvPr/>
        </p:nvSpPr>
        <p:spPr bwMode="auto">
          <a:xfrm>
            <a:off x="1508759" y="2240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Scripts · RPA · Workflows</a:t>
            </a:r>
            <a:endParaRPr lang="en-US" sz="1100"/>
          </a:p>
        </p:txBody>
      </p:sp>
      <p:sp>
        <p:nvSpPr>
          <p:cNvPr id="522761503" name="Text 7"/>
          <p:cNvSpPr/>
          <p:nvPr/>
        </p:nvSpPr>
        <p:spPr bwMode="auto">
          <a:xfrm>
            <a:off x="822960" y="2743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Define los pasos</a:t>
            </a:r>
            <a:endParaRPr lang="en-US" sz="1100"/>
          </a:p>
        </p:txBody>
      </p:sp>
      <p:sp>
        <p:nvSpPr>
          <p:cNvPr id="258135468" name="Text 8"/>
          <p:cNvSpPr/>
          <p:nvPr/>
        </p:nvSpPr>
        <p:spPr bwMode="auto">
          <a:xfrm>
            <a:off x="324612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TÚ</a:t>
            </a:r>
            <a:endParaRPr lang="en-US" sz="1200"/>
          </a:p>
        </p:txBody>
      </p:sp>
      <p:sp>
        <p:nvSpPr>
          <p:cNvPr id="1959622523" name="Shape 9"/>
          <p:cNvSpPr/>
          <p:nvPr/>
        </p:nvSpPr>
        <p:spPr bwMode="auto">
          <a:xfrm>
            <a:off x="822960" y="31089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161499832" name="Text 10"/>
          <p:cNvSpPr/>
          <p:nvPr/>
        </p:nvSpPr>
        <p:spPr bwMode="auto">
          <a:xfrm>
            <a:off x="822960" y="3200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Maneja ambigüedad</a:t>
            </a:r>
            <a:endParaRPr lang="en-US" sz="1100"/>
          </a:p>
        </p:txBody>
      </p:sp>
      <p:sp>
        <p:nvSpPr>
          <p:cNvPr id="1215681479" name="Text 11"/>
          <p:cNvSpPr/>
          <p:nvPr/>
        </p:nvSpPr>
        <p:spPr bwMode="auto">
          <a:xfrm>
            <a:off x="324612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</a:t>
            </a:r>
            <a:endParaRPr lang="en-US" sz="1200"/>
          </a:p>
        </p:txBody>
      </p:sp>
      <p:sp>
        <p:nvSpPr>
          <p:cNvPr id="1859665986" name="Shape 12"/>
          <p:cNvSpPr/>
          <p:nvPr/>
        </p:nvSpPr>
        <p:spPr bwMode="auto">
          <a:xfrm>
            <a:off x="822960" y="35661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483806461" name="Text 13"/>
          <p:cNvSpPr/>
          <p:nvPr/>
        </p:nvSpPr>
        <p:spPr bwMode="auto">
          <a:xfrm>
            <a:off x="82296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Decide en runtime</a:t>
            </a:r>
            <a:endParaRPr lang="en-US" sz="1100"/>
          </a:p>
        </p:txBody>
      </p:sp>
      <p:sp>
        <p:nvSpPr>
          <p:cNvPr id="1723024822" name="Text 14"/>
          <p:cNvSpPr/>
          <p:nvPr/>
        </p:nvSpPr>
        <p:spPr bwMode="auto">
          <a:xfrm>
            <a:off x="3246120" y="3657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</a:t>
            </a:r>
            <a:endParaRPr lang="en-US" sz="1200"/>
          </a:p>
        </p:txBody>
      </p:sp>
      <p:sp>
        <p:nvSpPr>
          <p:cNvPr id="742486752" name="Shape 15"/>
          <p:cNvSpPr/>
          <p:nvPr/>
        </p:nvSpPr>
        <p:spPr bwMode="auto">
          <a:xfrm>
            <a:off x="822960" y="40233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408421000" name="Text 16"/>
          <p:cNvSpPr/>
          <p:nvPr/>
        </p:nvSpPr>
        <p:spPr bwMode="auto">
          <a:xfrm>
            <a:off x="822960" y="4114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Costo por ejecución</a:t>
            </a:r>
            <a:endParaRPr lang="en-US" sz="1100"/>
          </a:p>
        </p:txBody>
      </p:sp>
      <p:sp>
        <p:nvSpPr>
          <p:cNvPr id="526923739" name="Text 17"/>
          <p:cNvSpPr/>
          <p:nvPr/>
        </p:nvSpPr>
        <p:spPr bwMode="auto">
          <a:xfrm>
            <a:off x="3246120" y="4114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Bajo</a:t>
            </a:r>
            <a:endParaRPr lang="en-US" sz="1200"/>
          </a:p>
        </p:txBody>
      </p:sp>
      <p:sp>
        <p:nvSpPr>
          <p:cNvPr id="275227867" name="Shape 18"/>
          <p:cNvSpPr/>
          <p:nvPr/>
        </p:nvSpPr>
        <p:spPr bwMode="auto">
          <a:xfrm>
            <a:off x="822960" y="44805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928797849" name="Text 19"/>
          <p:cNvSpPr/>
          <p:nvPr/>
        </p:nvSpPr>
        <p:spPr bwMode="auto">
          <a:xfrm>
            <a:off x="82296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Predictibilidad</a:t>
            </a:r>
            <a:endParaRPr lang="en-US" sz="1100"/>
          </a:p>
        </p:txBody>
      </p:sp>
      <p:sp>
        <p:nvSpPr>
          <p:cNvPr id="1888391337" name="Text 20"/>
          <p:cNvSpPr/>
          <p:nvPr/>
        </p:nvSpPr>
        <p:spPr bwMode="auto">
          <a:xfrm>
            <a:off x="3246120" y="4572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Alta</a:t>
            </a:r>
            <a:endParaRPr lang="en-US" sz="1200"/>
          </a:p>
        </p:txBody>
      </p:sp>
      <p:sp>
        <p:nvSpPr>
          <p:cNvPr id="442630791" name="Shape 21"/>
          <p:cNvSpPr/>
          <p:nvPr/>
        </p:nvSpPr>
        <p:spPr bwMode="auto">
          <a:xfrm>
            <a:off x="822960" y="49377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494069109" name="Text 22"/>
          <p:cNvSpPr/>
          <p:nvPr/>
        </p:nvSpPr>
        <p:spPr bwMode="auto">
          <a:xfrm>
            <a:off x="822960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Casos de uso</a:t>
            </a:r>
            <a:endParaRPr lang="en-US" sz="1100"/>
          </a:p>
        </p:txBody>
      </p:sp>
      <p:sp>
        <p:nvSpPr>
          <p:cNvPr id="1149699922" name="Text 23"/>
          <p:cNvSpPr/>
          <p:nvPr/>
        </p:nvSpPr>
        <p:spPr bwMode="auto">
          <a:xfrm>
            <a:off x="3246120" y="5029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Procesos repetitivos y bien definidos</a:t>
            </a:r>
            <a:endParaRPr lang="en-US" sz="1200"/>
          </a:p>
        </p:txBody>
      </p:sp>
      <p:sp>
        <p:nvSpPr>
          <p:cNvPr id="555687395" name="Shape 24"/>
          <p:cNvSpPr/>
          <p:nvPr/>
        </p:nvSpPr>
        <p:spPr bwMode="auto">
          <a:xfrm>
            <a:off x="822960" y="53949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869148485" name="Shape 25"/>
          <p:cNvSpPr/>
          <p:nvPr/>
        </p:nvSpPr>
        <p:spPr bwMode="auto">
          <a:xfrm>
            <a:off x="6172200" y="1691640"/>
            <a:ext cx="5440680" cy="457200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506555809" name="Shape 26"/>
          <p:cNvSpPr/>
          <p:nvPr/>
        </p:nvSpPr>
        <p:spPr bwMode="auto">
          <a:xfrm>
            <a:off x="6172200" y="1691640"/>
            <a:ext cx="544068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392732989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446520" y="1920240"/>
            <a:ext cx="548640" cy="548640"/>
          </a:xfrm>
          <a:prstGeom prst="rect">
            <a:avLst/>
          </a:prstGeom>
        </p:spPr>
      </p:pic>
      <p:sp>
        <p:nvSpPr>
          <p:cNvPr id="1268948395" name="Text 27"/>
          <p:cNvSpPr/>
          <p:nvPr/>
        </p:nvSpPr>
        <p:spPr bwMode="auto">
          <a:xfrm>
            <a:off x="7132320" y="1874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 spc="2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AGENTES DE IA</a:t>
            </a:r>
            <a:endParaRPr lang="en-US" sz="1500"/>
          </a:p>
        </p:txBody>
      </p:sp>
      <p:sp>
        <p:nvSpPr>
          <p:cNvPr id="688124644" name="Text 28"/>
          <p:cNvSpPr/>
          <p:nvPr/>
        </p:nvSpPr>
        <p:spPr bwMode="auto">
          <a:xfrm>
            <a:off x="7132320" y="2240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LLM · Tool Use · Loop</a:t>
            </a:r>
            <a:endParaRPr lang="en-US" sz="1100"/>
          </a:p>
        </p:txBody>
      </p:sp>
      <p:sp>
        <p:nvSpPr>
          <p:cNvPr id="1280960259" name="Text 29"/>
          <p:cNvSpPr/>
          <p:nvPr/>
        </p:nvSpPr>
        <p:spPr bwMode="auto">
          <a:xfrm>
            <a:off x="6446520" y="2743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Define los pasos</a:t>
            </a:r>
            <a:endParaRPr lang="en-US" sz="1100"/>
          </a:p>
        </p:txBody>
      </p:sp>
      <p:sp>
        <p:nvSpPr>
          <p:cNvPr id="1156211548" name="Text 30"/>
          <p:cNvSpPr/>
          <p:nvPr/>
        </p:nvSpPr>
        <p:spPr bwMode="auto">
          <a:xfrm>
            <a:off x="886968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EL AGENTE</a:t>
            </a:r>
            <a:endParaRPr lang="en-US" sz="1200"/>
          </a:p>
        </p:txBody>
      </p:sp>
      <p:sp>
        <p:nvSpPr>
          <p:cNvPr id="1812588500" name="Shape 31"/>
          <p:cNvSpPr/>
          <p:nvPr/>
        </p:nvSpPr>
        <p:spPr bwMode="auto">
          <a:xfrm>
            <a:off x="6446520" y="31089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375958177" name="Text 32"/>
          <p:cNvSpPr/>
          <p:nvPr/>
        </p:nvSpPr>
        <p:spPr bwMode="auto">
          <a:xfrm>
            <a:off x="6446520" y="3200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Maneja ambigüedad</a:t>
            </a:r>
            <a:endParaRPr lang="en-US" sz="1100"/>
          </a:p>
        </p:txBody>
      </p:sp>
      <p:sp>
        <p:nvSpPr>
          <p:cNvPr id="1492367520" name="Text 33"/>
          <p:cNvSpPr/>
          <p:nvPr/>
        </p:nvSpPr>
        <p:spPr bwMode="auto">
          <a:xfrm>
            <a:off x="8869680" y="3200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SÍ</a:t>
            </a:r>
            <a:endParaRPr lang="en-US" sz="1200"/>
          </a:p>
        </p:txBody>
      </p:sp>
      <p:sp>
        <p:nvSpPr>
          <p:cNvPr id="1503921937" name="Shape 34"/>
          <p:cNvSpPr/>
          <p:nvPr/>
        </p:nvSpPr>
        <p:spPr bwMode="auto">
          <a:xfrm>
            <a:off x="6446520" y="35661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842264390" name="Text 35"/>
          <p:cNvSpPr/>
          <p:nvPr/>
        </p:nvSpPr>
        <p:spPr bwMode="auto">
          <a:xfrm>
            <a:off x="644652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Decide en runtime</a:t>
            </a:r>
            <a:endParaRPr lang="en-US" sz="1100"/>
          </a:p>
        </p:txBody>
      </p:sp>
      <p:sp>
        <p:nvSpPr>
          <p:cNvPr id="1183648208" name="Text 36"/>
          <p:cNvSpPr/>
          <p:nvPr/>
        </p:nvSpPr>
        <p:spPr bwMode="auto">
          <a:xfrm>
            <a:off x="8869680" y="3657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SÍ</a:t>
            </a:r>
            <a:endParaRPr lang="en-US" sz="1200"/>
          </a:p>
        </p:txBody>
      </p:sp>
      <p:sp>
        <p:nvSpPr>
          <p:cNvPr id="1109291830" name="Shape 37"/>
          <p:cNvSpPr/>
          <p:nvPr/>
        </p:nvSpPr>
        <p:spPr bwMode="auto">
          <a:xfrm>
            <a:off x="6446520" y="40233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561229844" name="Text 38"/>
          <p:cNvSpPr/>
          <p:nvPr/>
        </p:nvSpPr>
        <p:spPr bwMode="auto">
          <a:xfrm>
            <a:off x="6446520" y="4114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Costo por ejecución</a:t>
            </a:r>
            <a:endParaRPr lang="en-US" sz="1100"/>
          </a:p>
        </p:txBody>
      </p:sp>
      <p:sp>
        <p:nvSpPr>
          <p:cNvPr id="1220445594" name="Text 39"/>
          <p:cNvSpPr/>
          <p:nvPr/>
        </p:nvSpPr>
        <p:spPr bwMode="auto">
          <a:xfrm>
            <a:off x="8869680" y="41148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Medio-alto</a:t>
            </a:r>
            <a:endParaRPr lang="en-US" sz="1200"/>
          </a:p>
        </p:txBody>
      </p:sp>
      <p:sp>
        <p:nvSpPr>
          <p:cNvPr id="399359369" name="Shape 40"/>
          <p:cNvSpPr/>
          <p:nvPr/>
        </p:nvSpPr>
        <p:spPr bwMode="auto">
          <a:xfrm>
            <a:off x="6446520" y="44805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533085147" name="Text 41"/>
          <p:cNvSpPr/>
          <p:nvPr/>
        </p:nvSpPr>
        <p:spPr bwMode="auto">
          <a:xfrm>
            <a:off x="644652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Predictibilidad</a:t>
            </a:r>
            <a:endParaRPr lang="en-US" sz="1100"/>
          </a:p>
        </p:txBody>
      </p:sp>
      <p:sp>
        <p:nvSpPr>
          <p:cNvPr id="2010025940" name="Text 42"/>
          <p:cNvSpPr/>
          <p:nvPr/>
        </p:nvSpPr>
        <p:spPr bwMode="auto">
          <a:xfrm>
            <a:off x="8869680" y="4572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Media</a:t>
            </a:r>
            <a:endParaRPr lang="en-US" sz="1200"/>
          </a:p>
        </p:txBody>
      </p:sp>
      <p:sp>
        <p:nvSpPr>
          <p:cNvPr id="729887504" name="Shape 43"/>
          <p:cNvSpPr/>
          <p:nvPr/>
        </p:nvSpPr>
        <p:spPr bwMode="auto">
          <a:xfrm>
            <a:off x="6446520" y="49377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2015309345" name="Text 44"/>
          <p:cNvSpPr/>
          <p:nvPr/>
        </p:nvSpPr>
        <p:spPr bwMode="auto">
          <a:xfrm>
            <a:off x="6446520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Casos de uso</a:t>
            </a:r>
            <a:endParaRPr lang="en-US" sz="1100"/>
          </a:p>
        </p:txBody>
      </p:sp>
      <p:sp>
        <p:nvSpPr>
          <p:cNvPr id="32991108" name="Text 45"/>
          <p:cNvSpPr/>
          <p:nvPr/>
        </p:nvSpPr>
        <p:spPr bwMode="auto">
          <a:xfrm>
            <a:off x="8869680" y="5029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Procesos con juicio, variabilidad o contexto</a:t>
            </a:r>
            <a:endParaRPr lang="en-US" sz="1200"/>
          </a:p>
        </p:txBody>
      </p:sp>
      <p:sp>
        <p:nvSpPr>
          <p:cNvPr id="1872923551" name="Shape 46"/>
          <p:cNvSpPr/>
          <p:nvPr/>
        </p:nvSpPr>
        <p:spPr bwMode="auto">
          <a:xfrm>
            <a:off x="6446520" y="5394960"/>
            <a:ext cx="4937760" cy="0"/>
          </a:xfrm>
          <a:prstGeom prst="line">
            <a:avLst/>
          </a:prstGeom>
          <a:noFill/>
          <a:ln w="6350">
            <a:solidFill>
              <a:srgbClr val="1E2940"/>
            </a:solidFill>
            <a:prstDash val="solid"/>
          </a:ln>
        </p:spPr>
      </p:sp>
      <p:sp>
        <p:nvSpPr>
          <p:cNvPr id="1669418527" name="Shape 47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570937839" name="Text 48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356984419" name="Text 49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9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766341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Cuándo NO usar un agente</a:t>
            </a:r>
            <a:endParaRPr lang="en-US" sz="3200"/>
          </a:p>
        </p:txBody>
      </p:sp>
      <p:sp>
        <p:nvSpPr>
          <p:cNvPr id="867209419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832549421" name="Text 3"/>
          <p:cNvSpPr/>
          <p:nvPr/>
        </p:nvSpPr>
        <p:spPr bwMode="auto">
          <a:xfrm>
            <a:off x="548640" y="1508759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La credibilidad técnica empieza por saber cuándo no necesitas la herramienta de moda.</a:t>
            </a:r>
            <a:endParaRPr lang="en-US" sz="1300"/>
          </a:p>
        </p:txBody>
      </p:sp>
      <p:sp>
        <p:nvSpPr>
          <p:cNvPr id="1311326563" name="Shape 4"/>
          <p:cNvSpPr/>
          <p:nvPr/>
        </p:nvSpPr>
        <p:spPr bwMode="auto">
          <a:xfrm>
            <a:off x="548640" y="1965960"/>
            <a:ext cx="5486400" cy="3886200"/>
          </a:xfrm>
          <a:prstGeom prst="rect">
            <a:avLst/>
          </a:prstGeom>
          <a:solidFill>
            <a:srgbClr val="131829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98041317" name="Shape 5"/>
          <p:cNvSpPr/>
          <p:nvPr/>
        </p:nvSpPr>
        <p:spPr bwMode="auto">
          <a:xfrm>
            <a:off x="548640" y="1965960"/>
            <a:ext cx="548640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12905187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7240" y="2075688"/>
            <a:ext cx="246888" cy="246888"/>
          </a:xfrm>
          <a:prstGeom prst="rect">
            <a:avLst/>
          </a:prstGeom>
        </p:spPr>
      </p:pic>
      <p:sp>
        <p:nvSpPr>
          <p:cNvPr id="1896492969" name="Text 6"/>
          <p:cNvSpPr/>
          <p:nvPr/>
        </p:nvSpPr>
        <p:spPr bwMode="auto">
          <a:xfrm>
            <a:off x="114300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 spc="3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 USES UN AGENTE</a:t>
            </a:r>
            <a:endParaRPr lang="en-US" sz="1600"/>
          </a:p>
        </p:txBody>
      </p:sp>
      <p:sp>
        <p:nvSpPr>
          <p:cNvPr id="742885440" name="Shape 7"/>
          <p:cNvSpPr/>
          <p:nvPr/>
        </p:nvSpPr>
        <p:spPr bwMode="auto">
          <a:xfrm>
            <a:off x="868680" y="2752343"/>
            <a:ext cx="73152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84622604" name="Text 8"/>
          <p:cNvSpPr/>
          <p:nvPr/>
        </p:nvSpPr>
        <p:spPr bwMode="auto">
          <a:xfrm>
            <a:off x="109728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La tarea es 100% determinista</a:t>
            </a:r>
            <a:endParaRPr lang="en-US" sz="1300"/>
          </a:p>
        </p:txBody>
      </p:sp>
      <p:sp>
        <p:nvSpPr>
          <p:cNvPr id="889994276" name="Shape 9"/>
          <p:cNvSpPr/>
          <p:nvPr/>
        </p:nvSpPr>
        <p:spPr bwMode="auto">
          <a:xfrm>
            <a:off x="868680" y="3255264"/>
            <a:ext cx="73152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4233920" name="Text 10"/>
          <p:cNvSpPr/>
          <p:nvPr/>
        </p:nvSpPr>
        <p:spPr bwMode="auto">
          <a:xfrm>
            <a:off x="109728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Los pasos siempre son los mismos</a:t>
            </a:r>
            <a:endParaRPr lang="en-US" sz="1300"/>
          </a:p>
        </p:txBody>
      </p:sp>
      <p:sp>
        <p:nvSpPr>
          <p:cNvPr id="797725208" name="Shape 11"/>
          <p:cNvSpPr/>
          <p:nvPr/>
        </p:nvSpPr>
        <p:spPr bwMode="auto">
          <a:xfrm>
            <a:off x="868680" y="3758184"/>
            <a:ext cx="73152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25760063" name="Text 12"/>
          <p:cNvSpPr/>
          <p:nvPr/>
        </p:nvSpPr>
        <p:spPr bwMode="auto">
          <a:xfrm>
            <a:off x="109728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input está bien estructurado</a:t>
            </a:r>
            <a:endParaRPr lang="en-US" sz="1300"/>
          </a:p>
        </p:txBody>
      </p:sp>
      <p:sp>
        <p:nvSpPr>
          <p:cNvPr id="1959414826" name="Shape 13"/>
          <p:cNvSpPr/>
          <p:nvPr/>
        </p:nvSpPr>
        <p:spPr bwMode="auto">
          <a:xfrm>
            <a:off x="868680" y="4261104"/>
            <a:ext cx="73152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3251466" name="Text 14"/>
          <p:cNvSpPr/>
          <p:nvPr/>
        </p:nvSpPr>
        <p:spPr bwMode="auto">
          <a:xfrm>
            <a:off x="109728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Necesitas latencia ultra-baja</a:t>
            </a:r>
            <a:endParaRPr lang="en-US" sz="1300"/>
          </a:p>
        </p:txBody>
      </p:sp>
      <p:sp>
        <p:nvSpPr>
          <p:cNvPr id="463962104" name="Shape 15"/>
          <p:cNvSpPr/>
          <p:nvPr/>
        </p:nvSpPr>
        <p:spPr bwMode="auto">
          <a:xfrm>
            <a:off x="868680" y="4764024"/>
            <a:ext cx="73152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9913716" name="Text 16"/>
          <p:cNvSpPr/>
          <p:nvPr/>
        </p:nvSpPr>
        <p:spPr bwMode="auto">
          <a:xfrm>
            <a:off x="1097280" y="4617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costo por ejecución importa mucho</a:t>
            </a:r>
            <a:endParaRPr lang="en-US" sz="1300"/>
          </a:p>
        </p:txBody>
      </p:sp>
      <p:sp>
        <p:nvSpPr>
          <p:cNvPr id="1778460771" name="Shape 17"/>
          <p:cNvSpPr/>
          <p:nvPr/>
        </p:nvSpPr>
        <p:spPr bwMode="auto">
          <a:xfrm>
            <a:off x="868680" y="5266944"/>
            <a:ext cx="73152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8792995" name="Text 18"/>
          <p:cNvSpPr/>
          <p:nvPr/>
        </p:nvSpPr>
        <p:spPr bwMode="auto">
          <a:xfrm>
            <a:off x="109728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No toleras ningún margen de error</a:t>
            </a:r>
            <a:endParaRPr lang="en-US" sz="1300"/>
          </a:p>
        </p:txBody>
      </p:sp>
      <p:sp>
        <p:nvSpPr>
          <p:cNvPr id="204989443" name="Shape 19"/>
          <p:cNvSpPr/>
          <p:nvPr/>
        </p:nvSpPr>
        <p:spPr bwMode="auto">
          <a:xfrm>
            <a:off x="6172200" y="1965960"/>
            <a:ext cx="5486400" cy="3886200"/>
          </a:xfrm>
          <a:prstGeom prst="rect">
            <a:avLst/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38423061" name="Shape 20"/>
          <p:cNvSpPr/>
          <p:nvPr/>
        </p:nvSpPr>
        <p:spPr bwMode="auto">
          <a:xfrm>
            <a:off x="6172200" y="1965960"/>
            <a:ext cx="5486400" cy="45720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259499611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400800" y="2075688"/>
            <a:ext cx="246888" cy="246888"/>
          </a:xfrm>
          <a:prstGeom prst="rect">
            <a:avLst/>
          </a:prstGeom>
        </p:spPr>
      </p:pic>
      <p:sp>
        <p:nvSpPr>
          <p:cNvPr id="2055672911" name="Text 21"/>
          <p:cNvSpPr/>
          <p:nvPr/>
        </p:nvSpPr>
        <p:spPr bwMode="auto">
          <a:xfrm>
            <a:off x="676656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 spc="300">
                <a:solidFill>
                  <a:srgbClr val="0A0E1A"/>
                </a:solidFill>
                <a:latin typeface="Consolas"/>
                <a:ea typeface="Consolas"/>
                <a:cs typeface="Consolas"/>
              </a:rPr>
              <a:t>SÍ USA UN AGENTE</a:t>
            </a:r>
            <a:endParaRPr lang="en-US" sz="1600"/>
          </a:p>
        </p:txBody>
      </p:sp>
      <p:sp>
        <p:nvSpPr>
          <p:cNvPr id="1017068361" name="Shape 22"/>
          <p:cNvSpPr/>
          <p:nvPr/>
        </p:nvSpPr>
        <p:spPr bwMode="auto">
          <a:xfrm>
            <a:off x="6492240" y="2752343"/>
            <a:ext cx="73152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867021" name="Text 23"/>
          <p:cNvSpPr/>
          <p:nvPr/>
        </p:nvSpPr>
        <p:spPr bwMode="auto">
          <a:xfrm>
            <a:off x="672084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input es texto libre o ambiguo</a:t>
            </a:r>
            <a:endParaRPr lang="en-US" sz="1300"/>
          </a:p>
        </p:txBody>
      </p:sp>
      <p:sp>
        <p:nvSpPr>
          <p:cNvPr id="717808908" name="Shape 24"/>
          <p:cNvSpPr/>
          <p:nvPr/>
        </p:nvSpPr>
        <p:spPr bwMode="auto">
          <a:xfrm>
            <a:off x="6492240" y="3255264"/>
            <a:ext cx="73152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4594679" name="Text 25"/>
          <p:cNvSpPr/>
          <p:nvPr/>
        </p:nvSpPr>
        <p:spPr bwMode="auto">
          <a:xfrm>
            <a:off x="672084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Los pasos cambian según el contexto</a:t>
            </a:r>
            <a:endParaRPr lang="en-US" sz="1300"/>
          </a:p>
        </p:txBody>
      </p:sp>
      <p:sp>
        <p:nvSpPr>
          <p:cNvPr id="1042637144" name="Shape 26"/>
          <p:cNvSpPr/>
          <p:nvPr/>
        </p:nvSpPr>
        <p:spPr bwMode="auto">
          <a:xfrm>
            <a:off x="6492240" y="3758184"/>
            <a:ext cx="73152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59904440" name="Text 27"/>
          <p:cNvSpPr/>
          <p:nvPr/>
        </p:nvSpPr>
        <p:spPr bwMode="auto">
          <a:xfrm>
            <a:off x="672084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Hay que combinar múltiples herramientas</a:t>
            </a:r>
            <a:endParaRPr lang="en-US" sz="1300"/>
          </a:p>
        </p:txBody>
      </p:sp>
      <p:sp>
        <p:nvSpPr>
          <p:cNvPr id="157244873" name="Shape 28"/>
          <p:cNvSpPr/>
          <p:nvPr/>
        </p:nvSpPr>
        <p:spPr bwMode="auto">
          <a:xfrm>
            <a:off x="6492240" y="4261104"/>
            <a:ext cx="73152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6100740" name="Text 29"/>
          <p:cNvSpPr/>
          <p:nvPr/>
        </p:nvSpPr>
        <p:spPr bwMode="auto">
          <a:xfrm>
            <a:off x="672084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Hay que interpretar o resumir</a:t>
            </a:r>
            <a:endParaRPr lang="en-US" sz="1300"/>
          </a:p>
        </p:txBody>
      </p:sp>
      <p:sp>
        <p:nvSpPr>
          <p:cNvPr id="1085931764" name="Shape 30"/>
          <p:cNvSpPr/>
          <p:nvPr/>
        </p:nvSpPr>
        <p:spPr bwMode="auto">
          <a:xfrm>
            <a:off x="6492240" y="4764024"/>
            <a:ext cx="73152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0148892" name="Text 31"/>
          <p:cNvSpPr/>
          <p:nvPr/>
        </p:nvSpPr>
        <p:spPr bwMode="auto">
          <a:xfrm>
            <a:off x="6720840" y="4617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Hay que tomar decisiones con criterio</a:t>
            </a:r>
            <a:endParaRPr lang="en-US" sz="1300"/>
          </a:p>
        </p:txBody>
      </p:sp>
      <p:sp>
        <p:nvSpPr>
          <p:cNvPr id="640226225" name="Shape 32"/>
          <p:cNvSpPr/>
          <p:nvPr/>
        </p:nvSpPr>
        <p:spPr bwMode="auto">
          <a:xfrm>
            <a:off x="6492240" y="5266944"/>
            <a:ext cx="73152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6932526" name="Text 33"/>
          <p:cNvSpPr/>
          <p:nvPr/>
        </p:nvSpPr>
        <p:spPr bwMode="auto">
          <a:xfrm>
            <a:off x="6720840" y="5120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proceso requiere razonamiento</a:t>
            </a:r>
            <a:endParaRPr lang="en-US" sz="1300"/>
          </a:p>
        </p:txBody>
      </p:sp>
      <p:sp>
        <p:nvSpPr>
          <p:cNvPr id="547933902" name="Shape 34"/>
          <p:cNvSpPr/>
          <p:nvPr/>
        </p:nvSpPr>
        <p:spPr bwMode="auto">
          <a:xfrm>
            <a:off x="548640" y="5989320"/>
            <a:ext cx="1106424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37930149" name="Text 35"/>
          <p:cNvSpPr/>
          <p:nvPr/>
        </p:nvSpPr>
        <p:spPr bwMode="auto">
          <a:xfrm>
            <a:off x="73152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BBF24"/>
                </a:solidFill>
                <a:latin typeface="Calibri"/>
                <a:ea typeface="Calibri"/>
                <a:cs typeface="Calibri"/>
              </a:rPr>
              <a:t>REGLA DE ORO:  </a:t>
            </a: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si puedes resolverlo con un </a:t>
            </a:r>
            <a:r>
              <a:rPr lang="en-US" sz="12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if/else</a:t>
            </a: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, usa un </a:t>
            </a:r>
            <a:r>
              <a:rPr lang="en-US" sz="12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if/else.</a:t>
            </a:r>
            <a:endParaRPr lang="en-US" sz="1200"/>
          </a:p>
        </p:txBody>
      </p:sp>
      <p:sp>
        <p:nvSpPr>
          <p:cNvPr id="1694120661" name="Shape 36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775320667" name="Text 37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904038544" name="Text 38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10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271712" name="Text 0"/>
          <p:cNvSpPr/>
          <p:nvPr/>
        </p:nvSpPr>
        <p:spPr bwMode="auto">
          <a:xfrm>
            <a:off x="548640" y="13716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0" b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02</a:t>
            </a:r>
            <a:endParaRPr lang="en-US" sz="24000"/>
          </a:p>
        </p:txBody>
      </p:sp>
      <p:sp>
        <p:nvSpPr>
          <p:cNvPr id="63919661" name="Shape 1"/>
          <p:cNvSpPr/>
          <p:nvPr/>
        </p:nvSpPr>
        <p:spPr bwMode="auto">
          <a:xfrm>
            <a:off x="548640" y="3657600"/>
            <a:ext cx="548640" cy="54864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3388347" name="Text 2"/>
          <p:cNvSpPr/>
          <p:nvPr/>
        </p:nvSpPr>
        <p:spPr bwMode="auto">
          <a:xfrm>
            <a:off x="5486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500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BLOQUE 02</a:t>
            </a:r>
            <a:endParaRPr lang="en-US" sz="1300"/>
          </a:p>
        </p:txBody>
      </p:sp>
      <p:sp>
        <p:nvSpPr>
          <p:cNvPr id="141330848" name="Text 3"/>
          <p:cNvSpPr/>
          <p:nvPr/>
        </p:nvSpPr>
        <p:spPr bwMode="auto">
          <a:xfrm>
            <a:off x="548640" y="4160519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Arquitecturas de agentes</a:t>
            </a:r>
            <a:endParaRPr lang="en-US" sz="4200"/>
          </a:p>
        </p:txBody>
      </p:sp>
      <p:sp>
        <p:nvSpPr>
          <p:cNvPr id="1566267983" name="Text 5"/>
          <p:cNvSpPr/>
          <p:nvPr/>
        </p:nvSpPr>
        <p:spPr bwMode="auto"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4 niveles de complejidad · MCP como capa unificadora</a:t>
            </a:r>
            <a:endParaRPr lang="en-US" sz="1300"/>
          </a:p>
        </p:txBody>
      </p:sp>
      <p:sp>
        <p:nvSpPr>
          <p:cNvPr id="1129733707" name="Shape 6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2033675633" name="Text 7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725490623" name="Text 8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11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543556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Nivel 1 · Agente simple con Tool Use</a:t>
            </a:r>
            <a:endParaRPr lang="en-US" sz="3200"/>
          </a:p>
        </p:txBody>
      </p:sp>
      <p:sp>
        <p:nvSpPr>
          <p:cNvPr id="221623075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504858305" name="Shape 3"/>
          <p:cNvSpPr/>
          <p:nvPr/>
        </p:nvSpPr>
        <p:spPr bwMode="auto">
          <a:xfrm>
            <a:off x="731520" y="2926080"/>
            <a:ext cx="1828800" cy="1097280"/>
          </a:xfrm>
          <a:prstGeom prst="rect">
            <a:avLst/>
          </a:prstGeom>
          <a:solidFill>
            <a:srgbClr val="131829"/>
          </a:solidFill>
          <a:ln w="25400">
            <a:solidFill>
              <a:srgbClr val="00D9FF"/>
            </a:solidFill>
            <a:prstDash val="solid"/>
          </a:ln>
        </p:spPr>
      </p:sp>
      <p:pic>
        <p:nvPicPr>
          <p:cNvPr id="1911356922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417320" y="3108960"/>
            <a:ext cx="457200" cy="457200"/>
          </a:xfrm>
          <a:prstGeom prst="rect">
            <a:avLst/>
          </a:prstGeom>
        </p:spPr>
      </p:pic>
      <p:sp>
        <p:nvSpPr>
          <p:cNvPr id="213844146" name="Text 4"/>
          <p:cNvSpPr/>
          <p:nvPr/>
        </p:nvSpPr>
        <p:spPr bwMode="auto">
          <a:xfrm>
            <a:off x="73152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USUARIO</a:t>
            </a:r>
            <a:endParaRPr lang="en-US" sz="1100"/>
          </a:p>
        </p:txBody>
      </p:sp>
      <p:sp>
        <p:nvSpPr>
          <p:cNvPr id="2080530429" name="Shape 5"/>
          <p:cNvSpPr/>
          <p:nvPr/>
        </p:nvSpPr>
        <p:spPr bwMode="auto">
          <a:xfrm>
            <a:off x="2606040" y="3474720"/>
            <a:ext cx="914400" cy="0"/>
          </a:xfrm>
          <a:prstGeom prst="line">
            <a:avLst/>
          </a:prstGeom>
          <a:noFill/>
          <a:ln w="25400">
            <a:solidFill>
              <a:srgbClr val="00D9FF"/>
            </a:solidFill>
            <a:prstDash val="solid"/>
          </a:ln>
        </p:spPr>
      </p:sp>
      <p:sp>
        <p:nvSpPr>
          <p:cNvPr id="142194494" name="Text 6"/>
          <p:cNvSpPr/>
          <p:nvPr/>
        </p:nvSpPr>
        <p:spPr bwMode="auto">
          <a:xfrm>
            <a:off x="3246120" y="3246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400" b="1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2400"/>
          </a:p>
        </p:txBody>
      </p:sp>
      <p:sp>
        <p:nvSpPr>
          <p:cNvPr id="627041344" name="Text 7"/>
          <p:cNvSpPr/>
          <p:nvPr/>
        </p:nvSpPr>
        <p:spPr bwMode="auto">
          <a:xfrm>
            <a:off x="2606040" y="3520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input</a:t>
            </a:r>
            <a:endParaRPr lang="en-US" sz="900"/>
          </a:p>
        </p:txBody>
      </p:sp>
      <p:sp>
        <p:nvSpPr>
          <p:cNvPr id="1788061387" name="Shape 8"/>
          <p:cNvSpPr/>
          <p:nvPr/>
        </p:nvSpPr>
        <p:spPr bwMode="auto">
          <a:xfrm>
            <a:off x="3703320" y="2606040"/>
            <a:ext cx="2286000" cy="1737360"/>
          </a:xfrm>
          <a:prstGeom prst="rect">
            <a:avLst/>
          </a:prstGeom>
          <a:solidFill>
            <a:srgbClr val="131829"/>
          </a:solidFill>
          <a:ln w="25400">
            <a:solidFill>
              <a:srgbClr val="00FF94"/>
            </a:solidFill>
            <a:prstDash val="solid"/>
          </a:ln>
        </p:spPr>
      </p:sp>
      <p:sp>
        <p:nvSpPr>
          <p:cNvPr id="398815837" name="Shape 9"/>
          <p:cNvSpPr/>
          <p:nvPr/>
        </p:nvSpPr>
        <p:spPr bwMode="auto">
          <a:xfrm>
            <a:off x="3703320" y="2606040"/>
            <a:ext cx="2286000" cy="54864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17680646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617720" y="2788920"/>
            <a:ext cx="457200" cy="457200"/>
          </a:xfrm>
          <a:prstGeom prst="rect">
            <a:avLst/>
          </a:prstGeom>
        </p:spPr>
      </p:pic>
      <p:sp>
        <p:nvSpPr>
          <p:cNvPr id="1207376285" name="Text 10"/>
          <p:cNvSpPr/>
          <p:nvPr/>
        </p:nvSpPr>
        <p:spPr bwMode="auto">
          <a:xfrm>
            <a:off x="370332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LLM</a:t>
            </a:r>
            <a:endParaRPr lang="en-US" sz="1800"/>
          </a:p>
        </p:txBody>
      </p:sp>
      <p:sp>
        <p:nvSpPr>
          <p:cNvPr id="922184142" name="Text 11"/>
          <p:cNvSpPr/>
          <p:nvPr/>
        </p:nvSpPr>
        <p:spPr bwMode="auto">
          <a:xfrm>
            <a:off x="3703320" y="3657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system_prompt +</a:t>
            </a:r>
            <a:endParaRPr lang="en-US" sz="900"/>
          </a:p>
        </p:txBody>
      </p:sp>
      <p:sp>
        <p:nvSpPr>
          <p:cNvPr id="1612968187" name="Text 12"/>
          <p:cNvSpPr/>
          <p:nvPr/>
        </p:nvSpPr>
        <p:spPr bwMode="auto">
          <a:xfrm>
            <a:off x="3703320" y="3886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tools = [...]</a:t>
            </a:r>
            <a:endParaRPr lang="en-US" sz="1100"/>
          </a:p>
        </p:txBody>
      </p:sp>
      <p:sp>
        <p:nvSpPr>
          <p:cNvPr id="658240219" name="Text 13"/>
          <p:cNvSpPr/>
          <p:nvPr/>
        </p:nvSpPr>
        <p:spPr bwMode="auto">
          <a:xfrm>
            <a:off x="608076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rgbClr val="00FF94"/>
                </a:solidFill>
                <a:latin typeface="Calibri"/>
                <a:ea typeface="Calibri"/>
                <a:cs typeface="Calibri"/>
              </a:rPr>
              <a:t>⇄</a:t>
            </a:r>
            <a:endParaRPr lang="en-US" sz="2800"/>
          </a:p>
        </p:txBody>
      </p:sp>
      <p:sp>
        <p:nvSpPr>
          <p:cNvPr id="479471558" name="Text 14"/>
          <p:cNvSpPr/>
          <p:nvPr/>
        </p:nvSpPr>
        <p:spPr bwMode="auto">
          <a:xfrm>
            <a:off x="5943600" y="292608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tool_call</a:t>
            </a:r>
            <a:endParaRPr lang="en-US" sz="900"/>
          </a:p>
        </p:txBody>
      </p:sp>
      <p:sp>
        <p:nvSpPr>
          <p:cNvPr id="329070241" name="Text 15"/>
          <p:cNvSpPr/>
          <p:nvPr/>
        </p:nvSpPr>
        <p:spPr bwMode="auto">
          <a:xfrm>
            <a:off x="5943600" y="37033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result</a:t>
            </a:r>
            <a:endParaRPr lang="en-US" sz="900"/>
          </a:p>
        </p:txBody>
      </p:sp>
      <p:sp>
        <p:nvSpPr>
          <p:cNvPr id="1591858688" name="Shape 16"/>
          <p:cNvSpPr/>
          <p:nvPr/>
        </p:nvSpPr>
        <p:spPr bwMode="auto">
          <a:xfrm>
            <a:off x="6766560" y="2286000"/>
            <a:ext cx="219456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1223694708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949440" y="2423160"/>
            <a:ext cx="365760" cy="365760"/>
          </a:xfrm>
          <a:prstGeom prst="rect">
            <a:avLst/>
          </a:prstGeom>
        </p:spPr>
      </p:pic>
      <p:sp>
        <p:nvSpPr>
          <p:cNvPr id="1978837926" name="Text 17"/>
          <p:cNvSpPr/>
          <p:nvPr/>
        </p:nvSpPr>
        <p:spPr bwMode="auto">
          <a:xfrm>
            <a:off x="7406640" y="22860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weather_api</a:t>
            </a:r>
            <a:endParaRPr lang="en-US" sz="1200"/>
          </a:p>
        </p:txBody>
      </p:sp>
      <p:sp>
        <p:nvSpPr>
          <p:cNvPr id="612239491" name="Shape 18"/>
          <p:cNvSpPr/>
          <p:nvPr/>
        </p:nvSpPr>
        <p:spPr bwMode="auto">
          <a:xfrm>
            <a:off x="6766560" y="3063240"/>
            <a:ext cx="219456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2087886687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949440" y="3200400"/>
            <a:ext cx="365760" cy="365760"/>
          </a:xfrm>
          <a:prstGeom prst="rect">
            <a:avLst/>
          </a:prstGeom>
        </p:spPr>
      </p:pic>
      <p:sp>
        <p:nvSpPr>
          <p:cNvPr id="2010066947" name="Text 19"/>
          <p:cNvSpPr/>
          <p:nvPr/>
        </p:nvSpPr>
        <p:spPr bwMode="auto">
          <a:xfrm>
            <a:off x="7406640" y="30632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calendar</a:t>
            </a:r>
            <a:endParaRPr lang="en-US" sz="1200"/>
          </a:p>
        </p:txBody>
      </p:sp>
      <p:sp>
        <p:nvSpPr>
          <p:cNvPr id="1647411939" name="Shape 20"/>
          <p:cNvSpPr/>
          <p:nvPr/>
        </p:nvSpPr>
        <p:spPr bwMode="auto">
          <a:xfrm>
            <a:off x="6766560" y="3840480"/>
            <a:ext cx="219456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965474702" name="Image 4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949440" y="3977640"/>
            <a:ext cx="365760" cy="365760"/>
          </a:xfrm>
          <a:prstGeom prst="rect">
            <a:avLst/>
          </a:prstGeom>
        </p:spPr>
      </p:pic>
      <p:sp>
        <p:nvSpPr>
          <p:cNvPr id="1001164535" name="Text 21"/>
          <p:cNvSpPr/>
          <p:nvPr/>
        </p:nvSpPr>
        <p:spPr bwMode="auto">
          <a:xfrm>
            <a:off x="7406640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send_email</a:t>
            </a:r>
            <a:endParaRPr lang="en-US" sz="1200"/>
          </a:p>
        </p:txBody>
      </p:sp>
      <p:sp>
        <p:nvSpPr>
          <p:cNvPr id="1147588519" name="Text 22"/>
          <p:cNvSpPr/>
          <p:nvPr/>
        </p:nvSpPr>
        <p:spPr bwMode="auto">
          <a:xfrm>
            <a:off x="6766560" y="1920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 spc="4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TOOLS</a:t>
            </a:r>
            <a:endParaRPr lang="en-US" sz="1100"/>
          </a:p>
        </p:txBody>
      </p:sp>
      <p:sp>
        <p:nvSpPr>
          <p:cNvPr id="5723306" name="Shape 23"/>
          <p:cNvSpPr/>
          <p:nvPr/>
        </p:nvSpPr>
        <p:spPr bwMode="auto">
          <a:xfrm>
            <a:off x="5989320" y="3474720"/>
            <a:ext cx="777240" cy="0"/>
          </a:xfrm>
          <a:prstGeom prst="line">
            <a:avLst/>
          </a:prstGeom>
          <a:noFill/>
          <a:ln w="9525">
            <a:solidFill>
              <a:srgbClr val="00D9FF">
                <a:alpha val="50000"/>
              </a:srgbClr>
            </a:solidFill>
            <a:prstDash val="dash"/>
          </a:ln>
        </p:spPr>
      </p:sp>
      <p:sp>
        <p:nvSpPr>
          <p:cNvPr id="1149417560" name="Shape 24"/>
          <p:cNvSpPr/>
          <p:nvPr/>
        </p:nvSpPr>
        <p:spPr bwMode="auto">
          <a:xfrm>
            <a:off x="5989320" y="3474720"/>
            <a:ext cx="777240" cy="0"/>
          </a:xfrm>
          <a:prstGeom prst="line">
            <a:avLst/>
          </a:prstGeom>
          <a:noFill/>
          <a:ln w="9525">
            <a:solidFill>
              <a:srgbClr val="00D9FF">
                <a:alpha val="50000"/>
              </a:srgbClr>
            </a:solidFill>
            <a:prstDash val="dash"/>
          </a:ln>
        </p:spPr>
      </p:sp>
      <p:sp>
        <p:nvSpPr>
          <p:cNvPr id="1771992226" name="Shape 25"/>
          <p:cNvSpPr/>
          <p:nvPr/>
        </p:nvSpPr>
        <p:spPr bwMode="auto">
          <a:xfrm>
            <a:off x="5989320" y="3474720"/>
            <a:ext cx="777240" cy="685800"/>
          </a:xfrm>
          <a:prstGeom prst="line">
            <a:avLst/>
          </a:prstGeom>
          <a:noFill/>
          <a:ln w="9525">
            <a:solidFill>
              <a:srgbClr val="00D9FF">
                <a:alpha val="50000"/>
              </a:srgbClr>
            </a:solidFill>
            <a:prstDash val="dash"/>
          </a:ln>
        </p:spPr>
      </p:sp>
      <p:sp>
        <p:nvSpPr>
          <p:cNvPr id="598135039" name="Shape 26"/>
          <p:cNvSpPr/>
          <p:nvPr/>
        </p:nvSpPr>
        <p:spPr bwMode="auto">
          <a:xfrm>
            <a:off x="548640" y="4846320"/>
            <a:ext cx="11064240" cy="141732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6253174" name="Text 27"/>
          <p:cNvSpPr/>
          <p:nvPr/>
        </p:nvSpPr>
        <p:spPr bwMode="auto">
          <a:xfrm>
            <a:off x="7772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4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CASO TÍPICO</a:t>
            </a:r>
            <a:endParaRPr lang="en-US" sz="1100"/>
          </a:p>
        </p:txBody>
      </p:sp>
      <p:sp>
        <p:nvSpPr>
          <p:cNvPr id="1050604530" name="Text 28"/>
          <p:cNvSpPr/>
          <p:nvPr/>
        </p:nvSpPr>
        <p:spPr bwMode="auto">
          <a:xfrm>
            <a:off x="77724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"Mira el clima de mañana y agéndame una reunión con Pedro a las 9 am si no llueve"</a:t>
            </a:r>
            <a:endParaRPr lang="en-US" sz="1400"/>
          </a:p>
        </p:txBody>
      </p:sp>
      <p:sp>
        <p:nvSpPr>
          <p:cNvPr id="112445277" name="Text 29"/>
          <p:cNvSpPr/>
          <p:nvPr/>
        </p:nvSpPr>
        <p:spPr bwMode="auto">
          <a:xfrm>
            <a:off x="77724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→  El LLM decide en qué orden invocar weather_api, calendar y send_email · 1-3 herramientas · Sin memoria persistente</a:t>
            </a:r>
            <a:endParaRPr lang="en-US" sz="1100"/>
          </a:p>
        </p:txBody>
      </p:sp>
      <p:sp>
        <p:nvSpPr>
          <p:cNvPr id="1282451296" name="Shape 30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874467373" name="Text 31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39475269" name="Text 32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12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530070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Nivel 2 · Agente con memoria + RAG</a:t>
            </a:r>
            <a:endParaRPr lang="en-US" sz="3200"/>
          </a:p>
        </p:txBody>
      </p:sp>
      <p:sp>
        <p:nvSpPr>
          <p:cNvPr id="2098549238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034000499" name="Shape 3"/>
          <p:cNvSpPr/>
          <p:nvPr/>
        </p:nvSpPr>
        <p:spPr bwMode="auto">
          <a:xfrm>
            <a:off x="548640" y="3108960"/>
            <a:ext cx="1554480" cy="91440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pic>
        <p:nvPicPr>
          <p:cNvPr id="1746006871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88720" y="3246120"/>
            <a:ext cx="365760" cy="365760"/>
          </a:xfrm>
          <a:prstGeom prst="rect">
            <a:avLst/>
          </a:prstGeom>
        </p:spPr>
      </p:pic>
      <p:sp>
        <p:nvSpPr>
          <p:cNvPr id="1250114521" name="Text 4"/>
          <p:cNvSpPr/>
          <p:nvPr/>
        </p:nvSpPr>
        <p:spPr bwMode="auto">
          <a:xfrm>
            <a:off x="54864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USUARIO</a:t>
            </a:r>
            <a:endParaRPr lang="en-US" sz="1000"/>
          </a:p>
        </p:txBody>
      </p:sp>
      <p:sp>
        <p:nvSpPr>
          <p:cNvPr id="1593844037" name="Shape 5"/>
          <p:cNvSpPr/>
          <p:nvPr/>
        </p:nvSpPr>
        <p:spPr bwMode="auto">
          <a:xfrm>
            <a:off x="2926080" y="2743200"/>
            <a:ext cx="2286000" cy="1645920"/>
          </a:xfrm>
          <a:prstGeom prst="rect">
            <a:avLst/>
          </a:prstGeom>
          <a:solidFill>
            <a:srgbClr val="131829"/>
          </a:solidFill>
          <a:ln w="25400">
            <a:solidFill>
              <a:srgbClr val="00FF94"/>
            </a:solidFill>
            <a:prstDash val="solid"/>
          </a:ln>
        </p:spPr>
      </p:sp>
      <p:sp>
        <p:nvSpPr>
          <p:cNvPr id="456852072" name="Shape 6"/>
          <p:cNvSpPr/>
          <p:nvPr/>
        </p:nvSpPr>
        <p:spPr bwMode="auto">
          <a:xfrm>
            <a:off x="2926080" y="2743200"/>
            <a:ext cx="2286000" cy="54864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76341211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40480" y="2926080"/>
            <a:ext cx="457200" cy="457200"/>
          </a:xfrm>
          <a:prstGeom prst="rect">
            <a:avLst/>
          </a:prstGeom>
        </p:spPr>
      </p:pic>
      <p:sp>
        <p:nvSpPr>
          <p:cNvPr id="1312616639" name="Text 7"/>
          <p:cNvSpPr/>
          <p:nvPr/>
        </p:nvSpPr>
        <p:spPr bwMode="auto">
          <a:xfrm>
            <a:off x="292608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LLM AGENT</a:t>
            </a:r>
            <a:endParaRPr lang="en-US" sz="1400"/>
          </a:p>
        </p:txBody>
      </p:sp>
      <p:sp>
        <p:nvSpPr>
          <p:cNvPr id="798259996" name="Text 8"/>
          <p:cNvSpPr/>
          <p:nvPr/>
        </p:nvSpPr>
        <p:spPr bwMode="auto">
          <a:xfrm>
            <a:off x="2926080" y="3749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with retrieval</a:t>
            </a:r>
            <a:endParaRPr lang="en-US" sz="1000"/>
          </a:p>
        </p:txBody>
      </p:sp>
      <p:sp>
        <p:nvSpPr>
          <p:cNvPr id="714058887" name="Text 9"/>
          <p:cNvSpPr/>
          <p:nvPr/>
        </p:nvSpPr>
        <p:spPr bwMode="auto">
          <a:xfrm>
            <a:off x="2926080" y="4023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+ context</a:t>
            </a:r>
            <a:endParaRPr lang="en-US" sz="1000"/>
          </a:p>
        </p:txBody>
      </p:sp>
      <p:sp>
        <p:nvSpPr>
          <p:cNvPr id="1607674445" name="Shape 10"/>
          <p:cNvSpPr/>
          <p:nvPr/>
        </p:nvSpPr>
        <p:spPr bwMode="auto">
          <a:xfrm>
            <a:off x="6126480" y="1737360"/>
            <a:ext cx="2560320" cy="1463040"/>
          </a:xfrm>
          <a:prstGeom prst="rect">
            <a:avLst/>
          </a:prstGeom>
          <a:solidFill>
            <a:srgbClr val="131829"/>
          </a:solidFill>
          <a:ln w="25400">
            <a:solidFill>
              <a:srgbClr val="B026FF"/>
            </a:solidFill>
            <a:prstDash val="solid"/>
          </a:ln>
        </p:spPr>
      </p:sp>
      <p:sp>
        <p:nvSpPr>
          <p:cNvPr id="905892537" name="Shape 11"/>
          <p:cNvSpPr/>
          <p:nvPr/>
        </p:nvSpPr>
        <p:spPr bwMode="auto">
          <a:xfrm>
            <a:off x="6126480" y="1737360"/>
            <a:ext cx="2560320" cy="54864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88092576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178039" y="1920240"/>
            <a:ext cx="457200" cy="457200"/>
          </a:xfrm>
          <a:prstGeom prst="rect">
            <a:avLst/>
          </a:prstGeom>
        </p:spPr>
      </p:pic>
      <p:sp>
        <p:nvSpPr>
          <p:cNvPr id="176814455" name="Text 12"/>
          <p:cNvSpPr/>
          <p:nvPr/>
        </p:nvSpPr>
        <p:spPr bwMode="auto">
          <a:xfrm>
            <a:off x="6126480" y="2423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VECTOR DB</a:t>
            </a:r>
            <a:endParaRPr lang="en-US" sz="1200"/>
          </a:p>
        </p:txBody>
      </p:sp>
      <p:sp>
        <p:nvSpPr>
          <p:cNvPr id="337736112" name="Text 13"/>
          <p:cNvSpPr/>
          <p:nvPr/>
        </p:nvSpPr>
        <p:spPr bwMode="auto">
          <a:xfrm>
            <a:off x="6126480" y="2697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Memoria de largo plazo</a:t>
            </a:r>
            <a:endParaRPr lang="en-US" sz="900"/>
          </a:p>
        </p:txBody>
      </p:sp>
      <p:sp>
        <p:nvSpPr>
          <p:cNvPr id="2071745726" name="Text 14"/>
          <p:cNvSpPr/>
          <p:nvPr/>
        </p:nvSpPr>
        <p:spPr bwMode="auto">
          <a:xfrm>
            <a:off x="6126480" y="2926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Pinecone · Chroma · Weaviate</a:t>
            </a:r>
            <a:endParaRPr lang="en-US" sz="900"/>
          </a:p>
        </p:txBody>
      </p:sp>
      <p:sp>
        <p:nvSpPr>
          <p:cNvPr id="1538157055" name="Shape 15"/>
          <p:cNvSpPr/>
          <p:nvPr/>
        </p:nvSpPr>
        <p:spPr bwMode="auto">
          <a:xfrm>
            <a:off x="9052560" y="1737360"/>
            <a:ext cx="2560320" cy="146304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1622402593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0104120" y="1920240"/>
            <a:ext cx="457200" cy="457200"/>
          </a:xfrm>
          <a:prstGeom prst="rect">
            <a:avLst/>
          </a:prstGeom>
        </p:spPr>
      </p:pic>
      <p:sp>
        <p:nvSpPr>
          <p:cNvPr id="38263118" name="Text 16"/>
          <p:cNvSpPr/>
          <p:nvPr/>
        </p:nvSpPr>
        <p:spPr bwMode="auto">
          <a:xfrm>
            <a:off x="9052560" y="2423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KNOWLEDGE BASE</a:t>
            </a:r>
            <a:endParaRPr lang="en-US" sz="1100"/>
          </a:p>
        </p:txBody>
      </p:sp>
      <p:sp>
        <p:nvSpPr>
          <p:cNvPr id="1632865006" name="Text 17"/>
          <p:cNvSpPr/>
          <p:nvPr/>
        </p:nvSpPr>
        <p:spPr bwMode="auto">
          <a:xfrm>
            <a:off x="9052560" y="2697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Docs, FAQs, manuales,</a:t>
            </a:r>
            <a:endParaRPr lang="en-US" sz="900"/>
          </a:p>
        </p:txBody>
      </p:sp>
      <p:sp>
        <p:nvSpPr>
          <p:cNvPr id="1957887014" name="Text 18"/>
          <p:cNvSpPr/>
          <p:nvPr/>
        </p:nvSpPr>
        <p:spPr bwMode="auto">
          <a:xfrm>
            <a:off x="9052560" y="2926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conversaciones previas</a:t>
            </a:r>
            <a:endParaRPr lang="en-US" sz="900"/>
          </a:p>
        </p:txBody>
      </p:sp>
      <p:sp>
        <p:nvSpPr>
          <p:cNvPr id="1819006108" name="Shape 19"/>
          <p:cNvSpPr/>
          <p:nvPr/>
        </p:nvSpPr>
        <p:spPr bwMode="auto">
          <a:xfrm>
            <a:off x="6126480" y="4114800"/>
            <a:ext cx="5486400" cy="86868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143692811" name="Image 4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309360" y="4297680"/>
            <a:ext cx="502920" cy="502920"/>
          </a:xfrm>
          <a:prstGeom prst="rect">
            <a:avLst/>
          </a:prstGeom>
        </p:spPr>
      </p:pic>
      <p:sp>
        <p:nvSpPr>
          <p:cNvPr id="1536300742" name="Text 20"/>
          <p:cNvSpPr/>
          <p:nvPr/>
        </p:nvSpPr>
        <p:spPr bwMode="auto">
          <a:xfrm>
            <a:off x="6949440" y="4160519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TOOLS</a:t>
            </a:r>
            <a:endParaRPr lang="en-US" sz="1100"/>
          </a:p>
        </p:txBody>
      </p:sp>
      <p:sp>
        <p:nvSpPr>
          <p:cNvPr id="1494759073" name="Text 21"/>
          <p:cNvSpPr/>
          <p:nvPr/>
        </p:nvSpPr>
        <p:spPr bwMode="auto">
          <a:xfrm>
            <a:off x="694944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APIs, funciones, sistemas externos</a:t>
            </a:r>
            <a:endParaRPr lang="en-US" sz="1100"/>
          </a:p>
        </p:txBody>
      </p:sp>
      <p:sp>
        <p:nvSpPr>
          <p:cNvPr id="68123062" name="Shape 22"/>
          <p:cNvSpPr/>
          <p:nvPr/>
        </p:nvSpPr>
        <p:spPr bwMode="auto">
          <a:xfrm>
            <a:off x="2103120" y="3566160"/>
            <a:ext cx="822960" cy="0"/>
          </a:xfrm>
          <a:prstGeom prst="line">
            <a:avLst/>
          </a:prstGeom>
          <a:noFill/>
          <a:ln w="19050">
            <a:solidFill>
              <a:srgbClr val="00D9FF"/>
            </a:solidFill>
            <a:prstDash val="solid"/>
          </a:ln>
        </p:spPr>
      </p:sp>
      <p:sp>
        <p:nvSpPr>
          <p:cNvPr id="1658276861" name="Shape 23"/>
          <p:cNvSpPr/>
          <p:nvPr/>
        </p:nvSpPr>
        <p:spPr bwMode="auto">
          <a:xfrm>
            <a:off x="5212080" y="3200400"/>
            <a:ext cx="914400" cy="0"/>
          </a:xfrm>
          <a:prstGeom prst="line">
            <a:avLst/>
          </a:prstGeom>
          <a:noFill/>
          <a:ln w="19050">
            <a:solidFill>
              <a:srgbClr val="B026FF"/>
            </a:solidFill>
            <a:prstDash val="dash"/>
          </a:ln>
        </p:spPr>
      </p:sp>
      <p:sp>
        <p:nvSpPr>
          <p:cNvPr id="73776414" name="Text 24"/>
          <p:cNvSpPr/>
          <p:nvPr/>
        </p:nvSpPr>
        <p:spPr bwMode="auto">
          <a:xfrm>
            <a:off x="5166360" y="2468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retrieve</a:t>
            </a:r>
            <a:endParaRPr lang="en-US" sz="900"/>
          </a:p>
        </p:txBody>
      </p:sp>
      <p:sp>
        <p:nvSpPr>
          <p:cNvPr id="454921646" name="Shape 25"/>
          <p:cNvSpPr/>
          <p:nvPr/>
        </p:nvSpPr>
        <p:spPr bwMode="auto">
          <a:xfrm>
            <a:off x="5212080" y="4114800"/>
            <a:ext cx="914400" cy="365760"/>
          </a:xfrm>
          <a:prstGeom prst="line">
            <a:avLst/>
          </a:prstGeom>
          <a:noFill/>
          <a:ln w="19050">
            <a:solidFill>
              <a:srgbClr val="00D9FF"/>
            </a:solidFill>
            <a:prstDash val="dash"/>
          </a:ln>
        </p:spPr>
      </p:sp>
      <p:sp>
        <p:nvSpPr>
          <p:cNvPr id="229633758" name="Text 26"/>
          <p:cNvSpPr/>
          <p:nvPr/>
        </p:nvSpPr>
        <p:spPr bwMode="auto">
          <a:xfrm>
            <a:off x="5166360" y="42519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invoke</a:t>
            </a:r>
            <a:endParaRPr lang="en-US" sz="900"/>
          </a:p>
        </p:txBody>
      </p:sp>
      <p:sp>
        <p:nvSpPr>
          <p:cNvPr id="974139505" name="Shape 27"/>
          <p:cNvSpPr/>
          <p:nvPr/>
        </p:nvSpPr>
        <p:spPr bwMode="auto">
          <a:xfrm>
            <a:off x="8686800" y="2468880"/>
            <a:ext cx="365760" cy="0"/>
          </a:xfrm>
          <a:prstGeom prst="line">
            <a:avLst/>
          </a:prstGeom>
          <a:noFill/>
          <a:ln w="12700">
            <a:solidFill>
              <a:srgbClr val="00D9FF">
                <a:alpha val="70000"/>
              </a:srgbClr>
            </a:solidFill>
            <a:prstDash val="solid"/>
          </a:ln>
        </p:spPr>
      </p:sp>
      <p:sp>
        <p:nvSpPr>
          <p:cNvPr id="2073859620" name="Shape 28"/>
          <p:cNvSpPr/>
          <p:nvPr/>
        </p:nvSpPr>
        <p:spPr bwMode="auto">
          <a:xfrm>
            <a:off x="548640" y="5212080"/>
            <a:ext cx="11064240" cy="105156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89868254" name="Text 29"/>
          <p:cNvSpPr/>
          <p:nvPr/>
        </p:nvSpPr>
        <p:spPr bwMode="auto">
          <a:xfrm>
            <a:off x="7772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4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CASO TÍPICO</a:t>
            </a:r>
            <a:endParaRPr lang="en-US" sz="1100"/>
          </a:p>
        </p:txBody>
      </p:sp>
      <p:sp>
        <p:nvSpPr>
          <p:cNvPr id="1806073110" name="Text 30"/>
          <p:cNvSpPr/>
          <p:nvPr/>
        </p:nvSpPr>
        <p:spPr bwMode="auto">
          <a:xfrm>
            <a:off x="77724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Agente de soporte que conoce la documentación interna de tu producto y aprende de cada caso resuelto.</a:t>
            </a:r>
            <a:endParaRPr lang="en-US" sz="1300"/>
          </a:p>
        </p:txBody>
      </p:sp>
      <p:sp>
        <p:nvSpPr>
          <p:cNvPr id="785552338" name="Text 31"/>
          <p:cNvSpPr/>
          <p:nvPr/>
        </p:nvSpPr>
        <p:spPr bwMode="auto">
          <a:xfrm>
            <a:off x="77724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→  El LLM busca contexto relevante en la Vector DB ANTES de responder · Aprende de interacciones previas</a:t>
            </a:r>
            <a:endParaRPr lang="en-US" sz="1100"/>
          </a:p>
        </p:txBody>
      </p:sp>
      <p:sp>
        <p:nvSpPr>
          <p:cNvPr id="1467279756" name="Shape 32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260919029" name="Text 33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203351846" name="Text 34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13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646265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Nivel 3 · Multi-agente / orquestación</a:t>
            </a:r>
            <a:endParaRPr lang="en-US" sz="3200"/>
          </a:p>
        </p:txBody>
      </p:sp>
      <p:sp>
        <p:nvSpPr>
          <p:cNvPr id="68181925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765131106" name="Shape 3"/>
          <p:cNvSpPr/>
          <p:nvPr/>
        </p:nvSpPr>
        <p:spPr bwMode="auto">
          <a:xfrm>
            <a:off x="5166360" y="1691640"/>
            <a:ext cx="1828800" cy="914400"/>
          </a:xfrm>
          <a:prstGeom prst="rect">
            <a:avLst/>
          </a:prstGeom>
          <a:solidFill>
            <a:srgbClr val="131829"/>
          </a:solidFill>
          <a:ln w="25400">
            <a:solidFill>
              <a:srgbClr val="00FF94"/>
            </a:solidFill>
            <a:prstDash val="solid"/>
          </a:ln>
        </p:spPr>
      </p:sp>
      <p:sp>
        <p:nvSpPr>
          <p:cNvPr id="2042373665" name="Shape 4"/>
          <p:cNvSpPr/>
          <p:nvPr/>
        </p:nvSpPr>
        <p:spPr bwMode="auto">
          <a:xfrm>
            <a:off x="5166360" y="1691640"/>
            <a:ext cx="1828800" cy="54864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1376148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79592" y="1856232"/>
            <a:ext cx="411480" cy="411480"/>
          </a:xfrm>
          <a:prstGeom prst="rect">
            <a:avLst/>
          </a:prstGeom>
        </p:spPr>
      </p:pic>
      <p:sp>
        <p:nvSpPr>
          <p:cNvPr id="677037480" name="Text 5"/>
          <p:cNvSpPr/>
          <p:nvPr/>
        </p:nvSpPr>
        <p:spPr bwMode="auto">
          <a:xfrm>
            <a:off x="516636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SUPERVISOR</a:t>
            </a:r>
            <a:endParaRPr lang="en-US" sz="1100"/>
          </a:p>
        </p:txBody>
      </p:sp>
      <p:sp>
        <p:nvSpPr>
          <p:cNvPr id="1815301580" name="Shape 6"/>
          <p:cNvSpPr/>
          <p:nvPr/>
        </p:nvSpPr>
        <p:spPr bwMode="auto">
          <a:xfrm>
            <a:off x="1371600" y="3840480"/>
            <a:ext cx="1828800" cy="128016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1511504482" name="Shape 7"/>
          <p:cNvSpPr/>
          <p:nvPr/>
        </p:nvSpPr>
        <p:spPr bwMode="auto">
          <a:xfrm>
            <a:off x="1371600" y="3840480"/>
            <a:ext cx="1828800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39531718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084832" y="4023360"/>
            <a:ext cx="402336" cy="402336"/>
          </a:xfrm>
          <a:prstGeom prst="rect">
            <a:avLst/>
          </a:prstGeom>
        </p:spPr>
      </p:pic>
      <p:sp>
        <p:nvSpPr>
          <p:cNvPr id="1756087460" name="Text 8"/>
          <p:cNvSpPr/>
          <p:nvPr/>
        </p:nvSpPr>
        <p:spPr bwMode="auto">
          <a:xfrm>
            <a:off x="137160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INVESTIGADOR</a:t>
            </a:r>
            <a:endParaRPr lang="en-US" sz="1100"/>
          </a:p>
        </p:txBody>
      </p:sp>
      <p:sp>
        <p:nvSpPr>
          <p:cNvPr id="224255564" name="Text 9"/>
          <p:cNvSpPr/>
          <p:nvPr/>
        </p:nvSpPr>
        <p:spPr bwMode="auto">
          <a:xfrm>
            <a:off x="137160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Busca y</a:t>
            </a:r>
            <a:endParaRPr lang="en-US" sz="1000"/>
          </a:p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recolecta</a:t>
            </a:r>
            <a:endParaRPr lang="en-US" sz="1000"/>
          </a:p>
        </p:txBody>
      </p:sp>
      <p:sp>
        <p:nvSpPr>
          <p:cNvPr id="905226569" name="Shape 10"/>
          <p:cNvSpPr/>
          <p:nvPr/>
        </p:nvSpPr>
        <p:spPr bwMode="auto">
          <a:xfrm>
            <a:off x="6080760" y="2606040"/>
            <a:ext cx="0" cy="1234440"/>
          </a:xfrm>
          <a:prstGeom prst="line">
            <a:avLst/>
          </a:prstGeom>
          <a:noFill/>
          <a:ln w="15240">
            <a:solidFill>
              <a:srgbClr val="00D9FF">
                <a:alpha val="70000"/>
              </a:srgbClr>
            </a:solidFill>
            <a:prstDash val="dash"/>
          </a:ln>
        </p:spPr>
      </p:sp>
      <p:sp>
        <p:nvSpPr>
          <p:cNvPr id="873803939" name="Shape 11"/>
          <p:cNvSpPr/>
          <p:nvPr/>
        </p:nvSpPr>
        <p:spPr bwMode="auto">
          <a:xfrm>
            <a:off x="5166360" y="3840480"/>
            <a:ext cx="1828800" cy="1280160"/>
          </a:xfrm>
          <a:prstGeom prst="rect">
            <a:avLst/>
          </a:prstGeom>
          <a:solidFill>
            <a:srgbClr val="131829"/>
          </a:solidFill>
          <a:ln w="19050">
            <a:solidFill>
              <a:srgbClr val="B026FF"/>
            </a:solidFill>
            <a:prstDash val="solid"/>
          </a:ln>
        </p:spPr>
      </p:sp>
      <p:sp>
        <p:nvSpPr>
          <p:cNvPr id="1326044987" name="Shape 12"/>
          <p:cNvSpPr/>
          <p:nvPr/>
        </p:nvSpPr>
        <p:spPr bwMode="auto">
          <a:xfrm>
            <a:off x="5166360" y="3840480"/>
            <a:ext cx="1828800" cy="54864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77471653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879592" y="4023360"/>
            <a:ext cx="402336" cy="402336"/>
          </a:xfrm>
          <a:prstGeom prst="rect">
            <a:avLst/>
          </a:prstGeom>
        </p:spPr>
      </p:pic>
      <p:sp>
        <p:nvSpPr>
          <p:cNvPr id="1015596672" name="Text 13"/>
          <p:cNvSpPr/>
          <p:nvPr/>
        </p:nvSpPr>
        <p:spPr bwMode="auto">
          <a:xfrm>
            <a:off x="516636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REDACTOR</a:t>
            </a:r>
            <a:endParaRPr lang="en-US" sz="1100"/>
          </a:p>
        </p:txBody>
      </p:sp>
      <p:sp>
        <p:nvSpPr>
          <p:cNvPr id="1739250380" name="Text 14"/>
          <p:cNvSpPr/>
          <p:nvPr/>
        </p:nvSpPr>
        <p:spPr bwMode="auto">
          <a:xfrm>
            <a:off x="516636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Sintetiza</a:t>
            </a:r>
            <a:endParaRPr lang="en-US" sz="1000"/>
          </a:p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y escribe</a:t>
            </a:r>
            <a:endParaRPr lang="en-US" sz="1000"/>
          </a:p>
        </p:txBody>
      </p:sp>
      <p:sp>
        <p:nvSpPr>
          <p:cNvPr id="646800587" name="Shape 15"/>
          <p:cNvSpPr/>
          <p:nvPr/>
        </p:nvSpPr>
        <p:spPr bwMode="auto">
          <a:xfrm>
            <a:off x="6080760" y="2606040"/>
            <a:ext cx="0" cy="1234440"/>
          </a:xfrm>
          <a:prstGeom prst="line">
            <a:avLst/>
          </a:prstGeom>
          <a:noFill/>
          <a:ln w="15240">
            <a:solidFill>
              <a:srgbClr val="B026FF">
                <a:alpha val="70000"/>
              </a:srgbClr>
            </a:solidFill>
            <a:prstDash val="dash"/>
          </a:ln>
        </p:spPr>
      </p:sp>
      <p:sp>
        <p:nvSpPr>
          <p:cNvPr id="1377269041" name="Shape 16"/>
          <p:cNvSpPr/>
          <p:nvPr/>
        </p:nvSpPr>
        <p:spPr bwMode="auto">
          <a:xfrm>
            <a:off x="8961120" y="3840480"/>
            <a:ext cx="1828800" cy="1280160"/>
          </a:xfrm>
          <a:prstGeom prst="rect">
            <a:avLst/>
          </a:prstGeom>
          <a:solidFill>
            <a:srgbClr val="131829"/>
          </a:solidFill>
          <a:ln w="19050">
            <a:solidFill>
              <a:srgbClr val="00FF94"/>
            </a:solidFill>
            <a:prstDash val="solid"/>
          </a:ln>
        </p:spPr>
      </p:sp>
      <p:sp>
        <p:nvSpPr>
          <p:cNvPr id="626844201" name="Shape 17"/>
          <p:cNvSpPr/>
          <p:nvPr/>
        </p:nvSpPr>
        <p:spPr bwMode="auto">
          <a:xfrm>
            <a:off x="8961120" y="3840480"/>
            <a:ext cx="1828800" cy="54864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94604762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9674352" y="4023360"/>
            <a:ext cx="402336" cy="402336"/>
          </a:xfrm>
          <a:prstGeom prst="rect">
            <a:avLst/>
          </a:prstGeom>
        </p:spPr>
      </p:pic>
      <p:sp>
        <p:nvSpPr>
          <p:cNvPr id="1634361764" name="Text 18"/>
          <p:cNvSpPr/>
          <p:nvPr/>
        </p:nvSpPr>
        <p:spPr bwMode="auto">
          <a:xfrm>
            <a:off x="896112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REVISOR</a:t>
            </a:r>
            <a:endParaRPr lang="en-US" sz="1100"/>
          </a:p>
        </p:txBody>
      </p:sp>
      <p:sp>
        <p:nvSpPr>
          <p:cNvPr id="1711997116" name="Text 19"/>
          <p:cNvSpPr/>
          <p:nvPr/>
        </p:nvSpPr>
        <p:spPr bwMode="auto">
          <a:xfrm>
            <a:off x="8961120" y="4709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Valida</a:t>
            </a:r>
            <a:endParaRPr lang="en-US" sz="1000"/>
          </a:p>
          <a:p>
            <a:pPr marL="0" indent="0" algn="ctr">
              <a:buNone/>
              <a:defRPr/>
            </a:pPr>
            <a:r>
              <a:rPr lang="en-US"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y mejora</a:t>
            </a:r>
            <a:endParaRPr lang="en-US" sz="1000"/>
          </a:p>
        </p:txBody>
      </p:sp>
      <p:sp>
        <p:nvSpPr>
          <p:cNvPr id="1828607572" name="Shape 20"/>
          <p:cNvSpPr/>
          <p:nvPr/>
        </p:nvSpPr>
        <p:spPr bwMode="auto">
          <a:xfrm>
            <a:off x="6080760" y="2606040"/>
            <a:ext cx="3794760" cy="1234440"/>
          </a:xfrm>
          <a:prstGeom prst="line">
            <a:avLst/>
          </a:prstGeom>
          <a:noFill/>
          <a:ln w="15240">
            <a:solidFill>
              <a:srgbClr val="00FF94">
                <a:alpha val="70000"/>
              </a:srgbClr>
            </a:solidFill>
            <a:prstDash val="dash"/>
          </a:ln>
        </p:spPr>
      </p:sp>
      <p:sp>
        <p:nvSpPr>
          <p:cNvPr id="646948345" name="Shape 21"/>
          <p:cNvSpPr/>
          <p:nvPr/>
        </p:nvSpPr>
        <p:spPr bwMode="auto">
          <a:xfrm>
            <a:off x="548640" y="5486400"/>
            <a:ext cx="11064240" cy="777240"/>
          </a:xfrm>
          <a:prstGeom prst="rect">
            <a:avLst/>
          </a:prstGeom>
          <a:solidFill>
            <a:srgbClr val="050810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422164715" name="Text 22"/>
          <p:cNvSpPr/>
          <p:nvPr/>
        </p:nvSpPr>
        <p:spPr bwMode="auto">
          <a:xfrm>
            <a:off x="777240" y="5577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PATRONES COMUNES</a:t>
            </a:r>
            <a:endParaRPr lang="en-US" sz="1000"/>
          </a:p>
        </p:txBody>
      </p:sp>
      <p:sp>
        <p:nvSpPr>
          <p:cNvPr id="476476026" name="Text 23"/>
          <p:cNvSpPr/>
          <p:nvPr/>
        </p:nvSpPr>
        <p:spPr bwMode="auto">
          <a:xfrm>
            <a:off x="77724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Router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· enruta tareas al agente correcto    </a:t>
            </a: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Planner-Executor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· uno planea, otro ejecuta    </a:t>
            </a: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Swarm</a:t>
            </a: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· agentes pares colaboran</a:t>
            </a:r>
            <a:endParaRPr lang="en-US" sz="1100"/>
          </a:p>
        </p:txBody>
      </p:sp>
      <p:sp>
        <p:nvSpPr>
          <p:cNvPr id="999763525" name="Text 24"/>
          <p:cNvSpPr/>
          <p:nvPr/>
        </p:nvSpPr>
        <p:spPr bwMode="auto">
          <a:xfrm>
            <a:off x="54864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 spc="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FRAMEWORKS:</a:t>
            </a:r>
            <a:endParaRPr lang="en-US" sz="1000"/>
          </a:p>
        </p:txBody>
      </p:sp>
      <p:sp>
        <p:nvSpPr>
          <p:cNvPr id="298408409" name="Shape 25"/>
          <p:cNvSpPr/>
          <p:nvPr/>
        </p:nvSpPr>
        <p:spPr bwMode="auto">
          <a:xfrm>
            <a:off x="2377440" y="3127248"/>
            <a:ext cx="1188720" cy="329184"/>
          </a:xfrm>
          <a:prstGeom prst="roundRect">
            <a:avLst>
              <a:gd name="adj" fmla="val 13889"/>
            </a:avLst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821457290" name="Text 26"/>
          <p:cNvSpPr/>
          <p:nvPr/>
        </p:nvSpPr>
        <p:spPr bwMode="auto">
          <a:xfrm>
            <a:off x="2377440" y="31272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LangGraph</a:t>
            </a:r>
            <a:endParaRPr lang="en-US" sz="1000"/>
          </a:p>
        </p:txBody>
      </p:sp>
      <p:sp>
        <p:nvSpPr>
          <p:cNvPr id="1007284505" name="Shape 27"/>
          <p:cNvSpPr/>
          <p:nvPr/>
        </p:nvSpPr>
        <p:spPr bwMode="auto">
          <a:xfrm>
            <a:off x="3749040" y="3127248"/>
            <a:ext cx="914400" cy="329184"/>
          </a:xfrm>
          <a:prstGeom prst="roundRect">
            <a:avLst>
              <a:gd name="adj" fmla="val 13889"/>
            </a:avLst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450318472" name="Text 28"/>
          <p:cNvSpPr/>
          <p:nvPr/>
        </p:nvSpPr>
        <p:spPr bwMode="auto">
          <a:xfrm>
            <a:off x="3749040" y="3127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CrewAI</a:t>
            </a:r>
            <a:endParaRPr lang="en-US" sz="1000"/>
          </a:p>
        </p:txBody>
      </p:sp>
      <p:sp>
        <p:nvSpPr>
          <p:cNvPr id="139189379" name="Shape 29"/>
          <p:cNvSpPr/>
          <p:nvPr/>
        </p:nvSpPr>
        <p:spPr bwMode="auto">
          <a:xfrm>
            <a:off x="4846320" y="3127248"/>
            <a:ext cx="1005840" cy="329184"/>
          </a:xfrm>
          <a:prstGeom prst="roundRect">
            <a:avLst>
              <a:gd name="adj" fmla="val 13889"/>
            </a:avLst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854539427" name="Text 30"/>
          <p:cNvSpPr/>
          <p:nvPr/>
        </p:nvSpPr>
        <p:spPr bwMode="auto">
          <a:xfrm>
            <a:off x="4846320" y="31272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AutoGen</a:t>
            </a:r>
            <a:endParaRPr lang="en-US" sz="1000"/>
          </a:p>
        </p:txBody>
      </p:sp>
      <p:sp>
        <p:nvSpPr>
          <p:cNvPr id="1002714842" name="Shape 31"/>
          <p:cNvSpPr/>
          <p:nvPr/>
        </p:nvSpPr>
        <p:spPr bwMode="auto">
          <a:xfrm>
            <a:off x="6035039" y="3127248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511914714" name="Text 32"/>
          <p:cNvSpPr/>
          <p:nvPr/>
        </p:nvSpPr>
        <p:spPr bwMode="auto">
          <a:xfrm>
            <a:off x="6035039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OpenAI Swarm</a:t>
            </a:r>
            <a:endParaRPr lang="en-US" sz="1000"/>
          </a:p>
        </p:txBody>
      </p:sp>
      <p:sp>
        <p:nvSpPr>
          <p:cNvPr id="2104693133" name="Shape 33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541298156" name="Text 34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206193502" name="Text 35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14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847348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Nivel 4 · Agente autónomo en producción</a:t>
            </a:r>
            <a:endParaRPr lang="en-US" sz="3200"/>
          </a:p>
        </p:txBody>
      </p:sp>
      <p:sp>
        <p:nvSpPr>
          <p:cNvPr id="1420555907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661612074" name="Shape 3"/>
          <p:cNvSpPr/>
          <p:nvPr/>
        </p:nvSpPr>
        <p:spPr bwMode="auto">
          <a:xfrm>
            <a:off x="548640" y="1645920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881807611" name="Shape 4"/>
          <p:cNvSpPr/>
          <p:nvPr/>
        </p:nvSpPr>
        <p:spPr bwMode="auto">
          <a:xfrm>
            <a:off x="548640" y="1645920"/>
            <a:ext cx="73152" cy="1691640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08107039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22960" y="1920240"/>
            <a:ext cx="548640" cy="548640"/>
          </a:xfrm>
          <a:prstGeom prst="rect">
            <a:avLst/>
          </a:prstGeom>
        </p:spPr>
      </p:pic>
      <p:sp>
        <p:nvSpPr>
          <p:cNvPr id="816095022" name="Text 5"/>
          <p:cNvSpPr/>
          <p:nvPr/>
        </p:nvSpPr>
        <p:spPr bwMode="auto">
          <a:xfrm>
            <a:off x="1508759" y="1920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OBSERVABILIDAD</a:t>
            </a:r>
            <a:endParaRPr lang="en-US" sz="1300"/>
          </a:p>
        </p:txBody>
      </p:sp>
      <p:sp>
        <p:nvSpPr>
          <p:cNvPr id="1643575812" name="Text 6"/>
          <p:cNvSpPr/>
          <p:nvPr/>
        </p:nvSpPr>
        <p:spPr bwMode="auto">
          <a:xfrm>
            <a:off x="1508759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Logging, traces, métricas</a:t>
            </a:r>
            <a:endParaRPr lang="en-US" sz="1100"/>
          </a:p>
        </p:txBody>
      </p:sp>
      <p:sp>
        <p:nvSpPr>
          <p:cNvPr id="635747462" name="Shape 7"/>
          <p:cNvSpPr/>
          <p:nvPr/>
        </p:nvSpPr>
        <p:spPr bwMode="auto">
          <a:xfrm>
            <a:off x="822960" y="2743200"/>
            <a:ext cx="914400" cy="0"/>
          </a:xfrm>
          <a:prstGeom prst="line">
            <a:avLst/>
          </a:prstGeom>
          <a:noFill/>
          <a:ln w="12700">
            <a:solidFill>
              <a:srgbClr val="00D9FF"/>
            </a:solidFill>
            <a:prstDash val="solid"/>
          </a:ln>
        </p:spPr>
      </p:sp>
      <p:sp>
        <p:nvSpPr>
          <p:cNvPr id="955365763" name="Shape 8"/>
          <p:cNvSpPr/>
          <p:nvPr/>
        </p:nvSpPr>
        <p:spPr bwMode="auto">
          <a:xfrm>
            <a:off x="4370832" y="1645920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250020254" name="Shape 9"/>
          <p:cNvSpPr/>
          <p:nvPr/>
        </p:nvSpPr>
        <p:spPr bwMode="auto">
          <a:xfrm>
            <a:off x="4370832" y="1645920"/>
            <a:ext cx="73152" cy="1691640"/>
          </a:xfrm>
          <a:prstGeom prst="rect">
            <a:avLst/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73259187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645152" y="1920240"/>
            <a:ext cx="548640" cy="548640"/>
          </a:xfrm>
          <a:prstGeom prst="rect">
            <a:avLst/>
          </a:prstGeom>
        </p:spPr>
      </p:pic>
      <p:sp>
        <p:nvSpPr>
          <p:cNvPr id="1356426449" name="Text 10"/>
          <p:cNvSpPr/>
          <p:nvPr/>
        </p:nvSpPr>
        <p:spPr bwMode="auto">
          <a:xfrm>
            <a:off x="5330952" y="1920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GUARDRAILS</a:t>
            </a:r>
            <a:endParaRPr lang="en-US" sz="1300"/>
          </a:p>
        </p:txBody>
      </p:sp>
      <p:sp>
        <p:nvSpPr>
          <p:cNvPr id="1710463526" name="Text 11"/>
          <p:cNvSpPr/>
          <p:nvPr/>
        </p:nvSpPr>
        <p:spPr bwMode="auto">
          <a:xfrm>
            <a:off x="5330952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Validación, límites, seguridad</a:t>
            </a:r>
            <a:endParaRPr lang="en-US" sz="1100"/>
          </a:p>
        </p:txBody>
      </p:sp>
      <p:sp>
        <p:nvSpPr>
          <p:cNvPr id="1524307225" name="Shape 12"/>
          <p:cNvSpPr/>
          <p:nvPr/>
        </p:nvSpPr>
        <p:spPr bwMode="auto">
          <a:xfrm>
            <a:off x="4645152" y="2743200"/>
            <a:ext cx="914400" cy="0"/>
          </a:xfrm>
          <a:prstGeom prst="line">
            <a:avLst/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1536789678" name="Shape 13"/>
          <p:cNvSpPr/>
          <p:nvPr/>
        </p:nvSpPr>
        <p:spPr bwMode="auto">
          <a:xfrm>
            <a:off x="8193024" y="1645920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445743304" name="Shape 14"/>
          <p:cNvSpPr/>
          <p:nvPr/>
        </p:nvSpPr>
        <p:spPr bwMode="auto">
          <a:xfrm>
            <a:off x="8193024" y="1645920"/>
            <a:ext cx="73152" cy="1691640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8573716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467344" y="1920240"/>
            <a:ext cx="548640" cy="548640"/>
          </a:xfrm>
          <a:prstGeom prst="rect">
            <a:avLst/>
          </a:prstGeom>
        </p:spPr>
      </p:pic>
      <p:sp>
        <p:nvSpPr>
          <p:cNvPr id="1413598273" name="Text 15"/>
          <p:cNvSpPr/>
          <p:nvPr/>
        </p:nvSpPr>
        <p:spPr bwMode="auto">
          <a:xfrm>
            <a:off x="9153144" y="1920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HUMAN-IN-THE-LOOP</a:t>
            </a:r>
            <a:endParaRPr lang="en-US" sz="1300"/>
          </a:p>
        </p:txBody>
      </p:sp>
      <p:sp>
        <p:nvSpPr>
          <p:cNvPr id="161025851" name="Text 16"/>
          <p:cNvSpPr/>
          <p:nvPr/>
        </p:nvSpPr>
        <p:spPr bwMode="auto">
          <a:xfrm>
            <a:off x="9153144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Aprobación para acciones críticas</a:t>
            </a:r>
            <a:endParaRPr lang="en-US" sz="1100"/>
          </a:p>
        </p:txBody>
      </p:sp>
      <p:sp>
        <p:nvSpPr>
          <p:cNvPr id="318870937" name="Shape 17"/>
          <p:cNvSpPr/>
          <p:nvPr/>
        </p:nvSpPr>
        <p:spPr bwMode="auto">
          <a:xfrm>
            <a:off x="8467344" y="2743200"/>
            <a:ext cx="914400" cy="0"/>
          </a:xfrm>
          <a:prstGeom prst="line">
            <a:avLst/>
          </a:prstGeom>
          <a:noFill/>
          <a:ln w="12700">
            <a:solidFill>
              <a:srgbClr val="B026FF"/>
            </a:solidFill>
            <a:prstDash val="solid"/>
          </a:ln>
        </p:spPr>
      </p:sp>
      <p:sp>
        <p:nvSpPr>
          <p:cNvPr id="1334837537" name="Shape 18"/>
          <p:cNvSpPr/>
          <p:nvPr/>
        </p:nvSpPr>
        <p:spPr bwMode="auto">
          <a:xfrm>
            <a:off x="548640" y="3520440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479577103" name="Shape 19"/>
          <p:cNvSpPr/>
          <p:nvPr/>
        </p:nvSpPr>
        <p:spPr bwMode="auto">
          <a:xfrm>
            <a:off x="548640" y="3520440"/>
            <a:ext cx="73152" cy="169164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53291123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22960" y="3794760"/>
            <a:ext cx="548640" cy="548640"/>
          </a:xfrm>
          <a:prstGeom prst="rect">
            <a:avLst/>
          </a:prstGeom>
        </p:spPr>
      </p:pic>
      <p:sp>
        <p:nvSpPr>
          <p:cNvPr id="1419781357" name="Text 20"/>
          <p:cNvSpPr/>
          <p:nvPr/>
        </p:nvSpPr>
        <p:spPr bwMode="auto">
          <a:xfrm>
            <a:off x="1508759" y="3794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COLA DE TAREAS</a:t>
            </a:r>
            <a:endParaRPr lang="en-US" sz="1300"/>
          </a:p>
        </p:txBody>
      </p:sp>
      <p:sp>
        <p:nvSpPr>
          <p:cNvPr id="1462029953" name="Text 21"/>
          <p:cNvSpPr/>
          <p:nvPr/>
        </p:nvSpPr>
        <p:spPr bwMode="auto">
          <a:xfrm>
            <a:off x="1508759" y="4160519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Celery + Redis · async workers</a:t>
            </a:r>
            <a:endParaRPr lang="en-US" sz="1100"/>
          </a:p>
        </p:txBody>
      </p:sp>
      <p:sp>
        <p:nvSpPr>
          <p:cNvPr id="508418903" name="Shape 22"/>
          <p:cNvSpPr/>
          <p:nvPr/>
        </p:nvSpPr>
        <p:spPr bwMode="auto">
          <a:xfrm>
            <a:off x="822960" y="4617720"/>
            <a:ext cx="914400" cy="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2097515980" name="Shape 23"/>
          <p:cNvSpPr/>
          <p:nvPr/>
        </p:nvSpPr>
        <p:spPr bwMode="auto">
          <a:xfrm>
            <a:off x="4370832" y="3520440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961782135" name="Shape 24"/>
          <p:cNvSpPr/>
          <p:nvPr/>
        </p:nvSpPr>
        <p:spPr bwMode="auto">
          <a:xfrm>
            <a:off x="4370832" y="3520440"/>
            <a:ext cx="73152" cy="1691640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64325780" name="Image 4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645152" y="3794760"/>
            <a:ext cx="548640" cy="548640"/>
          </a:xfrm>
          <a:prstGeom prst="rect">
            <a:avLst/>
          </a:prstGeom>
        </p:spPr>
      </p:pic>
      <p:sp>
        <p:nvSpPr>
          <p:cNvPr id="1986871318" name="Text 25"/>
          <p:cNvSpPr/>
          <p:nvPr/>
        </p:nvSpPr>
        <p:spPr bwMode="auto">
          <a:xfrm>
            <a:off x="5330952" y="3794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PERSISTENCIA</a:t>
            </a:r>
            <a:endParaRPr lang="en-US" sz="1300"/>
          </a:p>
        </p:txBody>
      </p:sp>
      <p:sp>
        <p:nvSpPr>
          <p:cNvPr id="2132409928" name="Text 26"/>
          <p:cNvSpPr/>
          <p:nvPr/>
        </p:nvSpPr>
        <p:spPr bwMode="auto">
          <a:xfrm>
            <a:off x="5330952" y="4160519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PostgreSQL + Vector DB</a:t>
            </a:r>
            <a:endParaRPr lang="en-US" sz="1100"/>
          </a:p>
        </p:txBody>
      </p:sp>
      <p:sp>
        <p:nvSpPr>
          <p:cNvPr id="37552821" name="Shape 27"/>
          <p:cNvSpPr/>
          <p:nvPr/>
        </p:nvSpPr>
        <p:spPr bwMode="auto">
          <a:xfrm>
            <a:off x="4645152" y="4617720"/>
            <a:ext cx="914400" cy="0"/>
          </a:xfrm>
          <a:prstGeom prst="line">
            <a:avLst/>
          </a:prstGeom>
          <a:noFill/>
          <a:ln w="12700">
            <a:solidFill>
              <a:srgbClr val="00D9FF"/>
            </a:solidFill>
            <a:prstDash val="solid"/>
          </a:ln>
        </p:spPr>
      </p:sp>
      <p:sp>
        <p:nvSpPr>
          <p:cNvPr id="691998346" name="Shape 28"/>
          <p:cNvSpPr/>
          <p:nvPr/>
        </p:nvSpPr>
        <p:spPr bwMode="auto">
          <a:xfrm>
            <a:off x="8193024" y="3520440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601045601" name="Shape 29"/>
          <p:cNvSpPr/>
          <p:nvPr/>
        </p:nvSpPr>
        <p:spPr bwMode="auto">
          <a:xfrm>
            <a:off x="8193024" y="3520440"/>
            <a:ext cx="73152" cy="1691640"/>
          </a:xfrm>
          <a:prstGeom prst="rect">
            <a:avLst/>
          </a:prstGeom>
          <a:solidFill>
            <a:srgbClr val="94A3B8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27698717" name="Image 5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8467344" y="3794760"/>
            <a:ext cx="548640" cy="548640"/>
          </a:xfrm>
          <a:prstGeom prst="rect">
            <a:avLst/>
          </a:prstGeom>
        </p:spPr>
      </p:pic>
      <p:sp>
        <p:nvSpPr>
          <p:cNvPr id="941064295" name="Text 30"/>
          <p:cNvSpPr/>
          <p:nvPr/>
        </p:nvSpPr>
        <p:spPr bwMode="auto">
          <a:xfrm>
            <a:off x="9153144" y="3794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INFRAESTRUCTURA</a:t>
            </a:r>
            <a:endParaRPr lang="en-US" sz="1300"/>
          </a:p>
        </p:txBody>
      </p:sp>
      <p:sp>
        <p:nvSpPr>
          <p:cNvPr id="1981015291" name="Text 31"/>
          <p:cNvSpPr/>
          <p:nvPr/>
        </p:nvSpPr>
        <p:spPr bwMode="auto">
          <a:xfrm>
            <a:off x="9153144" y="4160519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Docker · Kubernetes · cloud</a:t>
            </a:r>
            <a:endParaRPr lang="en-US" sz="1100"/>
          </a:p>
        </p:txBody>
      </p:sp>
      <p:sp>
        <p:nvSpPr>
          <p:cNvPr id="1609287747" name="Shape 32"/>
          <p:cNvSpPr/>
          <p:nvPr/>
        </p:nvSpPr>
        <p:spPr bwMode="auto">
          <a:xfrm>
            <a:off x="8467344" y="4617720"/>
            <a:ext cx="9144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144595438" name="Shape 33"/>
          <p:cNvSpPr/>
          <p:nvPr/>
        </p:nvSpPr>
        <p:spPr bwMode="auto">
          <a:xfrm>
            <a:off x="548640" y="5532120"/>
            <a:ext cx="11064240" cy="73152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pic>
        <p:nvPicPr>
          <p:cNvPr id="1231912039" name="Image 6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1817965321" name="Text 34"/>
          <p:cNvSpPr/>
          <p:nvPr/>
        </p:nvSpPr>
        <p:spPr bwMode="auto">
          <a:xfrm>
            <a:off x="1280160" y="55321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EJEMPLO REAL · </a:t>
            </a: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Tenable AI Agent · </a:t>
            </a: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intake de email → validación de inventario → ejecución de scan → entrega de reporte. </a:t>
            </a:r>
            <a:r>
              <a:rPr lang="en-US" sz="11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FastAPI + Celery + Redis + PostgreSQL.</a:t>
            </a:r>
            <a:endParaRPr lang="en-US" sz="1100"/>
          </a:p>
        </p:txBody>
      </p:sp>
      <p:sp>
        <p:nvSpPr>
          <p:cNvPr id="720562070" name="Shape 35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401310263" name="Text 36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839280590" name="Text 37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15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382218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· Model Context Protocol</a:t>
            </a:r>
            <a:endParaRPr lang="en-US" sz="3200"/>
          </a:p>
        </p:txBody>
      </p:sp>
      <p:sp>
        <p:nvSpPr>
          <p:cNvPr id="150608276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332826434" name="Shape 3"/>
          <p:cNvSpPr/>
          <p:nvPr/>
        </p:nvSpPr>
        <p:spPr bwMode="auto">
          <a:xfrm>
            <a:off x="548640" y="1554480"/>
            <a:ext cx="11064240" cy="54864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498639784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7240" y="1673352"/>
            <a:ext cx="320040" cy="320040"/>
          </a:xfrm>
          <a:prstGeom prst="rect">
            <a:avLst/>
          </a:prstGeom>
        </p:spPr>
      </p:pic>
      <p:sp>
        <p:nvSpPr>
          <p:cNvPr id="1867938092" name="Text 4"/>
          <p:cNvSpPr/>
          <p:nvPr/>
        </p:nvSpPr>
        <p:spPr bwMode="auto">
          <a:xfrm>
            <a:off x="1234440" y="1554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 estándar abierto para conectar herramientas a cualquier LLM.</a:t>
            </a:r>
            <a:endParaRPr lang="en-US" sz="1400"/>
          </a:p>
        </p:txBody>
      </p:sp>
      <p:sp>
        <p:nvSpPr>
          <p:cNvPr id="288216067" name="Shape 5"/>
          <p:cNvSpPr/>
          <p:nvPr/>
        </p:nvSpPr>
        <p:spPr bwMode="auto">
          <a:xfrm>
            <a:off x="548640" y="2377440"/>
            <a:ext cx="5486400" cy="3886200"/>
          </a:xfrm>
          <a:prstGeom prst="rect">
            <a:avLst/>
          </a:prstGeom>
          <a:solidFill>
            <a:srgbClr val="131829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57492984" name="Text 6"/>
          <p:cNvSpPr/>
          <p:nvPr/>
        </p:nvSpPr>
        <p:spPr bwMode="auto">
          <a:xfrm>
            <a:off x="548640" y="2468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4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ANTES DE MCP</a:t>
            </a:r>
            <a:endParaRPr lang="en-US" sz="1300"/>
          </a:p>
        </p:txBody>
      </p:sp>
      <p:sp>
        <p:nvSpPr>
          <p:cNvPr id="833606173" name="Text 7"/>
          <p:cNvSpPr/>
          <p:nvPr/>
        </p:nvSpPr>
        <p:spPr bwMode="auto">
          <a:xfrm>
            <a:off x="54864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the M×N integration problem</a:t>
            </a:r>
            <a:endParaRPr lang="en-US" sz="1000"/>
          </a:p>
        </p:txBody>
      </p:sp>
      <p:sp>
        <p:nvSpPr>
          <p:cNvPr id="897872579" name="Shape 8"/>
          <p:cNvSpPr/>
          <p:nvPr/>
        </p:nvSpPr>
        <p:spPr bwMode="auto">
          <a:xfrm>
            <a:off x="777240" y="324612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14261388" name="Text 9"/>
          <p:cNvSpPr/>
          <p:nvPr/>
        </p:nvSpPr>
        <p:spPr bwMode="auto">
          <a:xfrm>
            <a:off x="777240" y="3246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Claude</a:t>
            </a:r>
            <a:endParaRPr lang="en-US" sz="1100"/>
          </a:p>
        </p:txBody>
      </p:sp>
      <p:sp>
        <p:nvSpPr>
          <p:cNvPr id="1764681019" name="Shape 10"/>
          <p:cNvSpPr/>
          <p:nvPr/>
        </p:nvSpPr>
        <p:spPr bwMode="auto">
          <a:xfrm>
            <a:off x="4572000" y="324612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91360242" name="Text 11"/>
          <p:cNvSpPr/>
          <p:nvPr/>
        </p:nvSpPr>
        <p:spPr bwMode="auto">
          <a:xfrm>
            <a:off x="4572000" y="3246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Slack</a:t>
            </a:r>
            <a:endParaRPr lang="en-US" sz="1100"/>
          </a:p>
        </p:txBody>
      </p:sp>
      <p:sp>
        <p:nvSpPr>
          <p:cNvPr id="1284777828" name="Shape 12"/>
          <p:cNvSpPr/>
          <p:nvPr/>
        </p:nvSpPr>
        <p:spPr bwMode="auto">
          <a:xfrm>
            <a:off x="777240" y="406908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04316207" name="Text 13"/>
          <p:cNvSpPr/>
          <p:nvPr/>
        </p:nvSpPr>
        <p:spPr bwMode="auto">
          <a:xfrm>
            <a:off x="777240" y="4069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GPT</a:t>
            </a:r>
            <a:endParaRPr lang="en-US" sz="1100"/>
          </a:p>
        </p:txBody>
      </p:sp>
      <p:sp>
        <p:nvSpPr>
          <p:cNvPr id="614875969" name="Shape 14"/>
          <p:cNvSpPr/>
          <p:nvPr/>
        </p:nvSpPr>
        <p:spPr bwMode="auto">
          <a:xfrm>
            <a:off x="4572000" y="406908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4817352" name="Text 15"/>
          <p:cNvSpPr/>
          <p:nvPr/>
        </p:nvSpPr>
        <p:spPr bwMode="auto">
          <a:xfrm>
            <a:off x="4572000" y="4069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GitHub</a:t>
            </a:r>
            <a:endParaRPr lang="en-US" sz="1100"/>
          </a:p>
        </p:txBody>
      </p:sp>
      <p:sp>
        <p:nvSpPr>
          <p:cNvPr id="656563090" name="Shape 16"/>
          <p:cNvSpPr/>
          <p:nvPr/>
        </p:nvSpPr>
        <p:spPr bwMode="auto">
          <a:xfrm>
            <a:off x="777240" y="4892039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70589252" name="Text 17"/>
          <p:cNvSpPr/>
          <p:nvPr/>
        </p:nvSpPr>
        <p:spPr bwMode="auto">
          <a:xfrm>
            <a:off x="777240" y="4892039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Gemini</a:t>
            </a:r>
            <a:endParaRPr lang="en-US" sz="1100"/>
          </a:p>
        </p:txBody>
      </p:sp>
      <p:sp>
        <p:nvSpPr>
          <p:cNvPr id="2042777886" name="Shape 18"/>
          <p:cNvSpPr/>
          <p:nvPr/>
        </p:nvSpPr>
        <p:spPr bwMode="auto">
          <a:xfrm>
            <a:off x="4572000" y="4892039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67791975" name="Text 19"/>
          <p:cNvSpPr/>
          <p:nvPr/>
        </p:nvSpPr>
        <p:spPr bwMode="auto">
          <a:xfrm>
            <a:off x="4572000" y="4892039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Gmail</a:t>
            </a:r>
            <a:endParaRPr lang="en-US" sz="1100"/>
          </a:p>
        </p:txBody>
      </p:sp>
      <p:sp>
        <p:nvSpPr>
          <p:cNvPr id="443563196" name="Shape 20"/>
          <p:cNvSpPr/>
          <p:nvPr/>
        </p:nvSpPr>
        <p:spPr bwMode="auto">
          <a:xfrm>
            <a:off x="1965960" y="3497580"/>
            <a:ext cx="2606040" cy="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374739047" name="Shape 21"/>
          <p:cNvSpPr/>
          <p:nvPr/>
        </p:nvSpPr>
        <p:spPr bwMode="auto">
          <a:xfrm>
            <a:off x="1965960" y="3497580"/>
            <a:ext cx="2606040" cy="82296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667084759" name="Shape 22"/>
          <p:cNvSpPr/>
          <p:nvPr/>
        </p:nvSpPr>
        <p:spPr bwMode="auto">
          <a:xfrm>
            <a:off x="1965960" y="3497580"/>
            <a:ext cx="2606040" cy="164592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679616435" name="Shape 23"/>
          <p:cNvSpPr/>
          <p:nvPr/>
        </p:nvSpPr>
        <p:spPr bwMode="auto">
          <a:xfrm>
            <a:off x="1965960" y="4320540"/>
            <a:ext cx="2606040" cy="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179790799" name="Shape 24"/>
          <p:cNvSpPr/>
          <p:nvPr/>
        </p:nvSpPr>
        <p:spPr bwMode="auto">
          <a:xfrm>
            <a:off x="1965960" y="4320540"/>
            <a:ext cx="2606040" cy="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536296580" name="Shape 25"/>
          <p:cNvSpPr/>
          <p:nvPr/>
        </p:nvSpPr>
        <p:spPr bwMode="auto">
          <a:xfrm>
            <a:off x="1965960" y="4320540"/>
            <a:ext cx="2606040" cy="82296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1822152848" name="Shape 26"/>
          <p:cNvSpPr/>
          <p:nvPr/>
        </p:nvSpPr>
        <p:spPr bwMode="auto">
          <a:xfrm>
            <a:off x="1965960" y="5143500"/>
            <a:ext cx="2606040" cy="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93231474" name="Shape 27"/>
          <p:cNvSpPr/>
          <p:nvPr/>
        </p:nvSpPr>
        <p:spPr bwMode="auto">
          <a:xfrm>
            <a:off x="1965960" y="5143500"/>
            <a:ext cx="2606040" cy="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225138006" name="Shape 28"/>
          <p:cNvSpPr/>
          <p:nvPr/>
        </p:nvSpPr>
        <p:spPr bwMode="auto">
          <a:xfrm>
            <a:off x="1965960" y="5143500"/>
            <a:ext cx="2606040" cy="0"/>
          </a:xfrm>
          <a:prstGeom prst="line">
            <a:avLst/>
          </a:prstGeom>
          <a:noFill/>
          <a:ln w="762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273621998" name="Text 29"/>
          <p:cNvSpPr/>
          <p:nvPr/>
        </p:nvSpPr>
        <p:spPr bwMode="auto">
          <a:xfrm>
            <a:off x="54864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M × N integraciones custom</a:t>
            </a:r>
            <a:endParaRPr lang="en-US" sz="1100"/>
          </a:p>
        </p:txBody>
      </p:sp>
      <p:sp>
        <p:nvSpPr>
          <p:cNvPr id="712716354" name="Shape 30"/>
          <p:cNvSpPr/>
          <p:nvPr/>
        </p:nvSpPr>
        <p:spPr bwMode="auto">
          <a:xfrm>
            <a:off x="6172200" y="2377440"/>
            <a:ext cx="5486400" cy="3886200"/>
          </a:xfrm>
          <a:prstGeom prst="rect">
            <a:avLst/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781997642" name="Text 31"/>
          <p:cNvSpPr/>
          <p:nvPr/>
        </p:nvSpPr>
        <p:spPr bwMode="auto">
          <a:xfrm>
            <a:off x="6172200" y="2468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spc="4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CON MCP</a:t>
            </a:r>
            <a:endParaRPr lang="en-US" sz="1300"/>
          </a:p>
        </p:txBody>
      </p:sp>
      <p:sp>
        <p:nvSpPr>
          <p:cNvPr id="820960351" name="Text 32"/>
          <p:cNvSpPr/>
          <p:nvPr/>
        </p:nvSpPr>
        <p:spPr bwMode="auto">
          <a:xfrm>
            <a:off x="617220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M + N · standard protocol</a:t>
            </a:r>
            <a:endParaRPr lang="en-US" sz="1000"/>
          </a:p>
        </p:txBody>
      </p:sp>
      <p:sp>
        <p:nvSpPr>
          <p:cNvPr id="1142158031" name="Shape 33"/>
          <p:cNvSpPr/>
          <p:nvPr/>
        </p:nvSpPr>
        <p:spPr bwMode="auto">
          <a:xfrm>
            <a:off x="6400800" y="324612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806436889" name="Text 34"/>
          <p:cNvSpPr/>
          <p:nvPr/>
        </p:nvSpPr>
        <p:spPr bwMode="auto">
          <a:xfrm>
            <a:off x="6400800" y="3246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Claude</a:t>
            </a:r>
            <a:endParaRPr lang="en-US" sz="1100"/>
          </a:p>
        </p:txBody>
      </p:sp>
      <p:sp>
        <p:nvSpPr>
          <p:cNvPr id="1076254488" name="Shape 35"/>
          <p:cNvSpPr/>
          <p:nvPr/>
        </p:nvSpPr>
        <p:spPr bwMode="auto">
          <a:xfrm>
            <a:off x="6400800" y="406908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594297038" name="Text 36"/>
          <p:cNvSpPr/>
          <p:nvPr/>
        </p:nvSpPr>
        <p:spPr bwMode="auto">
          <a:xfrm>
            <a:off x="6400800" y="4069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GPT</a:t>
            </a:r>
            <a:endParaRPr lang="en-US" sz="1100"/>
          </a:p>
        </p:txBody>
      </p:sp>
      <p:sp>
        <p:nvSpPr>
          <p:cNvPr id="237952349" name="Shape 37"/>
          <p:cNvSpPr/>
          <p:nvPr/>
        </p:nvSpPr>
        <p:spPr bwMode="auto">
          <a:xfrm>
            <a:off x="6400800" y="4892039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2107337144" name="Text 38"/>
          <p:cNvSpPr/>
          <p:nvPr/>
        </p:nvSpPr>
        <p:spPr bwMode="auto">
          <a:xfrm>
            <a:off x="6400800" y="4892039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Gemini</a:t>
            </a:r>
            <a:endParaRPr lang="en-US" sz="1100"/>
          </a:p>
        </p:txBody>
      </p:sp>
      <p:sp>
        <p:nvSpPr>
          <p:cNvPr id="1169057952" name="Shape 39"/>
          <p:cNvSpPr/>
          <p:nvPr/>
        </p:nvSpPr>
        <p:spPr bwMode="auto">
          <a:xfrm>
            <a:off x="8275320" y="370332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00FF94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282878402" name="Text 40"/>
          <p:cNvSpPr/>
          <p:nvPr/>
        </p:nvSpPr>
        <p:spPr bwMode="auto">
          <a:xfrm>
            <a:off x="8275320" y="3703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 spc="300">
                <a:solidFill>
                  <a:srgbClr val="0A0E1A"/>
                </a:solidFill>
                <a:latin typeface="Consolas"/>
                <a:ea typeface="Consolas"/>
                <a:cs typeface="Consolas"/>
              </a:rPr>
              <a:t>MCP</a:t>
            </a:r>
            <a:endParaRPr lang="en-US" sz="1600"/>
          </a:p>
        </p:txBody>
      </p:sp>
      <p:sp>
        <p:nvSpPr>
          <p:cNvPr id="844327453" name="Text 41"/>
          <p:cNvSpPr/>
          <p:nvPr/>
        </p:nvSpPr>
        <p:spPr bwMode="auto">
          <a:xfrm>
            <a:off x="8275320" y="4069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i="1">
                <a:solidFill>
                  <a:srgbClr val="0A0E1A"/>
                </a:solidFill>
                <a:latin typeface="Consolas"/>
                <a:ea typeface="Consolas"/>
                <a:cs typeface="Consolas"/>
              </a:rPr>
              <a:t>protocol</a:t>
            </a:r>
            <a:endParaRPr lang="en-US" sz="900"/>
          </a:p>
        </p:txBody>
      </p:sp>
      <p:sp>
        <p:nvSpPr>
          <p:cNvPr id="1774530649" name="Shape 42"/>
          <p:cNvSpPr/>
          <p:nvPr/>
        </p:nvSpPr>
        <p:spPr bwMode="auto">
          <a:xfrm>
            <a:off x="10195560" y="324612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701870284" name="Text 43"/>
          <p:cNvSpPr/>
          <p:nvPr/>
        </p:nvSpPr>
        <p:spPr bwMode="auto">
          <a:xfrm>
            <a:off x="10195560" y="3246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Slack</a:t>
            </a:r>
            <a:endParaRPr lang="en-US" sz="1100"/>
          </a:p>
        </p:txBody>
      </p:sp>
      <p:sp>
        <p:nvSpPr>
          <p:cNvPr id="1699572019" name="Shape 44"/>
          <p:cNvSpPr/>
          <p:nvPr/>
        </p:nvSpPr>
        <p:spPr bwMode="auto">
          <a:xfrm>
            <a:off x="10195560" y="406908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302654818" name="Text 45"/>
          <p:cNvSpPr/>
          <p:nvPr/>
        </p:nvSpPr>
        <p:spPr bwMode="auto">
          <a:xfrm>
            <a:off x="10195560" y="40690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GitHub</a:t>
            </a:r>
            <a:endParaRPr lang="en-US" sz="1100"/>
          </a:p>
        </p:txBody>
      </p:sp>
      <p:sp>
        <p:nvSpPr>
          <p:cNvPr id="882987551" name="Shape 46"/>
          <p:cNvSpPr/>
          <p:nvPr/>
        </p:nvSpPr>
        <p:spPr bwMode="auto">
          <a:xfrm>
            <a:off x="10195560" y="4892039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767434094" name="Text 47"/>
          <p:cNvSpPr/>
          <p:nvPr/>
        </p:nvSpPr>
        <p:spPr bwMode="auto">
          <a:xfrm>
            <a:off x="10195560" y="4892039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Gmail</a:t>
            </a:r>
            <a:endParaRPr lang="en-US" sz="1100"/>
          </a:p>
        </p:txBody>
      </p:sp>
      <p:sp>
        <p:nvSpPr>
          <p:cNvPr id="228133316" name="Shape 48"/>
          <p:cNvSpPr/>
          <p:nvPr/>
        </p:nvSpPr>
        <p:spPr bwMode="auto">
          <a:xfrm>
            <a:off x="7589520" y="3497580"/>
            <a:ext cx="685800" cy="57150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977171802" name="Shape 49"/>
          <p:cNvSpPr/>
          <p:nvPr/>
        </p:nvSpPr>
        <p:spPr bwMode="auto">
          <a:xfrm>
            <a:off x="9555480" y="4069080"/>
            <a:ext cx="640080" cy="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1972260207" name="Shape 50"/>
          <p:cNvSpPr/>
          <p:nvPr/>
        </p:nvSpPr>
        <p:spPr bwMode="auto">
          <a:xfrm>
            <a:off x="7589520" y="4320540"/>
            <a:ext cx="685800" cy="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1960994023" name="Shape 51"/>
          <p:cNvSpPr/>
          <p:nvPr/>
        </p:nvSpPr>
        <p:spPr bwMode="auto">
          <a:xfrm>
            <a:off x="9555480" y="4069080"/>
            <a:ext cx="640080" cy="25146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1922004849" name="Shape 52"/>
          <p:cNvSpPr/>
          <p:nvPr/>
        </p:nvSpPr>
        <p:spPr bwMode="auto">
          <a:xfrm>
            <a:off x="7589520" y="5143500"/>
            <a:ext cx="685800" cy="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221686523" name="Shape 53"/>
          <p:cNvSpPr/>
          <p:nvPr/>
        </p:nvSpPr>
        <p:spPr bwMode="auto">
          <a:xfrm>
            <a:off x="9555480" y="4069080"/>
            <a:ext cx="640080" cy="107442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156207069" name="Text 54"/>
          <p:cNvSpPr/>
          <p:nvPr/>
        </p:nvSpPr>
        <p:spPr bwMode="auto">
          <a:xfrm>
            <a:off x="617220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M + N integraciones (¡suma!)</a:t>
            </a:r>
            <a:endParaRPr lang="en-US" sz="1100"/>
          </a:p>
        </p:txBody>
      </p:sp>
      <p:sp>
        <p:nvSpPr>
          <p:cNvPr id="884823207" name="Shape 55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211837671" name="Text 56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889937121" name="Text 57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16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332852" name="Text 0"/>
          <p:cNvSpPr/>
          <p:nvPr/>
        </p:nvSpPr>
        <p:spPr bwMode="auto">
          <a:xfrm>
            <a:off x="548640" y="13716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03</a:t>
            </a:r>
            <a:endParaRPr lang="en-US" sz="24000"/>
          </a:p>
        </p:txBody>
      </p:sp>
      <p:sp>
        <p:nvSpPr>
          <p:cNvPr id="1252327453" name="Shape 1"/>
          <p:cNvSpPr/>
          <p:nvPr/>
        </p:nvSpPr>
        <p:spPr bwMode="auto">
          <a:xfrm>
            <a:off x="548640" y="3657600"/>
            <a:ext cx="548640" cy="54864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0102175" name="Text 2"/>
          <p:cNvSpPr/>
          <p:nvPr/>
        </p:nvSpPr>
        <p:spPr bwMode="auto">
          <a:xfrm>
            <a:off x="5486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5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BLOQUE 03</a:t>
            </a:r>
            <a:endParaRPr lang="en-US" sz="1300"/>
          </a:p>
        </p:txBody>
      </p:sp>
      <p:sp>
        <p:nvSpPr>
          <p:cNvPr id="1625038528" name="Text 3"/>
          <p:cNvSpPr/>
          <p:nvPr/>
        </p:nvSpPr>
        <p:spPr bwMode="auto">
          <a:xfrm>
            <a:off x="548640" y="4160519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Workshop práctico</a:t>
            </a:r>
            <a:endParaRPr lang="en-US" sz="4200"/>
          </a:p>
        </p:txBody>
      </p:sp>
      <p:sp>
        <p:nvSpPr>
          <p:cNvPr id="1386719592" name="Text 5"/>
          <p:cNvSpPr/>
          <p:nvPr/>
        </p:nvSpPr>
        <p:spPr bwMode="auto"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3 casos progresivos · low-code → Python → comparación entre modelos</a:t>
            </a:r>
            <a:endParaRPr lang="en-US" sz="1300"/>
          </a:p>
        </p:txBody>
      </p:sp>
      <p:sp>
        <p:nvSpPr>
          <p:cNvPr id="1700588992" name="Shape 6"/>
          <p:cNvSpPr/>
          <p:nvPr/>
        </p:nvSpPr>
        <p:spPr bwMode="auto">
          <a:xfrm>
            <a:off x="548640" y="5943600"/>
            <a:ext cx="11064240" cy="502920"/>
          </a:xfrm>
          <a:prstGeom prst="rect">
            <a:avLst/>
          </a:prstGeom>
          <a:solidFill>
            <a:srgbClr val="131829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973347955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7240" y="6035039"/>
            <a:ext cx="320040" cy="320040"/>
          </a:xfrm>
          <a:prstGeom prst="rect">
            <a:avLst/>
          </a:prstGeom>
        </p:spPr>
      </p:pic>
      <p:sp>
        <p:nvSpPr>
          <p:cNvPr id="89371651" name="Text 7"/>
          <p:cNvSpPr/>
          <p:nvPr/>
        </p:nvSpPr>
        <p:spPr bwMode="auto">
          <a:xfrm>
            <a:off x="1234440" y="5943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Sigue paso a paso en el GitBook  ·  workbook completo con código y guías</a:t>
            </a:r>
            <a:endParaRPr lang="en-US" sz="1200"/>
          </a:p>
        </p:txBody>
      </p:sp>
      <p:sp>
        <p:nvSpPr>
          <p:cNvPr id="1733035119" name="Shape 8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534859681" name="Text 9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520113276" name="Text 10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17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214491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Caso 1 · Agente personal en low-code</a:t>
            </a:r>
            <a:endParaRPr lang="en-US" sz="3200"/>
          </a:p>
        </p:txBody>
      </p:sp>
      <p:sp>
        <p:nvSpPr>
          <p:cNvPr id="1719271873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930148309" name="Shape 3"/>
          <p:cNvSpPr/>
          <p:nvPr/>
        </p:nvSpPr>
        <p:spPr bwMode="auto">
          <a:xfrm>
            <a:off x="54864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265410060" name="Text 4"/>
          <p:cNvSpPr/>
          <p:nvPr/>
        </p:nvSpPr>
        <p:spPr bwMode="auto">
          <a:xfrm>
            <a:off x="73152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TIEMPO</a:t>
            </a:r>
            <a:endParaRPr lang="en-US" sz="900"/>
          </a:p>
        </p:txBody>
      </p:sp>
      <p:sp>
        <p:nvSpPr>
          <p:cNvPr id="1340420625" name="Text 5"/>
          <p:cNvSpPr/>
          <p:nvPr/>
        </p:nvSpPr>
        <p:spPr bwMode="auto">
          <a:xfrm>
            <a:off x="7315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12 min</a:t>
            </a:r>
            <a:endParaRPr lang="en-US" sz="1400"/>
          </a:p>
        </p:txBody>
      </p:sp>
      <p:sp>
        <p:nvSpPr>
          <p:cNvPr id="696412831" name="Shape 6"/>
          <p:cNvSpPr/>
          <p:nvPr/>
        </p:nvSpPr>
        <p:spPr bwMode="auto">
          <a:xfrm>
            <a:off x="333756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634865493" name="Text 7"/>
          <p:cNvSpPr/>
          <p:nvPr/>
        </p:nvSpPr>
        <p:spPr bwMode="auto">
          <a:xfrm>
            <a:off x="352044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STACK</a:t>
            </a:r>
            <a:endParaRPr lang="en-US" sz="900"/>
          </a:p>
        </p:txBody>
      </p:sp>
      <p:sp>
        <p:nvSpPr>
          <p:cNvPr id="2005004670" name="Text 8"/>
          <p:cNvSpPr/>
          <p:nvPr/>
        </p:nvSpPr>
        <p:spPr bwMode="auto">
          <a:xfrm>
            <a:off x="35204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n8n</a:t>
            </a:r>
            <a:endParaRPr lang="en-US" sz="1400"/>
          </a:p>
        </p:txBody>
      </p:sp>
      <p:sp>
        <p:nvSpPr>
          <p:cNvPr id="38613775" name="Shape 9"/>
          <p:cNvSpPr/>
          <p:nvPr/>
        </p:nvSpPr>
        <p:spPr bwMode="auto">
          <a:xfrm>
            <a:off x="612648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219440012" name="Text 10"/>
          <p:cNvSpPr/>
          <p:nvPr/>
        </p:nvSpPr>
        <p:spPr bwMode="auto">
          <a:xfrm>
            <a:off x="630936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DIFICULTAD</a:t>
            </a:r>
            <a:endParaRPr lang="en-US" sz="900"/>
          </a:p>
        </p:txBody>
      </p:sp>
      <p:sp>
        <p:nvSpPr>
          <p:cNvPr id="763866490" name="Text 11"/>
          <p:cNvSpPr/>
          <p:nvPr/>
        </p:nvSpPr>
        <p:spPr bwMode="auto">
          <a:xfrm>
            <a:off x="630936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★☆☆</a:t>
            </a:r>
            <a:endParaRPr lang="en-US" sz="1400"/>
          </a:p>
        </p:txBody>
      </p:sp>
      <p:sp>
        <p:nvSpPr>
          <p:cNvPr id="2059976707" name="Shape 12"/>
          <p:cNvSpPr/>
          <p:nvPr/>
        </p:nvSpPr>
        <p:spPr bwMode="auto">
          <a:xfrm>
            <a:off x="891540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646969540" name="Text 13"/>
          <p:cNvSpPr/>
          <p:nvPr/>
        </p:nvSpPr>
        <p:spPr bwMode="auto">
          <a:xfrm>
            <a:off x="909828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AUDIENCIA</a:t>
            </a:r>
            <a:endParaRPr lang="en-US" sz="900"/>
          </a:p>
        </p:txBody>
      </p:sp>
      <p:sp>
        <p:nvSpPr>
          <p:cNvPr id="544893071" name="Text 14"/>
          <p:cNvSpPr/>
          <p:nvPr/>
        </p:nvSpPr>
        <p:spPr bwMode="auto">
          <a:xfrm>
            <a:off x="90982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Todos</a:t>
            </a:r>
            <a:endParaRPr lang="en-US" sz="1400"/>
          </a:p>
        </p:txBody>
      </p:sp>
      <p:sp>
        <p:nvSpPr>
          <p:cNvPr id="303017240" name="Shape 15"/>
          <p:cNvSpPr/>
          <p:nvPr/>
        </p:nvSpPr>
        <p:spPr bwMode="auto">
          <a:xfrm>
            <a:off x="548640" y="2331720"/>
            <a:ext cx="11064240" cy="50292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526044589" name="Text 16"/>
          <p:cNvSpPr/>
          <p:nvPr/>
        </p:nvSpPr>
        <p:spPr bwMode="auto">
          <a:xfrm>
            <a:off x="777240" y="2331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OBJETIVO  ·  </a:t>
            </a: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Crear un agente que lea correos no leídos, los clasifique por urgencia y cree tareas en Notion/Trello.</a:t>
            </a:r>
            <a:endParaRPr lang="en-US" sz="1200"/>
          </a:p>
        </p:txBody>
      </p:sp>
      <p:sp>
        <p:nvSpPr>
          <p:cNvPr id="1072542287" name="Shape 17"/>
          <p:cNvSpPr/>
          <p:nvPr/>
        </p:nvSpPr>
        <p:spPr bwMode="auto">
          <a:xfrm>
            <a:off x="929488" y="3108960"/>
            <a:ext cx="1920240" cy="137160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2007539609" name="Shape 18"/>
          <p:cNvSpPr/>
          <p:nvPr/>
        </p:nvSpPr>
        <p:spPr bwMode="auto">
          <a:xfrm>
            <a:off x="929488" y="3108960"/>
            <a:ext cx="1920240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441048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615288" y="3337560"/>
            <a:ext cx="548640" cy="548640"/>
          </a:xfrm>
          <a:prstGeom prst="rect">
            <a:avLst/>
          </a:prstGeom>
        </p:spPr>
      </p:pic>
      <p:sp>
        <p:nvSpPr>
          <p:cNvPr id="40053059" name="Text 19"/>
          <p:cNvSpPr/>
          <p:nvPr/>
        </p:nvSpPr>
        <p:spPr bwMode="auto">
          <a:xfrm>
            <a:off x="929488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Gmail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Trigger</a:t>
            </a:r>
            <a:endParaRPr lang="en-US" sz="1100"/>
          </a:p>
        </p:txBody>
      </p:sp>
      <p:sp>
        <p:nvSpPr>
          <p:cNvPr id="1875439805" name="Text 20"/>
          <p:cNvSpPr/>
          <p:nvPr/>
        </p:nvSpPr>
        <p:spPr bwMode="auto">
          <a:xfrm>
            <a:off x="2858872" y="3611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400"/>
          </a:p>
        </p:txBody>
      </p:sp>
      <p:sp>
        <p:nvSpPr>
          <p:cNvPr id="727334001" name="Shape 21"/>
          <p:cNvSpPr/>
          <p:nvPr/>
        </p:nvSpPr>
        <p:spPr bwMode="auto">
          <a:xfrm>
            <a:off x="3032608" y="3108960"/>
            <a:ext cx="1920240" cy="1371600"/>
          </a:xfrm>
          <a:prstGeom prst="rect">
            <a:avLst/>
          </a:prstGeom>
          <a:solidFill>
            <a:srgbClr val="131829"/>
          </a:solidFill>
          <a:ln w="19050">
            <a:solidFill>
              <a:srgbClr val="00FF94"/>
            </a:solidFill>
            <a:prstDash val="solid"/>
          </a:ln>
        </p:spPr>
      </p:sp>
      <p:sp>
        <p:nvSpPr>
          <p:cNvPr id="961905423" name="Shape 22"/>
          <p:cNvSpPr/>
          <p:nvPr/>
        </p:nvSpPr>
        <p:spPr bwMode="auto">
          <a:xfrm>
            <a:off x="3032608" y="3108960"/>
            <a:ext cx="1920240" cy="54864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90019079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718408" y="3337560"/>
            <a:ext cx="548640" cy="548640"/>
          </a:xfrm>
          <a:prstGeom prst="rect">
            <a:avLst/>
          </a:prstGeom>
        </p:spPr>
      </p:pic>
      <p:sp>
        <p:nvSpPr>
          <p:cNvPr id="1650726511" name="Text 23"/>
          <p:cNvSpPr/>
          <p:nvPr/>
        </p:nvSpPr>
        <p:spPr bwMode="auto">
          <a:xfrm>
            <a:off x="3032608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AI Agent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(Classifier)</a:t>
            </a:r>
            <a:endParaRPr lang="en-US" sz="1100"/>
          </a:p>
        </p:txBody>
      </p:sp>
      <p:sp>
        <p:nvSpPr>
          <p:cNvPr id="1129912374" name="Text 24"/>
          <p:cNvSpPr/>
          <p:nvPr/>
        </p:nvSpPr>
        <p:spPr bwMode="auto">
          <a:xfrm>
            <a:off x="4961992" y="3611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400"/>
          </a:p>
        </p:txBody>
      </p:sp>
      <p:sp>
        <p:nvSpPr>
          <p:cNvPr id="451712175" name="Shape 25"/>
          <p:cNvSpPr/>
          <p:nvPr/>
        </p:nvSpPr>
        <p:spPr bwMode="auto">
          <a:xfrm>
            <a:off x="5135728" y="3108960"/>
            <a:ext cx="1920240" cy="1371600"/>
          </a:xfrm>
          <a:prstGeom prst="rect">
            <a:avLst/>
          </a:prstGeom>
          <a:solidFill>
            <a:srgbClr val="131829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150121330" name="Shape 26"/>
          <p:cNvSpPr/>
          <p:nvPr/>
        </p:nvSpPr>
        <p:spPr bwMode="auto">
          <a:xfrm>
            <a:off x="5135728" y="3108960"/>
            <a:ext cx="192024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76547757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895479609" name="Text 27"/>
          <p:cNvSpPr/>
          <p:nvPr/>
        </p:nvSpPr>
        <p:spPr bwMode="auto">
          <a:xfrm>
            <a:off x="5135728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Switch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by urgency</a:t>
            </a:r>
            <a:endParaRPr lang="en-US" sz="1100"/>
          </a:p>
        </p:txBody>
      </p:sp>
      <p:sp>
        <p:nvSpPr>
          <p:cNvPr id="1305540537" name="Text 28"/>
          <p:cNvSpPr/>
          <p:nvPr/>
        </p:nvSpPr>
        <p:spPr bwMode="auto">
          <a:xfrm>
            <a:off x="7065112" y="3611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400"/>
          </a:p>
        </p:txBody>
      </p:sp>
      <p:sp>
        <p:nvSpPr>
          <p:cNvPr id="1967501343" name="Shape 29"/>
          <p:cNvSpPr/>
          <p:nvPr/>
        </p:nvSpPr>
        <p:spPr bwMode="auto">
          <a:xfrm>
            <a:off x="7238848" y="3108960"/>
            <a:ext cx="1920240" cy="1371600"/>
          </a:xfrm>
          <a:prstGeom prst="rect">
            <a:avLst/>
          </a:prstGeom>
          <a:solidFill>
            <a:srgbClr val="131829"/>
          </a:solidFill>
          <a:ln w="19050">
            <a:solidFill>
              <a:srgbClr val="B026FF"/>
            </a:solidFill>
            <a:prstDash val="solid"/>
          </a:ln>
        </p:spPr>
      </p:sp>
      <p:sp>
        <p:nvSpPr>
          <p:cNvPr id="431817593" name="Shape 30"/>
          <p:cNvSpPr/>
          <p:nvPr/>
        </p:nvSpPr>
        <p:spPr bwMode="auto">
          <a:xfrm>
            <a:off x="7238848" y="3108960"/>
            <a:ext cx="1920240" cy="54864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343555907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924648" y="3337560"/>
            <a:ext cx="548640" cy="548640"/>
          </a:xfrm>
          <a:prstGeom prst="rect">
            <a:avLst/>
          </a:prstGeom>
        </p:spPr>
      </p:pic>
      <p:sp>
        <p:nvSpPr>
          <p:cNvPr id="1971666354" name="Text 31"/>
          <p:cNvSpPr/>
          <p:nvPr/>
        </p:nvSpPr>
        <p:spPr bwMode="auto">
          <a:xfrm>
            <a:off x="7238848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Create Task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Notion/Trello</a:t>
            </a:r>
            <a:endParaRPr lang="en-US" sz="1100"/>
          </a:p>
        </p:txBody>
      </p:sp>
      <p:sp>
        <p:nvSpPr>
          <p:cNvPr id="109664045" name="Text 32"/>
          <p:cNvSpPr/>
          <p:nvPr/>
        </p:nvSpPr>
        <p:spPr bwMode="auto">
          <a:xfrm>
            <a:off x="9168232" y="3611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00D9FF"/>
                </a:solidFill>
                <a:latin typeface="Calibri"/>
                <a:ea typeface="Calibri"/>
                <a:cs typeface="Calibri"/>
              </a:rPr>
              <a:t>▶</a:t>
            </a:r>
            <a:endParaRPr lang="en-US" sz="1400"/>
          </a:p>
        </p:txBody>
      </p:sp>
      <p:sp>
        <p:nvSpPr>
          <p:cNvPr id="359261717" name="Shape 33"/>
          <p:cNvSpPr/>
          <p:nvPr/>
        </p:nvSpPr>
        <p:spPr bwMode="auto">
          <a:xfrm>
            <a:off x="9341968" y="3108960"/>
            <a:ext cx="1920240" cy="137160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525016822" name="Shape 34"/>
          <p:cNvSpPr/>
          <p:nvPr/>
        </p:nvSpPr>
        <p:spPr bwMode="auto">
          <a:xfrm>
            <a:off x="9341968" y="3108960"/>
            <a:ext cx="1920240" cy="54864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94651292" name="Image 4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10027768" y="3337560"/>
            <a:ext cx="548640" cy="548640"/>
          </a:xfrm>
          <a:prstGeom prst="rect">
            <a:avLst/>
          </a:prstGeom>
        </p:spPr>
      </p:pic>
      <p:sp>
        <p:nvSpPr>
          <p:cNvPr id="377131758" name="Text 35"/>
          <p:cNvSpPr/>
          <p:nvPr/>
        </p:nvSpPr>
        <p:spPr bwMode="auto">
          <a:xfrm>
            <a:off x="9341968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Slack</a:t>
            </a:r>
            <a:endParaRPr lang="en-US" sz="1100"/>
          </a:p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Notify</a:t>
            </a:r>
            <a:endParaRPr lang="en-US" sz="1100"/>
          </a:p>
        </p:txBody>
      </p:sp>
      <p:sp>
        <p:nvSpPr>
          <p:cNvPr id="1485713584" name="Shape 36"/>
          <p:cNvSpPr/>
          <p:nvPr/>
        </p:nvSpPr>
        <p:spPr bwMode="auto">
          <a:xfrm>
            <a:off x="548640" y="4937760"/>
            <a:ext cx="5440680" cy="13258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pic>
        <p:nvPicPr>
          <p:cNvPr id="1470563163" name="Image 5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088861600" name="Text 37"/>
          <p:cNvSpPr/>
          <p:nvPr/>
        </p:nvSpPr>
        <p:spPr bwMode="auto">
          <a:xfrm>
            <a:off x="12344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CONCEPTO QUE ENSEÑA</a:t>
            </a:r>
            <a:endParaRPr lang="en-US" sz="1100"/>
          </a:p>
        </p:txBody>
      </p:sp>
      <p:sp>
        <p:nvSpPr>
          <p:cNvPr id="1334102893" name="Text 38"/>
          <p:cNvSpPr/>
          <p:nvPr/>
        </p:nvSpPr>
        <p:spPr bwMode="auto">
          <a:xfrm>
            <a:off x="777240" y="5440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Tool Use básico, sin escribir código.</a:t>
            </a:r>
            <a:endParaRPr lang="en-US" sz="1200"/>
          </a:p>
        </p:txBody>
      </p:sp>
      <p:sp>
        <p:nvSpPr>
          <p:cNvPr id="778224197" name="Text 39"/>
          <p:cNvSpPr/>
          <p:nvPr/>
        </p:nvSpPr>
        <p:spPr bwMode="auto">
          <a:xfrm>
            <a:off x="777240" y="5760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 agente decide la herramienta a invocar a partir del contenido del correo.</a:t>
            </a:r>
            <a:endParaRPr lang="en-US" sz="1100"/>
          </a:p>
        </p:txBody>
      </p:sp>
      <p:sp>
        <p:nvSpPr>
          <p:cNvPr id="1136822849" name="Shape 40"/>
          <p:cNvSpPr/>
          <p:nvPr/>
        </p:nvSpPr>
        <p:spPr bwMode="auto">
          <a:xfrm>
            <a:off x="6172200" y="4937760"/>
            <a:ext cx="5440680" cy="13258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pic>
        <p:nvPicPr>
          <p:cNvPr id="2091497096" name="Image 6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6400800" y="5074920"/>
            <a:ext cx="365760" cy="365760"/>
          </a:xfrm>
          <a:prstGeom prst="rect">
            <a:avLst/>
          </a:prstGeom>
        </p:spPr>
      </p:pic>
      <p:sp>
        <p:nvSpPr>
          <p:cNvPr id="1243768406" name="Text 41"/>
          <p:cNvSpPr/>
          <p:nvPr/>
        </p:nvSpPr>
        <p:spPr bwMode="auto">
          <a:xfrm>
            <a:off x="685800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POR QUÉ EMPEZAR AQUÍ</a:t>
            </a:r>
            <a:endParaRPr lang="en-US" sz="1100"/>
          </a:p>
        </p:txBody>
      </p:sp>
      <p:sp>
        <p:nvSpPr>
          <p:cNvPr id="2073239623" name="Text 42"/>
          <p:cNvSpPr/>
          <p:nvPr/>
        </p:nvSpPr>
        <p:spPr bwMode="auto">
          <a:xfrm>
            <a:off x="6400800" y="5440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No técnicos no se pierden. Técnicos ven la velocidad del prototipado.</a:t>
            </a:r>
            <a:endParaRPr lang="en-US" sz="1200"/>
          </a:p>
        </p:txBody>
      </p:sp>
      <p:sp>
        <p:nvSpPr>
          <p:cNvPr id="181060846" name="Text 43"/>
          <p:cNvSpPr/>
          <p:nvPr/>
        </p:nvSpPr>
        <p:spPr bwMode="auto">
          <a:xfrm>
            <a:off x="6400800" y="5852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→ Misma lógica que veremos luego en código.</a:t>
            </a:r>
            <a:endParaRPr lang="en-US" sz="1100"/>
          </a:p>
        </p:txBody>
      </p:sp>
      <p:sp>
        <p:nvSpPr>
          <p:cNvPr id="1484011747" name="Shape 44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875417732" name="Text 45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295713749" name="Text 46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18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060265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Caso 2 · Python + Claude Tool Use</a:t>
            </a:r>
            <a:endParaRPr lang="en-US" sz="3200"/>
          </a:p>
        </p:txBody>
      </p:sp>
      <p:sp>
        <p:nvSpPr>
          <p:cNvPr id="1520807718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712827021" name="Shape 3"/>
          <p:cNvSpPr/>
          <p:nvPr/>
        </p:nvSpPr>
        <p:spPr bwMode="auto">
          <a:xfrm>
            <a:off x="54864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488892700" name="Text 4"/>
          <p:cNvSpPr/>
          <p:nvPr/>
        </p:nvSpPr>
        <p:spPr bwMode="auto">
          <a:xfrm>
            <a:off x="73152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TIEMPO</a:t>
            </a:r>
            <a:endParaRPr lang="en-US" sz="900"/>
          </a:p>
        </p:txBody>
      </p:sp>
      <p:sp>
        <p:nvSpPr>
          <p:cNvPr id="1179725974" name="Text 5"/>
          <p:cNvSpPr/>
          <p:nvPr/>
        </p:nvSpPr>
        <p:spPr bwMode="auto">
          <a:xfrm>
            <a:off x="7315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14 min</a:t>
            </a:r>
            <a:endParaRPr lang="en-US" sz="1300"/>
          </a:p>
        </p:txBody>
      </p:sp>
      <p:sp>
        <p:nvSpPr>
          <p:cNvPr id="1006616757" name="Shape 6"/>
          <p:cNvSpPr/>
          <p:nvPr/>
        </p:nvSpPr>
        <p:spPr bwMode="auto">
          <a:xfrm>
            <a:off x="333756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45313188" name="Text 7"/>
          <p:cNvSpPr/>
          <p:nvPr/>
        </p:nvSpPr>
        <p:spPr bwMode="auto">
          <a:xfrm>
            <a:off x="352044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STACK</a:t>
            </a:r>
            <a:endParaRPr lang="en-US" sz="900"/>
          </a:p>
        </p:txBody>
      </p:sp>
      <p:sp>
        <p:nvSpPr>
          <p:cNvPr id="378407050" name="Text 8"/>
          <p:cNvSpPr/>
          <p:nvPr/>
        </p:nvSpPr>
        <p:spPr bwMode="auto">
          <a:xfrm>
            <a:off x="35204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+ Claude API</a:t>
            </a:r>
            <a:endParaRPr lang="en-US" sz="1300"/>
          </a:p>
        </p:txBody>
      </p:sp>
      <p:sp>
        <p:nvSpPr>
          <p:cNvPr id="1931305844" name="Shape 9"/>
          <p:cNvSpPr/>
          <p:nvPr/>
        </p:nvSpPr>
        <p:spPr bwMode="auto">
          <a:xfrm>
            <a:off x="612648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828877911" name="Text 10"/>
          <p:cNvSpPr/>
          <p:nvPr/>
        </p:nvSpPr>
        <p:spPr bwMode="auto">
          <a:xfrm>
            <a:off x="630936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DIFICULTAD</a:t>
            </a:r>
            <a:endParaRPr lang="en-US" sz="900"/>
          </a:p>
        </p:txBody>
      </p:sp>
      <p:sp>
        <p:nvSpPr>
          <p:cNvPr id="440397746" name="Text 11"/>
          <p:cNvSpPr/>
          <p:nvPr/>
        </p:nvSpPr>
        <p:spPr bwMode="auto">
          <a:xfrm>
            <a:off x="630936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★★☆</a:t>
            </a:r>
            <a:endParaRPr lang="en-US" sz="1300"/>
          </a:p>
        </p:txBody>
      </p:sp>
      <p:sp>
        <p:nvSpPr>
          <p:cNvPr id="807535301" name="Shape 12"/>
          <p:cNvSpPr/>
          <p:nvPr/>
        </p:nvSpPr>
        <p:spPr bwMode="auto">
          <a:xfrm>
            <a:off x="891540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2029169768" name="Text 13"/>
          <p:cNvSpPr/>
          <p:nvPr/>
        </p:nvSpPr>
        <p:spPr bwMode="auto">
          <a:xfrm>
            <a:off x="909828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AUDIENCIA</a:t>
            </a:r>
            <a:endParaRPr lang="en-US" sz="900"/>
          </a:p>
        </p:txBody>
      </p:sp>
      <p:sp>
        <p:nvSpPr>
          <p:cNvPr id="176693731" name="Text 14"/>
          <p:cNvSpPr/>
          <p:nvPr/>
        </p:nvSpPr>
        <p:spPr bwMode="auto">
          <a:xfrm>
            <a:off x="90982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Técnica</a:t>
            </a:r>
            <a:endParaRPr lang="en-US" sz="1300"/>
          </a:p>
        </p:txBody>
      </p:sp>
      <p:sp>
        <p:nvSpPr>
          <p:cNvPr id="1844154584" name="Shape 15"/>
          <p:cNvSpPr/>
          <p:nvPr/>
        </p:nvSpPr>
        <p:spPr bwMode="auto">
          <a:xfrm>
            <a:off x="548640" y="2331720"/>
            <a:ext cx="6858000" cy="3931920"/>
          </a:xfrm>
          <a:prstGeom prst="rect">
            <a:avLst/>
          </a:prstGeom>
          <a:solidFill>
            <a:srgbClr val="050810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135667862" name="Shape 16"/>
          <p:cNvSpPr/>
          <p:nvPr/>
        </p:nvSpPr>
        <p:spPr bwMode="auto">
          <a:xfrm>
            <a:off x="548640" y="2331720"/>
            <a:ext cx="6858000" cy="365760"/>
          </a:xfrm>
          <a:prstGeom prst="rect">
            <a:avLst/>
          </a:prstGeom>
          <a:solidFill>
            <a:srgbClr val="1318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2115974" name="Shape 17"/>
          <p:cNvSpPr/>
          <p:nvPr/>
        </p:nvSpPr>
        <p:spPr bwMode="auto">
          <a:xfrm>
            <a:off x="685800" y="2423160"/>
            <a:ext cx="164592" cy="16459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0662050" name="Shape 18"/>
          <p:cNvSpPr/>
          <p:nvPr/>
        </p:nvSpPr>
        <p:spPr bwMode="auto">
          <a:xfrm>
            <a:off x="896112" y="2423160"/>
            <a:ext cx="164592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15678" name="Shape 19"/>
          <p:cNvSpPr/>
          <p:nvPr/>
        </p:nvSpPr>
        <p:spPr bwMode="auto">
          <a:xfrm>
            <a:off x="1106424" y="2423160"/>
            <a:ext cx="164592" cy="16459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9104179" name="Text 20"/>
          <p:cNvSpPr/>
          <p:nvPr/>
        </p:nvSpPr>
        <p:spPr bwMode="auto">
          <a:xfrm>
            <a:off x="548640" y="23317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agent.py</a:t>
            </a:r>
            <a:endParaRPr lang="en-US" sz="1100"/>
          </a:p>
        </p:txBody>
      </p:sp>
      <p:sp>
        <p:nvSpPr>
          <p:cNvPr id="978622788" name="Text 21"/>
          <p:cNvSpPr/>
          <p:nvPr/>
        </p:nvSpPr>
        <p:spPr bwMode="auto">
          <a:xfrm>
            <a:off x="777240" y="27889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from anthropic import Anthropic</a:t>
            </a:r>
            <a:endParaRPr lang="en-US" sz="1050"/>
          </a:p>
        </p:txBody>
      </p:sp>
      <p:sp>
        <p:nvSpPr>
          <p:cNvPr id="40309355" name="Text 22"/>
          <p:cNvSpPr/>
          <p:nvPr/>
        </p:nvSpPr>
        <p:spPr bwMode="auto">
          <a:xfrm>
            <a:off x="777240" y="297637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client = Anthropic()</a:t>
            </a:r>
            <a:endParaRPr lang="en-US" sz="1050"/>
          </a:p>
        </p:txBody>
      </p:sp>
      <p:sp>
        <p:nvSpPr>
          <p:cNvPr id="341854073" name="Text 23"/>
          <p:cNvSpPr/>
          <p:nvPr/>
        </p:nvSpPr>
        <p:spPr bwMode="auto">
          <a:xfrm>
            <a:off x="777240" y="31638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1736550390" name="Text 24"/>
          <p:cNvSpPr/>
          <p:nvPr/>
        </p:nvSpPr>
        <p:spPr bwMode="auto">
          <a:xfrm>
            <a:off x="777240" y="335127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tools = [</a:t>
            </a:r>
            <a:endParaRPr lang="en-US" sz="1050"/>
          </a:p>
        </p:txBody>
      </p:sp>
      <p:sp>
        <p:nvSpPr>
          <p:cNvPr id="687060104" name="Text 25"/>
          <p:cNvSpPr/>
          <p:nvPr/>
        </p:nvSpPr>
        <p:spPr bwMode="auto">
          <a:xfrm>
            <a:off x="777240" y="35387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{"name": "leer_correos",</a:t>
            </a:r>
            <a:endParaRPr lang="en-US" sz="1050"/>
          </a:p>
        </p:txBody>
      </p:sp>
      <p:sp>
        <p:nvSpPr>
          <p:cNvPr id="1350898274" name="Text 26"/>
          <p:cNvSpPr/>
          <p:nvPr/>
        </p:nvSpPr>
        <p:spPr bwMode="auto">
          <a:xfrm>
            <a:off x="777240" y="37261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"description": "Lee correos no leidos",</a:t>
            </a:r>
            <a:endParaRPr lang="en-US" sz="1050"/>
          </a:p>
        </p:txBody>
      </p:sp>
      <p:sp>
        <p:nvSpPr>
          <p:cNvPr id="1773477185" name="Text 27"/>
          <p:cNvSpPr/>
          <p:nvPr/>
        </p:nvSpPr>
        <p:spPr bwMode="auto">
          <a:xfrm>
            <a:off x="777240" y="391363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"input_schema": {...}},</a:t>
            </a:r>
            <a:endParaRPr lang="en-US" sz="1050"/>
          </a:p>
        </p:txBody>
      </p:sp>
      <p:sp>
        <p:nvSpPr>
          <p:cNvPr id="346762535" name="Text 28"/>
          <p:cNvSpPr/>
          <p:nvPr/>
        </p:nvSpPr>
        <p:spPr bwMode="auto">
          <a:xfrm>
            <a:off x="777240" y="410108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{"name": "crear_tarea",</a:t>
            </a:r>
            <a:endParaRPr lang="en-US" sz="1050"/>
          </a:p>
        </p:txBody>
      </p:sp>
      <p:sp>
        <p:nvSpPr>
          <p:cNvPr id="792642650" name="Text 29"/>
          <p:cNvSpPr/>
          <p:nvPr/>
        </p:nvSpPr>
        <p:spPr bwMode="auto">
          <a:xfrm>
            <a:off x="777240" y="42885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"description": "Crea tarea en Notion",</a:t>
            </a:r>
            <a:endParaRPr lang="en-US" sz="1050"/>
          </a:p>
        </p:txBody>
      </p:sp>
      <p:sp>
        <p:nvSpPr>
          <p:cNvPr id="82702166" name="Text 30"/>
          <p:cNvSpPr/>
          <p:nvPr/>
        </p:nvSpPr>
        <p:spPr bwMode="auto">
          <a:xfrm>
            <a:off x="777240" y="44759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"input_schema": {...}},</a:t>
            </a:r>
            <a:endParaRPr lang="en-US" sz="1050"/>
          </a:p>
        </p:txBody>
      </p:sp>
      <p:sp>
        <p:nvSpPr>
          <p:cNvPr id="1179726755" name="Text 31"/>
          <p:cNvSpPr/>
          <p:nvPr/>
        </p:nvSpPr>
        <p:spPr bwMode="auto">
          <a:xfrm>
            <a:off x="777240" y="466344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]</a:t>
            </a:r>
            <a:endParaRPr lang="en-US" sz="1050"/>
          </a:p>
        </p:txBody>
      </p:sp>
      <p:sp>
        <p:nvSpPr>
          <p:cNvPr id="773757582" name="Text 32"/>
          <p:cNvSpPr/>
          <p:nvPr/>
        </p:nvSpPr>
        <p:spPr bwMode="auto">
          <a:xfrm>
            <a:off x="777240" y="48508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158492364" name="Text 33"/>
          <p:cNvSpPr/>
          <p:nvPr/>
        </p:nvSpPr>
        <p:spPr bwMode="auto">
          <a:xfrm>
            <a:off x="777240" y="503834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response = client.messages.create(</a:t>
            </a:r>
            <a:endParaRPr lang="en-US" sz="1050"/>
          </a:p>
        </p:txBody>
      </p:sp>
      <p:sp>
        <p:nvSpPr>
          <p:cNvPr id="383733868" name="Text 34"/>
          <p:cNvSpPr/>
          <p:nvPr/>
        </p:nvSpPr>
        <p:spPr bwMode="auto">
          <a:xfrm>
            <a:off x="777240" y="522579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model="claude-opus-4-7",</a:t>
            </a:r>
            <a:endParaRPr lang="en-US" sz="1050"/>
          </a:p>
        </p:txBody>
      </p:sp>
      <p:sp>
        <p:nvSpPr>
          <p:cNvPr id="250593337" name="Text 35"/>
          <p:cNvSpPr/>
          <p:nvPr/>
        </p:nvSpPr>
        <p:spPr bwMode="auto">
          <a:xfrm>
            <a:off x="777240" y="5413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tools=tools,</a:t>
            </a:r>
            <a:endParaRPr lang="en-US" sz="1050"/>
          </a:p>
        </p:txBody>
      </p:sp>
      <p:sp>
        <p:nvSpPr>
          <p:cNvPr id="1741382036" name="Text 36"/>
          <p:cNvSpPr/>
          <p:nvPr/>
        </p:nvSpPr>
        <p:spPr bwMode="auto">
          <a:xfrm>
            <a:off x="777240" y="560070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messages=[{"role":"user",</a:t>
            </a:r>
            <a:endParaRPr lang="en-US" sz="1050"/>
          </a:p>
        </p:txBody>
      </p:sp>
      <p:sp>
        <p:nvSpPr>
          <p:cNvPr id="564504763" name="Text 37"/>
          <p:cNvSpPr/>
          <p:nvPr/>
        </p:nvSpPr>
        <p:spPr bwMode="auto">
          <a:xfrm>
            <a:off x="777240" y="57881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     "content": user_input}]</a:t>
            </a:r>
            <a:endParaRPr lang="en-US" sz="1050"/>
          </a:p>
        </p:txBody>
      </p:sp>
      <p:sp>
        <p:nvSpPr>
          <p:cNvPr id="1988641107" name="Text 38"/>
          <p:cNvSpPr/>
          <p:nvPr/>
        </p:nvSpPr>
        <p:spPr bwMode="auto">
          <a:xfrm>
            <a:off x="777240" y="59756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)</a:t>
            </a:r>
            <a:endParaRPr lang="en-US" sz="1050"/>
          </a:p>
        </p:txBody>
      </p:sp>
      <p:sp>
        <p:nvSpPr>
          <p:cNvPr id="512898686" name="Shape 39"/>
          <p:cNvSpPr/>
          <p:nvPr/>
        </p:nvSpPr>
        <p:spPr bwMode="auto">
          <a:xfrm>
            <a:off x="7589520" y="2331720"/>
            <a:ext cx="4023360" cy="3931920"/>
          </a:xfrm>
          <a:prstGeom prst="rect">
            <a:avLst/>
          </a:prstGeom>
          <a:solidFill>
            <a:srgbClr val="131829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669925282" name="Text 40"/>
          <p:cNvSpPr/>
          <p:nvPr/>
        </p:nvSpPr>
        <p:spPr bwMode="auto">
          <a:xfrm>
            <a:off x="758952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EL LOOP DE TOOL USE</a:t>
            </a:r>
            <a:endParaRPr lang="en-US" sz="1200"/>
          </a:p>
        </p:txBody>
      </p:sp>
      <p:sp>
        <p:nvSpPr>
          <p:cNvPr id="1248160997" name="Shape 41"/>
          <p:cNvSpPr/>
          <p:nvPr/>
        </p:nvSpPr>
        <p:spPr bwMode="auto">
          <a:xfrm>
            <a:off x="7726680" y="2926080"/>
            <a:ext cx="36576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233364368" name="Text 42"/>
          <p:cNvSpPr/>
          <p:nvPr/>
        </p:nvSpPr>
        <p:spPr bwMode="auto">
          <a:xfrm>
            <a:off x="77266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1200"/>
          </a:p>
        </p:txBody>
      </p:sp>
      <p:sp>
        <p:nvSpPr>
          <p:cNvPr id="1936118672" name="Text 43"/>
          <p:cNvSpPr/>
          <p:nvPr/>
        </p:nvSpPr>
        <p:spPr bwMode="auto">
          <a:xfrm>
            <a:off x="8183880" y="29260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user message</a:t>
            </a:r>
            <a:endParaRPr lang="en-US" sz="1100"/>
          </a:p>
        </p:txBody>
      </p:sp>
      <p:sp>
        <p:nvSpPr>
          <p:cNvPr id="1339807669" name="Text 44"/>
          <p:cNvSpPr/>
          <p:nvPr/>
        </p:nvSpPr>
        <p:spPr bwMode="auto">
          <a:xfrm>
            <a:off x="8183880" y="313639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"Procesa mis correos"</a:t>
            </a:r>
            <a:endParaRPr lang="en-US" sz="900"/>
          </a:p>
        </p:txBody>
      </p:sp>
      <p:sp>
        <p:nvSpPr>
          <p:cNvPr id="113655648" name="Shape 45"/>
          <p:cNvSpPr/>
          <p:nvPr/>
        </p:nvSpPr>
        <p:spPr bwMode="auto">
          <a:xfrm>
            <a:off x="7726680" y="3566160"/>
            <a:ext cx="36576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177632409" name="Text 46"/>
          <p:cNvSpPr/>
          <p:nvPr/>
        </p:nvSpPr>
        <p:spPr bwMode="auto">
          <a:xfrm>
            <a:off x="772668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1200"/>
          </a:p>
        </p:txBody>
      </p:sp>
      <p:sp>
        <p:nvSpPr>
          <p:cNvPr id="71122078" name="Text 47"/>
          <p:cNvSpPr/>
          <p:nvPr/>
        </p:nvSpPr>
        <p:spPr bwMode="auto">
          <a:xfrm>
            <a:off x="8183880" y="35661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claude responds</a:t>
            </a:r>
            <a:endParaRPr lang="en-US" sz="1100"/>
          </a:p>
        </p:txBody>
      </p:sp>
      <p:sp>
        <p:nvSpPr>
          <p:cNvPr id="1956830567" name="Text 48"/>
          <p:cNvSpPr/>
          <p:nvPr/>
        </p:nvSpPr>
        <p:spPr bwMode="auto">
          <a:xfrm>
            <a:off x="8183880" y="377647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tool_use: leer_correos</a:t>
            </a:r>
            <a:endParaRPr lang="en-US" sz="900"/>
          </a:p>
        </p:txBody>
      </p:sp>
      <p:sp>
        <p:nvSpPr>
          <p:cNvPr id="1957056598" name="Shape 49"/>
          <p:cNvSpPr/>
          <p:nvPr/>
        </p:nvSpPr>
        <p:spPr bwMode="auto">
          <a:xfrm>
            <a:off x="7726680" y="4206240"/>
            <a:ext cx="36576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155398523" name="Text 50"/>
          <p:cNvSpPr/>
          <p:nvPr/>
        </p:nvSpPr>
        <p:spPr bwMode="auto">
          <a:xfrm>
            <a:off x="772668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1200"/>
          </a:p>
        </p:txBody>
      </p:sp>
      <p:sp>
        <p:nvSpPr>
          <p:cNvPr id="1956452162" name="Text 51"/>
          <p:cNvSpPr/>
          <p:nvPr/>
        </p:nvSpPr>
        <p:spPr bwMode="auto">
          <a:xfrm>
            <a:off x="8183880" y="42062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you execute tool</a:t>
            </a:r>
            <a:endParaRPr lang="en-US" sz="1100"/>
          </a:p>
        </p:txBody>
      </p:sp>
      <p:sp>
        <p:nvSpPr>
          <p:cNvPr id="456890601" name="Text 52"/>
          <p:cNvSpPr/>
          <p:nvPr/>
        </p:nvSpPr>
        <p:spPr bwMode="auto">
          <a:xfrm>
            <a:off x="8183880" y="441655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→ obtienes resultado</a:t>
            </a:r>
            <a:endParaRPr lang="en-US" sz="900"/>
          </a:p>
        </p:txBody>
      </p:sp>
      <p:sp>
        <p:nvSpPr>
          <p:cNvPr id="584140659" name="Shape 53"/>
          <p:cNvSpPr/>
          <p:nvPr/>
        </p:nvSpPr>
        <p:spPr bwMode="auto">
          <a:xfrm>
            <a:off x="7726680" y="4846320"/>
            <a:ext cx="36576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453413418" name="Text 54"/>
          <p:cNvSpPr/>
          <p:nvPr/>
        </p:nvSpPr>
        <p:spPr bwMode="auto">
          <a:xfrm>
            <a:off x="772668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4</a:t>
            </a:r>
            <a:endParaRPr lang="en-US" sz="1200"/>
          </a:p>
        </p:txBody>
      </p:sp>
      <p:sp>
        <p:nvSpPr>
          <p:cNvPr id="1946648595" name="Text 55"/>
          <p:cNvSpPr/>
          <p:nvPr/>
        </p:nvSpPr>
        <p:spPr bwMode="auto">
          <a:xfrm>
            <a:off x="8183880" y="484632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tool_result back</a:t>
            </a:r>
            <a:endParaRPr lang="en-US" sz="1100"/>
          </a:p>
        </p:txBody>
      </p:sp>
      <p:sp>
        <p:nvSpPr>
          <p:cNvPr id="1691455677" name="Text 56"/>
          <p:cNvSpPr/>
          <p:nvPr/>
        </p:nvSpPr>
        <p:spPr bwMode="auto">
          <a:xfrm>
            <a:off x="8183880" y="50566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 lo devuelves a Claude</a:t>
            </a:r>
            <a:endParaRPr lang="en-US" sz="900"/>
          </a:p>
        </p:txBody>
      </p:sp>
      <p:sp>
        <p:nvSpPr>
          <p:cNvPr id="563286254" name="Shape 57"/>
          <p:cNvSpPr/>
          <p:nvPr/>
        </p:nvSpPr>
        <p:spPr bwMode="auto">
          <a:xfrm>
            <a:off x="7726680" y="5486400"/>
            <a:ext cx="36576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1979461216" name="Text 58"/>
          <p:cNvSpPr/>
          <p:nvPr/>
        </p:nvSpPr>
        <p:spPr bwMode="auto">
          <a:xfrm>
            <a:off x="7726680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5</a:t>
            </a:r>
            <a:endParaRPr lang="en-US" sz="1200"/>
          </a:p>
        </p:txBody>
      </p:sp>
      <p:sp>
        <p:nvSpPr>
          <p:cNvPr id="667291410" name="Text 59"/>
          <p:cNvSpPr/>
          <p:nvPr/>
        </p:nvSpPr>
        <p:spPr bwMode="auto">
          <a:xfrm>
            <a:off x="8183880" y="54864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next decision</a:t>
            </a:r>
            <a:endParaRPr lang="en-US" sz="1100"/>
          </a:p>
        </p:txBody>
      </p:sp>
      <p:sp>
        <p:nvSpPr>
          <p:cNvPr id="302100465" name="Text 60"/>
          <p:cNvSpPr/>
          <p:nvPr/>
        </p:nvSpPr>
        <p:spPr bwMode="auto">
          <a:xfrm>
            <a:off x="8183880" y="569671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loop hasta stop_reason: end</a:t>
            </a:r>
            <a:endParaRPr lang="en-US" sz="900"/>
          </a:p>
        </p:txBody>
      </p:sp>
      <p:sp>
        <p:nvSpPr>
          <p:cNvPr id="1047066513" name="Shape 61"/>
          <p:cNvSpPr/>
          <p:nvPr/>
        </p:nvSpPr>
        <p:spPr bwMode="auto">
          <a:xfrm>
            <a:off x="548640" y="6400800"/>
            <a:ext cx="11064240" cy="0"/>
          </a:xfrm>
          <a:prstGeom prst="rect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12174260" name="Shape 62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269270814" name="Text 63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702880381" name="Text 64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19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972848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Caso 3 · El mismo agente, 3 cerebros distintos</a:t>
            </a:r>
            <a:endParaRPr lang="en-US" sz="3200"/>
          </a:p>
        </p:txBody>
      </p:sp>
      <p:sp>
        <p:nvSpPr>
          <p:cNvPr id="1052827735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792542216" name="Shape 3"/>
          <p:cNvSpPr/>
          <p:nvPr/>
        </p:nvSpPr>
        <p:spPr bwMode="auto">
          <a:xfrm>
            <a:off x="54864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018634316" name="Text 4"/>
          <p:cNvSpPr/>
          <p:nvPr/>
        </p:nvSpPr>
        <p:spPr bwMode="auto">
          <a:xfrm>
            <a:off x="73152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TIEMPO</a:t>
            </a:r>
            <a:endParaRPr lang="en-US" sz="900"/>
          </a:p>
        </p:txBody>
      </p:sp>
      <p:sp>
        <p:nvSpPr>
          <p:cNvPr id="1137319128" name="Text 5"/>
          <p:cNvSpPr/>
          <p:nvPr/>
        </p:nvSpPr>
        <p:spPr bwMode="auto">
          <a:xfrm>
            <a:off x="7315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14 min</a:t>
            </a:r>
            <a:endParaRPr lang="en-US" sz="1400"/>
          </a:p>
        </p:txBody>
      </p:sp>
      <p:sp>
        <p:nvSpPr>
          <p:cNvPr id="1787896363" name="Shape 6"/>
          <p:cNvSpPr/>
          <p:nvPr/>
        </p:nvSpPr>
        <p:spPr bwMode="auto">
          <a:xfrm>
            <a:off x="333756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231821495" name="Text 7"/>
          <p:cNvSpPr/>
          <p:nvPr/>
        </p:nvSpPr>
        <p:spPr bwMode="auto">
          <a:xfrm>
            <a:off x="352044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STACK</a:t>
            </a:r>
            <a:endParaRPr lang="en-US" sz="900"/>
          </a:p>
        </p:txBody>
      </p:sp>
      <p:sp>
        <p:nvSpPr>
          <p:cNvPr id="2100887629" name="Text 8"/>
          <p:cNvSpPr/>
          <p:nvPr/>
        </p:nvSpPr>
        <p:spPr bwMode="auto">
          <a:xfrm>
            <a:off x="35204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 APIs</a:t>
            </a:r>
            <a:endParaRPr lang="en-US" sz="1400"/>
          </a:p>
        </p:txBody>
      </p:sp>
      <p:sp>
        <p:nvSpPr>
          <p:cNvPr id="284791330" name="Shape 9"/>
          <p:cNvSpPr/>
          <p:nvPr/>
        </p:nvSpPr>
        <p:spPr bwMode="auto">
          <a:xfrm>
            <a:off x="612648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148494731" name="Text 10"/>
          <p:cNvSpPr/>
          <p:nvPr/>
        </p:nvSpPr>
        <p:spPr bwMode="auto">
          <a:xfrm>
            <a:off x="630936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DIFICULTAD</a:t>
            </a:r>
            <a:endParaRPr lang="en-US" sz="900"/>
          </a:p>
        </p:txBody>
      </p:sp>
      <p:sp>
        <p:nvSpPr>
          <p:cNvPr id="760296626" name="Text 11"/>
          <p:cNvSpPr/>
          <p:nvPr/>
        </p:nvSpPr>
        <p:spPr bwMode="auto">
          <a:xfrm>
            <a:off x="630936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★★★</a:t>
            </a:r>
            <a:endParaRPr lang="en-US" sz="1400"/>
          </a:p>
        </p:txBody>
      </p:sp>
      <p:sp>
        <p:nvSpPr>
          <p:cNvPr id="1058306779" name="Shape 12"/>
          <p:cNvSpPr/>
          <p:nvPr/>
        </p:nvSpPr>
        <p:spPr bwMode="auto">
          <a:xfrm>
            <a:off x="8915400" y="1554480"/>
            <a:ext cx="2697480" cy="64008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706164991" name="Text 13"/>
          <p:cNvSpPr/>
          <p:nvPr/>
        </p:nvSpPr>
        <p:spPr bwMode="auto">
          <a:xfrm>
            <a:off x="9098280" y="16002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AUDIENCIA</a:t>
            </a:r>
            <a:endParaRPr lang="en-US" sz="900"/>
          </a:p>
        </p:txBody>
      </p:sp>
      <p:sp>
        <p:nvSpPr>
          <p:cNvPr id="760775362" name="Text 14"/>
          <p:cNvSpPr/>
          <p:nvPr/>
        </p:nvSpPr>
        <p:spPr bwMode="auto">
          <a:xfrm>
            <a:off x="90982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Técnica</a:t>
            </a:r>
            <a:endParaRPr lang="en-US" sz="1400"/>
          </a:p>
        </p:txBody>
      </p:sp>
      <p:sp>
        <p:nvSpPr>
          <p:cNvPr id="224151587" name="Shape 15"/>
          <p:cNvSpPr/>
          <p:nvPr/>
        </p:nvSpPr>
        <p:spPr bwMode="auto">
          <a:xfrm>
            <a:off x="548640" y="2331720"/>
            <a:ext cx="11064240" cy="50292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316807092" name="Text 16"/>
          <p:cNvSpPr/>
          <p:nvPr/>
        </p:nvSpPr>
        <p:spPr bwMode="auto">
          <a:xfrm>
            <a:off x="777240" y="2331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CASO  ·  </a:t>
            </a: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Agente que recibe un CVE → consulta severidad → sugiere remediación. </a:t>
            </a:r>
            <a:r>
              <a:rPr lang="en-US" sz="1200" i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Implementado con las 3 APIs.</a:t>
            </a:r>
            <a:endParaRPr lang="en-US" sz="1200"/>
          </a:p>
        </p:txBody>
      </p:sp>
      <p:sp>
        <p:nvSpPr>
          <p:cNvPr id="15856698" name="Shape 17"/>
          <p:cNvSpPr/>
          <p:nvPr/>
        </p:nvSpPr>
        <p:spPr bwMode="auto">
          <a:xfrm>
            <a:off x="548640" y="3017519"/>
            <a:ext cx="3611880" cy="3246120"/>
          </a:xfrm>
          <a:prstGeom prst="rect">
            <a:avLst/>
          </a:prstGeom>
          <a:solidFill>
            <a:srgbClr val="131829"/>
          </a:solidFill>
          <a:ln w="19050">
            <a:solidFill>
              <a:srgbClr val="00D9FF"/>
            </a:solidFill>
            <a:prstDash val="solid"/>
          </a:ln>
        </p:spPr>
      </p:sp>
      <p:sp>
        <p:nvSpPr>
          <p:cNvPr id="1263850986" name="Shape 18"/>
          <p:cNvSpPr/>
          <p:nvPr/>
        </p:nvSpPr>
        <p:spPr bwMode="auto">
          <a:xfrm>
            <a:off x="548640" y="3017519"/>
            <a:ext cx="361188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9232530" name="Text 19"/>
          <p:cNvSpPr/>
          <p:nvPr/>
        </p:nvSpPr>
        <p:spPr bwMode="auto">
          <a:xfrm>
            <a:off x="548640" y="32461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</a:t>
            </a:r>
            <a:endParaRPr lang="en-US" sz="2600"/>
          </a:p>
        </p:txBody>
      </p:sp>
      <p:sp>
        <p:nvSpPr>
          <p:cNvPr id="2066116362" name="Text 20"/>
          <p:cNvSpPr/>
          <p:nvPr/>
        </p:nvSpPr>
        <p:spPr bwMode="auto">
          <a:xfrm>
            <a:off x="548640" y="3657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Anthropic</a:t>
            </a:r>
            <a:endParaRPr lang="en-US" sz="1100"/>
          </a:p>
        </p:txBody>
      </p:sp>
      <p:sp>
        <p:nvSpPr>
          <p:cNvPr id="334708201" name="Shape 21"/>
          <p:cNvSpPr/>
          <p:nvPr/>
        </p:nvSpPr>
        <p:spPr bwMode="auto">
          <a:xfrm>
            <a:off x="1554480" y="4023360"/>
            <a:ext cx="1600200" cy="0"/>
          </a:xfrm>
          <a:prstGeom prst="line">
            <a:avLst/>
          </a:prstGeom>
          <a:noFill/>
          <a:ln w="12700">
            <a:solidFill>
              <a:srgbClr val="00D9FF"/>
            </a:solidFill>
            <a:prstDash val="solid"/>
          </a:ln>
        </p:spPr>
      </p:sp>
      <p:sp>
        <p:nvSpPr>
          <p:cNvPr id="2000809395" name="Text 22"/>
          <p:cNvSpPr/>
          <p:nvPr/>
        </p:nvSpPr>
        <p:spPr bwMode="auto">
          <a:xfrm>
            <a:off x="731520" y="4160519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FORMATO</a:t>
            </a:r>
            <a:endParaRPr lang="en-US" sz="900"/>
          </a:p>
        </p:txBody>
      </p:sp>
      <p:sp>
        <p:nvSpPr>
          <p:cNvPr id="475425941" name="Text 23"/>
          <p:cNvSpPr/>
          <p:nvPr/>
        </p:nvSpPr>
        <p:spPr bwMode="auto">
          <a:xfrm>
            <a:off x="731520" y="43708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tool_use blocks</a:t>
            </a:r>
            <a:endParaRPr lang="en-US" sz="1200"/>
          </a:p>
        </p:txBody>
      </p:sp>
      <p:sp>
        <p:nvSpPr>
          <p:cNvPr id="1551627746" name="Text 24"/>
          <p:cNvSpPr/>
          <p:nvPr/>
        </p:nvSpPr>
        <p:spPr bwMode="auto">
          <a:xfrm>
            <a:off x="731520" y="47548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FORTALEZA</a:t>
            </a:r>
            <a:endParaRPr lang="en-US" sz="900"/>
          </a:p>
        </p:txBody>
      </p:sp>
      <p:sp>
        <p:nvSpPr>
          <p:cNvPr id="1010471421" name="Text 25"/>
          <p:cNvSpPr/>
          <p:nvPr/>
        </p:nvSpPr>
        <p:spPr bwMode="auto">
          <a:xfrm>
            <a:off x="731520" y="4983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Razonamiento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estructurado</a:t>
            </a:r>
            <a:endParaRPr lang="en-US" sz="1100"/>
          </a:p>
        </p:txBody>
      </p:sp>
      <p:sp>
        <p:nvSpPr>
          <p:cNvPr id="430615926" name="Text 26"/>
          <p:cNvSpPr/>
          <p:nvPr/>
        </p:nvSpPr>
        <p:spPr bwMode="auto">
          <a:xfrm>
            <a:off x="731520" y="55778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FBBF24"/>
                </a:solidFill>
                <a:latin typeface="Consolas"/>
                <a:ea typeface="Consolas"/>
                <a:cs typeface="Consolas"/>
              </a:rPr>
              <a:t>TRADE-OFF</a:t>
            </a:r>
            <a:endParaRPr lang="en-US" sz="900"/>
          </a:p>
        </p:txBody>
      </p:sp>
      <p:sp>
        <p:nvSpPr>
          <p:cNvPr id="1143201342" name="Text 27"/>
          <p:cNvSpPr/>
          <p:nvPr/>
        </p:nvSpPr>
        <p:spPr bwMode="auto">
          <a:xfrm>
            <a:off x="731520" y="5806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Más caro</a:t>
            </a:r>
            <a:endParaRPr lang="en-US" sz="1100"/>
          </a:p>
        </p:txBody>
      </p:sp>
      <p:sp>
        <p:nvSpPr>
          <p:cNvPr id="1302156252" name="Shape 28"/>
          <p:cNvSpPr/>
          <p:nvPr/>
        </p:nvSpPr>
        <p:spPr bwMode="auto">
          <a:xfrm>
            <a:off x="4370832" y="3017519"/>
            <a:ext cx="3611880" cy="3246120"/>
          </a:xfrm>
          <a:prstGeom prst="rect">
            <a:avLst/>
          </a:prstGeom>
          <a:solidFill>
            <a:srgbClr val="131829"/>
          </a:solidFill>
          <a:ln w="19050">
            <a:solidFill>
              <a:srgbClr val="B026FF"/>
            </a:solidFill>
            <a:prstDash val="solid"/>
          </a:ln>
        </p:spPr>
      </p:sp>
      <p:sp>
        <p:nvSpPr>
          <p:cNvPr id="1476821520" name="Shape 29"/>
          <p:cNvSpPr/>
          <p:nvPr/>
        </p:nvSpPr>
        <p:spPr bwMode="auto">
          <a:xfrm>
            <a:off x="4370832" y="3017519"/>
            <a:ext cx="3611880" cy="73152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5540128" name="Text 30"/>
          <p:cNvSpPr/>
          <p:nvPr/>
        </p:nvSpPr>
        <p:spPr bwMode="auto">
          <a:xfrm>
            <a:off x="4370832" y="32461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GPT-4</a:t>
            </a:r>
            <a:endParaRPr lang="en-US" sz="2600"/>
          </a:p>
        </p:txBody>
      </p:sp>
      <p:sp>
        <p:nvSpPr>
          <p:cNvPr id="1458775994" name="Text 31"/>
          <p:cNvSpPr/>
          <p:nvPr/>
        </p:nvSpPr>
        <p:spPr bwMode="auto">
          <a:xfrm>
            <a:off x="4370832" y="3657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OpenAI</a:t>
            </a:r>
            <a:endParaRPr lang="en-US" sz="1100"/>
          </a:p>
        </p:txBody>
      </p:sp>
      <p:sp>
        <p:nvSpPr>
          <p:cNvPr id="931082744" name="Shape 32"/>
          <p:cNvSpPr/>
          <p:nvPr/>
        </p:nvSpPr>
        <p:spPr bwMode="auto">
          <a:xfrm>
            <a:off x="5376672" y="4023360"/>
            <a:ext cx="1600200" cy="0"/>
          </a:xfrm>
          <a:prstGeom prst="line">
            <a:avLst/>
          </a:prstGeom>
          <a:noFill/>
          <a:ln w="12700">
            <a:solidFill>
              <a:srgbClr val="B026FF"/>
            </a:solidFill>
            <a:prstDash val="solid"/>
          </a:ln>
        </p:spPr>
      </p:sp>
      <p:sp>
        <p:nvSpPr>
          <p:cNvPr id="272557397" name="Text 33"/>
          <p:cNvSpPr/>
          <p:nvPr/>
        </p:nvSpPr>
        <p:spPr bwMode="auto">
          <a:xfrm>
            <a:off x="4553712" y="4160519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FORMATO</a:t>
            </a:r>
            <a:endParaRPr lang="en-US" sz="900"/>
          </a:p>
        </p:txBody>
      </p:sp>
      <p:sp>
        <p:nvSpPr>
          <p:cNvPr id="1027612727" name="Text 34"/>
          <p:cNvSpPr/>
          <p:nvPr/>
        </p:nvSpPr>
        <p:spPr bwMode="auto">
          <a:xfrm>
            <a:off x="4553712" y="43708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function_call</a:t>
            </a:r>
            <a:endParaRPr lang="en-US" sz="1200"/>
          </a:p>
        </p:txBody>
      </p:sp>
      <p:sp>
        <p:nvSpPr>
          <p:cNvPr id="828566311" name="Text 35"/>
          <p:cNvSpPr/>
          <p:nvPr/>
        </p:nvSpPr>
        <p:spPr bwMode="auto">
          <a:xfrm>
            <a:off x="4553712" y="47548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FORTALEZA</a:t>
            </a:r>
            <a:endParaRPr lang="en-US" sz="900"/>
          </a:p>
        </p:txBody>
      </p:sp>
      <p:sp>
        <p:nvSpPr>
          <p:cNvPr id="1704895475" name="Text 36"/>
          <p:cNvSpPr/>
          <p:nvPr/>
        </p:nvSpPr>
        <p:spPr bwMode="auto">
          <a:xfrm>
            <a:off x="4553712" y="4983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Ecosistema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maduro</a:t>
            </a:r>
            <a:endParaRPr lang="en-US" sz="1100"/>
          </a:p>
        </p:txBody>
      </p:sp>
      <p:sp>
        <p:nvSpPr>
          <p:cNvPr id="2119064224" name="Text 37"/>
          <p:cNvSpPr/>
          <p:nvPr/>
        </p:nvSpPr>
        <p:spPr bwMode="auto">
          <a:xfrm>
            <a:off x="4553712" y="55778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FBBF24"/>
                </a:solidFill>
                <a:latin typeface="Consolas"/>
                <a:ea typeface="Consolas"/>
                <a:cs typeface="Consolas"/>
              </a:rPr>
              <a:t>TRADE-OFF</a:t>
            </a:r>
            <a:endParaRPr lang="en-US" sz="900"/>
          </a:p>
        </p:txBody>
      </p:sp>
      <p:sp>
        <p:nvSpPr>
          <p:cNvPr id="921730063" name="Text 38"/>
          <p:cNvSpPr/>
          <p:nvPr/>
        </p:nvSpPr>
        <p:spPr bwMode="auto">
          <a:xfrm>
            <a:off x="4553712" y="5806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JSON estricto</a:t>
            </a:r>
            <a:endParaRPr lang="en-US" sz="1100"/>
          </a:p>
        </p:txBody>
      </p:sp>
      <p:sp>
        <p:nvSpPr>
          <p:cNvPr id="1273349522" name="Shape 39"/>
          <p:cNvSpPr/>
          <p:nvPr/>
        </p:nvSpPr>
        <p:spPr bwMode="auto">
          <a:xfrm>
            <a:off x="8193024" y="3017519"/>
            <a:ext cx="3611880" cy="3246120"/>
          </a:xfrm>
          <a:prstGeom prst="rect">
            <a:avLst/>
          </a:prstGeom>
          <a:solidFill>
            <a:srgbClr val="131829"/>
          </a:solidFill>
          <a:ln w="19050">
            <a:solidFill>
              <a:srgbClr val="00FF94"/>
            </a:solidFill>
            <a:prstDash val="solid"/>
          </a:ln>
        </p:spPr>
      </p:sp>
      <p:sp>
        <p:nvSpPr>
          <p:cNvPr id="1943038698" name="Shape 40"/>
          <p:cNvSpPr/>
          <p:nvPr/>
        </p:nvSpPr>
        <p:spPr bwMode="auto">
          <a:xfrm>
            <a:off x="8193024" y="3017519"/>
            <a:ext cx="3611880" cy="73152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03267487" name="Text 41"/>
          <p:cNvSpPr/>
          <p:nvPr/>
        </p:nvSpPr>
        <p:spPr bwMode="auto">
          <a:xfrm>
            <a:off x="8193024" y="32461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GEMINI</a:t>
            </a:r>
            <a:endParaRPr lang="en-US" sz="2600"/>
          </a:p>
        </p:txBody>
      </p:sp>
      <p:sp>
        <p:nvSpPr>
          <p:cNvPr id="765548574" name="Text 42"/>
          <p:cNvSpPr/>
          <p:nvPr/>
        </p:nvSpPr>
        <p:spPr bwMode="auto">
          <a:xfrm>
            <a:off x="8193024" y="3657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Google</a:t>
            </a:r>
            <a:endParaRPr lang="en-US" sz="1100"/>
          </a:p>
        </p:txBody>
      </p:sp>
      <p:sp>
        <p:nvSpPr>
          <p:cNvPr id="1447324904" name="Shape 43"/>
          <p:cNvSpPr/>
          <p:nvPr/>
        </p:nvSpPr>
        <p:spPr bwMode="auto">
          <a:xfrm>
            <a:off x="9198864" y="4023360"/>
            <a:ext cx="1600200" cy="0"/>
          </a:xfrm>
          <a:prstGeom prst="line">
            <a:avLst/>
          </a:prstGeom>
          <a:noFill/>
          <a:ln w="12700">
            <a:solidFill>
              <a:srgbClr val="00FF94"/>
            </a:solidFill>
            <a:prstDash val="solid"/>
          </a:ln>
        </p:spPr>
      </p:sp>
      <p:sp>
        <p:nvSpPr>
          <p:cNvPr id="2018955405" name="Text 44"/>
          <p:cNvSpPr/>
          <p:nvPr/>
        </p:nvSpPr>
        <p:spPr bwMode="auto">
          <a:xfrm>
            <a:off x="8375904" y="4160519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FORMATO</a:t>
            </a:r>
            <a:endParaRPr lang="en-US" sz="900"/>
          </a:p>
        </p:txBody>
      </p:sp>
      <p:sp>
        <p:nvSpPr>
          <p:cNvPr id="168410154" name="Text 45"/>
          <p:cNvSpPr/>
          <p:nvPr/>
        </p:nvSpPr>
        <p:spPr bwMode="auto">
          <a:xfrm>
            <a:off x="8375904" y="43708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functionCalls</a:t>
            </a:r>
            <a:endParaRPr lang="en-US" sz="1200"/>
          </a:p>
        </p:txBody>
      </p:sp>
      <p:sp>
        <p:nvSpPr>
          <p:cNvPr id="1884675097" name="Text 46"/>
          <p:cNvSpPr/>
          <p:nvPr/>
        </p:nvSpPr>
        <p:spPr bwMode="auto">
          <a:xfrm>
            <a:off x="8375904" y="47548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FORTALEZA</a:t>
            </a:r>
            <a:endParaRPr lang="en-US" sz="900"/>
          </a:p>
        </p:txBody>
      </p:sp>
      <p:sp>
        <p:nvSpPr>
          <p:cNvPr id="755592880" name="Text 47"/>
          <p:cNvSpPr/>
          <p:nvPr/>
        </p:nvSpPr>
        <p:spPr bwMode="auto">
          <a:xfrm>
            <a:off x="8375904" y="4983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Contexto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largo</a:t>
            </a:r>
            <a:endParaRPr lang="en-US" sz="1100"/>
          </a:p>
        </p:txBody>
      </p:sp>
      <p:sp>
        <p:nvSpPr>
          <p:cNvPr id="97791520" name="Text 48"/>
          <p:cNvSpPr/>
          <p:nvPr/>
        </p:nvSpPr>
        <p:spPr bwMode="auto">
          <a:xfrm>
            <a:off x="8375904" y="55778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900" b="1" spc="300">
                <a:solidFill>
                  <a:srgbClr val="FBBF24"/>
                </a:solidFill>
                <a:latin typeface="Consolas"/>
                <a:ea typeface="Consolas"/>
                <a:cs typeface="Consolas"/>
              </a:rPr>
              <a:t>TRADE-OFF</a:t>
            </a:r>
            <a:endParaRPr lang="en-US" sz="900"/>
          </a:p>
        </p:txBody>
      </p:sp>
      <p:sp>
        <p:nvSpPr>
          <p:cNvPr id="576479459" name="Text 49"/>
          <p:cNvSpPr/>
          <p:nvPr/>
        </p:nvSpPr>
        <p:spPr bwMode="auto">
          <a:xfrm>
            <a:off x="8375904" y="5806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Tool use joven</a:t>
            </a:r>
            <a:endParaRPr lang="en-US" sz="1100"/>
          </a:p>
        </p:txBody>
      </p:sp>
      <p:sp>
        <p:nvSpPr>
          <p:cNvPr id="656143587" name="Shape 50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329756208" name="Text 51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696998186" name="Text 52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20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316750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 que demuestra el workshop</a:t>
            </a:r>
            <a:endParaRPr lang="en-US" sz="3200"/>
          </a:p>
        </p:txBody>
      </p:sp>
      <p:sp>
        <p:nvSpPr>
          <p:cNvPr id="2088790335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60705779" name="Shape 3"/>
          <p:cNvSpPr/>
          <p:nvPr/>
        </p:nvSpPr>
        <p:spPr bwMode="auto">
          <a:xfrm>
            <a:off x="548640" y="1691640"/>
            <a:ext cx="11064240" cy="137160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426435883" name="Shape 4"/>
          <p:cNvSpPr/>
          <p:nvPr/>
        </p:nvSpPr>
        <p:spPr bwMode="auto">
          <a:xfrm>
            <a:off x="548640" y="1691640"/>
            <a:ext cx="91440" cy="1371600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30982271" name="Text 5"/>
          <p:cNvSpPr/>
          <p:nvPr/>
        </p:nvSpPr>
        <p:spPr bwMode="auto">
          <a:xfrm>
            <a:off x="868680" y="19659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000" b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01</a:t>
            </a:r>
            <a:endParaRPr lang="en-US" sz="5000"/>
          </a:p>
        </p:txBody>
      </p:sp>
      <p:pic>
        <p:nvPicPr>
          <p:cNvPr id="1026401831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377440" y="2103120"/>
            <a:ext cx="640080" cy="640080"/>
          </a:xfrm>
          <a:prstGeom prst="rect">
            <a:avLst/>
          </a:prstGeom>
        </p:spPr>
      </p:pic>
      <p:sp>
        <p:nvSpPr>
          <p:cNvPr id="658723741" name="Text 6"/>
          <p:cNvSpPr/>
          <p:nvPr/>
        </p:nvSpPr>
        <p:spPr bwMode="auto">
          <a:xfrm>
            <a:off x="3291840" y="192024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patrón es independiente del proveedor</a:t>
            </a:r>
            <a:endParaRPr lang="en-US" sz="1900"/>
          </a:p>
        </p:txBody>
      </p:sp>
      <p:sp>
        <p:nvSpPr>
          <p:cNvPr id="772628058" name="Text 7"/>
          <p:cNvSpPr/>
          <p:nvPr/>
        </p:nvSpPr>
        <p:spPr bwMode="auto">
          <a:xfrm>
            <a:off x="3291840" y="2404872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Define herramientas, pásalas al modelo, ejecuta el loop. Lo aprendiste una vez — lo usas con cualquier API.</a:t>
            </a:r>
            <a:endParaRPr lang="en-US" sz="1200"/>
          </a:p>
        </p:txBody>
      </p:sp>
      <p:sp>
        <p:nvSpPr>
          <p:cNvPr id="1610350456" name="Shape 8"/>
          <p:cNvSpPr/>
          <p:nvPr/>
        </p:nvSpPr>
        <p:spPr bwMode="auto">
          <a:xfrm>
            <a:off x="548640" y="3200400"/>
            <a:ext cx="11064240" cy="137160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510156288" name="Shape 9"/>
          <p:cNvSpPr/>
          <p:nvPr/>
        </p:nvSpPr>
        <p:spPr bwMode="auto">
          <a:xfrm>
            <a:off x="548640" y="3200400"/>
            <a:ext cx="91440" cy="137160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6371073" name="Text 10"/>
          <p:cNvSpPr/>
          <p:nvPr/>
        </p:nvSpPr>
        <p:spPr bwMode="auto">
          <a:xfrm>
            <a:off x="868680" y="347472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0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02</a:t>
            </a:r>
            <a:endParaRPr lang="en-US" sz="5000"/>
          </a:p>
        </p:txBody>
      </p:sp>
      <p:pic>
        <p:nvPicPr>
          <p:cNvPr id="153604094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377440" y="3611880"/>
            <a:ext cx="640080" cy="640080"/>
          </a:xfrm>
          <a:prstGeom prst="rect">
            <a:avLst/>
          </a:prstGeom>
        </p:spPr>
      </p:pic>
      <p:sp>
        <p:nvSpPr>
          <p:cNvPr id="663258720" name="Text 11"/>
          <p:cNvSpPr/>
          <p:nvPr/>
        </p:nvSpPr>
        <p:spPr bwMode="auto">
          <a:xfrm>
            <a:off x="3291840" y="342900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Low-code no es "de juguete"</a:t>
            </a:r>
            <a:endParaRPr lang="en-US" sz="1900"/>
          </a:p>
        </p:txBody>
      </p:sp>
      <p:sp>
        <p:nvSpPr>
          <p:cNvPr id="286956517" name="Text 12"/>
          <p:cNvSpPr/>
          <p:nvPr/>
        </p:nvSpPr>
        <p:spPr bwMode="auto">
          <a:xfrm>
            <a:off x="3291840" y="3913632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Para muchos casos reales, n8n o Make resuelven en 30 minutos lo que en código tomaría días. Empieza ahí.</a:t>
            </a:r>
            <a:endParaRPr lang="en-US" sz="1200"/>
          </a:p>
        </p:txBody>
      </p:sp>
      <p:sp>
        <p:nvSpPr>
          <p:cNvPr id="1041539649" name="Shape 13"/>
          <p:cNvSpPr/>
          <p:nvPr/>
        </p:nvSpPr>
        <p:spPr bwMode="auto">
          <a:xfrm>
            <a:off x="548640" y="4709160"/>
            <a:ext cx="11064240" cy="137160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1311107733" name="Shape 14"/>
          <p:cNvSpPr/>
          <p:nvPr/>
        </p:nvSpPr>
        <p:spPr bwMode="auto">
          <a:xfrm>
            <a:off x="548640" y="4709160"/>
            <a:ext cx="91440" cy="1371600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52037890" name="Text 15"/>
          <p:cNvSpPr/>
          <p:nvPr/>
        </p:nvSpPr>
        <p:spPr bwMode="auto">
          <a:xfrm>
            <a:off x="868680" y="49834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000" b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03</a:t>
            </a:r>
            <a:endParaRPr lang="en-US" sz="5000"/>
          </a:p>
        </p:txBody>
      </p:sp>
      <p:pic>
        <p:nvPicPr>
          <p:cNvPr id="1045864321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377440" y="5120640"/>
            <a:ext cx="640080" cy="640080"/>
          </a:xfrm>
          <a:prstGeom prst="rect">
            <a:avLst/>
          </a:prstGeom>
        </p:spPr>
      </p:pic>
      <p:sp>
        <p:nvSpPr>
          <p:cNvPr id="1066222776" name="Text 16"/>
          <p:cNvSpPr/>
          <p:nvPr/>
        </p:nvSpPr>
        <p:spPr bwMode="auto">
          <a:xfrm>
            <a:off x="3291840" y="493776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cuello de botella no es el modelo</a:t>
            </a:r>
            <a:endParaRPr lang="en-US" sz="1900"/>
          </a:p>
        </p:txBody>
      </p:sp>
      <p:sp>
        <p:nvSpPr>
          <p:cNvPr id="1118742560" name="Text 17"/>
          <p:cNvSpPr/>
          <p:nvPr/>
        </p:nvSpPr>
        <p:spPr bwMode="auto">
          <a:xfrm>
            <a:off x="3291840" y="5422392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Es definir bien las herramientas, los inputs y el system prompt. Ahí se gana o se pierde la calidad del agente.</a:t>
            </a:r>
            <a:endParaRPr lang="en-US" sz="1200"/>
          </a:p>
        </p:txBody>
      </p:sp>
      <p:sp>
        <p:nvSpPr>
          <p:cNvPr id="1322900985" name="Shape 18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103944363" name="Text 19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233389496" name="Text 20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21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86815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Tres mensajes para llevarse a casa</a:t>
            </a:r>
            <a:endParaRPr lang="en-US" sz="3200"/>
          </a:p>
        </p:txBody>
      </p:sp>
      <p:sp>
        <p:nvSpPr>
          <p:cNvPr id="1734152187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15342506" name="Shape 3"/>
          <p:cNvSpPr/>
          <p:nvPr/>
        </p:nvSpPr>
        <p:spPr bwMode="auto">
          <a:xfrm>
            <a:off x="548640" y="1645920"/>
            <a:ext cx="11064240" cy="141732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785335346" name="Shape 4"/>
          <p:cNvSpPr/>
          <p:nvPr/>
        </p:nvSpPr>
        <p:spPr bwMode="auto">
          <a:xfrm>
            <a:off x="548640" y="1645920"/>
            <a:ext cx="137160" cy="1417320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39142641" name="Text 5"/>
          <p:cNvSpPr/>
          <p:nvPr/>
        </p:nvSpPr>
        <p:spPr bwMode="auto">
          <a:xfrm>
            <a:off x="1005840" y="18745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 patrón es simple.</a:t>
            </a:r>
            <a:endParaRPr lang="en-US" sz="2800"/>
          </a:p>
        </p:txBody>
      </p:sp>
      <p:sp>
        <p:nvSpPr>
          <p:cNvPr id="592485039" name="Text 6"/>
          <p:cNvSpPr/>
          <p:nvPr/>
        </p:nvSpPr>
        <p:spPr bwMode="auto">
          <a:xfrm>
            <a:off x="1005840" y="235915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// The pattern is simple.</a:t>
            </a:r>
            <a:endParaRPr lang="en-US" sz="1200"/>
          </a:p>
        </p:txBody>
      </p:sp>
      <p:sp>
        <p:nvSpPr>
          <p:cNvPr id="46536231" name="Text 7"/>
          <p:cNvSpPr/>
          <p:nvPr/>
        </p:nvSpPr>
        <p:spPr bwMode="auto">
          <a:xfrm>
            <a:off x="1005840" y="26060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Percibir → Razonar → Actuar → Observar. En bucle. Eso es todo.</a:t>
            </a:r>
            <a:endParaRPr lang="en-US" sz="1300"/>
          </a:p>
        </p:txBody>
      </p:sp>
      <p:sp>
        <p:nvSpPr>
          <p:cNvPr id="973487991" name="Shape 8"/>
          <p:cNvSpPr/>
          <p:nvPr/>
        </p:nvSpPr>
        <p:spPr bwMode="auto">
          <a:xfrm>
            <a:off x="548640" y="3218688"/>
            <a:ext cx="11064240" cy="141732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516323835" name="Shape 9"/>
          <p:cNvSpPr/>
          <p:nvPr/>
        </p:nvSpPr>
        <p:spPr bwMode="auto">
          <a:xfrm>
            <a:off x="548640" y="3218688"/>
            <a:ext cx="137160" cy="1417320"/>
          </a:xfrm>
          <a:prstGeom prst="rect">
            <a:avLst/>
          </a:prstGeom>
          <a:solidFill>
            <a:srgbClr val="00FF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4019021" name="Text 10"/>
          <p:cNvSpPr/>
          <p:nvPr/>
        </p:nvSpPr>
        <p:spPr bwMode="auto">
          <a:xfrm>
            <a:off x="1005840" y="344728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Empieza pequeño.</a:t>
            </a:r>
            <a:endParaRPr lang="en-US" sz="2800"/>
          </a:p>
        </p:txBody>
      </p:sp>
      <p:sp>
        <p:nvSpPr>
          <p:cNvPr id="2107521570" name="Text 11"/>
          <p:cNvSpPr/>
          <p:nvPr/>
        </p:nvSpPr>
        <p:spPr bwMode="auto">
          <a:xfrm>
            <a:off x="1005840" y="39319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// Start small.</a:t>
            </a:r>
            <a:endParaRPr lang="en-US" sz="1200"/>
          </a:p>
        </p:txBody>
      </p:sp>
      <p:sp>
        <p:nvSpPr>
          <p:cNvPr id="1912257722" name="Text 12"/>
          <p:cNvSpPr/>
          <p:nvPr/>
        </p:nvSpPr>
        <p:spPr bwMode="auto">
          <a:xfrm>
            <a:off x="1005840" y="417880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Un agente con una herramienta resolviendo un problema real &gt; diez agentes en PowerPoint.</a:t>
            </a:r>
            <a:endParaRPr lang="en-US" sz="1300"/>
          </a:p>
        </p:txBody>
      </p:sp>
      <p:sp>
        <p:nvSpPr>
          <p:cNvPr id="1149537224" name="Shape 13"/>
          <p:cNvSpPr/>
          <p:nvPr/>
        </p:nvSpPr>
        <p:spPr bwMode="auto">
          <a:xfrm>
            <a:off x="548640" y="4791456"/>
            <a:ext cx="11064240" cy="141732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sp>
        <p:nvSpPr>
          <p:cNvPr id="951032187" name="Shape 14"/>
          <p:cNvSpPr/>
          <p:nvPr/>
        </p:nvSpPr>
        <p:spPr bwMode="auto">
          <a:xfrm>
            <a:off x="548640" y="4791456"/>
            <a:ext cx="137160" cy="1417320"/>
          </a:xfrm>
          <a:prstGeom prst="rect">
            <a:avLst/>
          </a:prstGeom>
          <a:solidFill>
            <a:srgbClr val="B02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11884536" name="Text 15"/>
          <p:cNvSpPr/>
          <p:nvPr/>
        </p:nvSpPr>
        <p:spPr bwMode="auto">
          <a:xfrm>
            <a:off x="1005840" y="50200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 eres el cuello de botella.</a:t>
            </a:r>
            <a:endParaRPr lang="en-US" sz="2800"/>
          </a:p>
        </p:txBody>
      </p:sp>
      <p:sp>
        <p:nvSpPr>
          <p:cNvPr id="376788776" name="Text 16"/>
          <p:cNvSpPr/>
          <p:nvPr/>
        </p:nvSpPr>
        <p:spPr bwMode="auto">
          <a:xfrm>
            <a:off x="1005840" y="5504687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B026FF"/>
                </a:solidFill>
                <a:latin typeface="Consolas"/>
                <a:ea typeface="Consolas"/>
                <a:cs typeface="Consolas"/>
              </a:rPr>
              <a:t>// You are the bottleneck now.</a:t>
            </a:r>
            <a:endParaRPr lang="en-US" sz="1200"/>
          </a:p>
        </p:txBody>
      </p:sp>
      <p:sp>
        <p:nvSpPr>
          <p:cNvPr id="286736508" name="Text 17"/>
          <p:cNvSpPr/>
          <p:nvPr/>
        </p:nvSpPr>
        <p:spPr bwMode="auto">
          <a:xfrm>
            <a:off x="1005840" y="575157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El que sepa describir bien procesos, ganará. La IA ya está lista. ¿Y tú?</a:t>
            </a:r>
            <a:endParaRPr lang="en-US" sz="1300"/>
          </a:p>
        </p:txBody>
      </p:sp>
      <p:sp>
        <p:nvSpPr>
          <p:cNvPr id="753622747" name="Shape 18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1047359035" name="Text 19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259745754" name="Text 20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22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263110" name="Text 0"/>
          <p:cNvSpPr/>
          <p:nvPr/>
        </p:nvSpPr>
        <p:spPr bwMode="auto"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Recursos · Sigue construyendo</a:t>
            </a:r>
            <a:endParaRPr lang="en-US" sz="3200"/>
          </a:p>
        </p:txBody>
      </p:sp>
      <p:sp>
        <p:nvSpPr>
          <p:cNvPr id="1813612104" name="Shape 2"/>
          <p:cNvSpPr/>
          <p:nvPr/>
        </p:nvSpPr>
        <p:spPr bwMode="auto">
          <a:xfrm>
            <a:off x="320040" y="502920"/>
            <a:ext cx="109728" cy="365760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89532862" name="Shape 3"/>
          <p:cNvSpPr/>
          <p:nvPr/>
        </p:nvSpPr>
        <p:spPr bwMode="auto">
          <a:xfrm>
            <a:off x="548640" y="1691640"/>
            <a:ext cx="11064240" cy="2194560"/>
          </a:xfrm>
          <a:prstGeom prst="rect">
            <a:avLst/>
          </a:prstGeom>
          <a:solidFill>
            <a:srgbClr val="131829"/>
          </a:solidFill>
          <a:ln w="25400">
            <a:solidFill>
              <a:srgbClr val="00D9FF"/>
            </a:solidFill>
            <a:prstDash val="solid"/>
          </a:ln>
        </p:spPr>
      </p:sp>
      <p:sp>
        <p:nvSpPr>
          <p:cNvPr id="1937526967" name="Shape 4"/>
          <p:cNvSpPr/>
          <p:nvPr/>
        </p:nvSpPr>
        <p:spPr bwMode="auto">
          <a:xfrm>
            <a:off x="548640" y="1691640"/>
            <a:ext cx="11064240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663794628" name="Image 0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14400" y="2103120"/>
            <a:ext cx="1280160" cy="1280160"/>
          </a:xfrm>
          <a:prstGeom prst="rect">
            <a:avLst/>
          </a:prstGeom>
        </p:spPr>
      </p:pic>
      <p:sp>
        <p:nvSpPr>
          <p:cNvPr id="1964132658" name="Text 5"/>
          <p:cNvSpPr/>
          <p:nvPr/>
        </p:nvSpPr>
        <p:spPr bwMode="auto"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4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WORKBOOK COMPLETO  ·  GITBOOK</a:t>
            </a:r>
            <a:endParaRPr lang="en-US" sz="1300"/>
          </a:p>
        </p:txBody>
      </p:sp>
      <p:sp>
        <p:nvSpPr>
          <p:cNvPr id="2001294643" name="Text 6"/>
          <p:cNvSpPr/>
          <p:nvPr/>
        </p:nvSpPr>
        <p:spPr bwMode="auto">
          <a:xfrm>
            <a:off x="2468880" y="23317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Paso a paso de los 3 casos del workshop</a:t>
            </a:r>
            <a:endParaRPr lang="en-US" sz="2400"/>
          </a:p>
        </p:txBody>
      </p:sp>
      <p:sp>
        <p:nvSpPr>
          <p:cNvPr id="1988066730" name="Text 7"/>
          <p:cNvSpPr/>
          <p:nvPr/>
        </p:nvSpPr>
        <p:spPr bwMode="auto">
          <a:xfrm>
            <a:off x="2468880" y="2834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Código completo · setup paso a paso · screenshots · tips · troubleshooting</a:t>
            </a:r>
            <a:endParaRPr lang="en-US" sz="1300"/>
          </a:p>
        </p:txBody>
      </p:sp>
      <p:sp>
        <p:nvSpPr>
          <p:cNvPr id="782789515" name="Text 8"/>
          <p:cNvSpPr/>
          <p:nvPr/>
        </p:nvSpPr>
        <p:spPr bwMode="auto">
          <a:xfrm>
            <a:off x="2468880" y="32461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→  elrarodenegro.gitbook.io/agentes-ia</a:t>
            </a:r>
            <a:endParaRPr lang="en-US" sz="1400"/>
          </a:p>
        </p:txBody>
      </p:sp>
      <p:sp>
        <p:nvSpPr>
          <p:cNvPr id="194623591" name="Shape 9"/>
          <p:cNvSpPr/>
          <p:nvPr/>
        </p:nvSpPr>
        <p:spPr bwMode="auto">
          <a:xfrm>
            <a:off x="548640" y="4160519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pic>
        <p:nvPicPr>
          <p:cNvPr id="1352605718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496762477" name="Text 10"/>
          <p:cNvSpPr/>
          <p:nvPr/>
        </p:nvSpPr>
        <p:spPr bwMode="auto">
          <a:xfrm>
            <a:off x="1417320" y="4297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Anthropic Docs</a:t>
            </a:r>
            <a:endParaRPr lang="en-US" sz="1600"/>
          </a:p>
        </p:txBody>
      </p:sp>
      <p:sp>
        <p:nvSpPr>
          <p:cNvPr id="388220440" name="Text 11"/>
          <p:cNvSpPr/>
          <p:nvPr/>
        </p:nvSpPr>
        <p:spPr bwMode="auto">
          <a:xfrm>
            <a:off x="82296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Tool Use guide oficial</a:t>
            </a:r>
            <a:endParaRPr lang="en-US" sz="1100"/>
          </a:p>
        </p:txBody>
      </p:sp>
      <p:sp>
        <p:nvSpPr>
          <p:cNvPr id="763150619" name="Shape 12"/>
          <p:cNvSpPr/>
          <p:nvPr/>
        </p:nvSpPr>
        <p:spPr bwMode="auto">
          <a:xfrm>
            <a:off x="822960" y="5349240"/>
            <a:ext cx="3017519" cy="0"/>
          </a:xfrm>
          <a:prstGeom prst="line">
            <a:avLst/>
          </a:prstGeom>
          <a:noFill/>
          <a:ln w="6350">
            <a:solidFill>
              <a:srgbClr val="00D9FF">
                <a:alpha val="50000"/>
              </a:srgbClr>
            </a:solidFill>
            <a:prstDash val="solid"/>
          </a:ln>
        </p:spPr>
      </p:sp>
      <p:sp>
        <p:nvSpPr>
          <p:cNvPr id="271529569" name="Text 13"/>
          <p:cNvSpPr/>
          <p:nvPr/>
        </p:nvSpPr>
        <p:spPr bwMode="auto">
          <a:xfrm>
            <a:off x="822960" y="5440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docs.anthropic.com</a:t>
            </a:r>
            <a:endParaRPr lang="en-US" sz="1100"/>
          </a:p>
        </p:txBody>
      </p:sp>
      <p:sp>
        <p:nvSpPr>
          <p:cNvPr id="414858688" name="Shape 14"/>
          <p:cNvSpPr/>
          <p:nvPr/>
        </p:nvSpPr>
        <p:spPr bwMode="auto">
          <a:xfrm>
            <a:off x="4370832" y="4160519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pic>
        <p:nvPicPr>
          <p:cNvPr id="791826906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645152" y="4343400"/>
            <a:ext cx="457200" cy="457200"/>
          </a:xfrm>
          <a:prstGeom prst="rect">
            <a:avLst/>
          </a:prstGeom>
        </p:spPr>
      </p:pic>
      <p:sp>
        <p:nvSpPr>
          <p:cNvPr id="1243648383" name="Text 15"/>
          <p:cNvSpPr/>
          <p:nvPr/>
        </p:nvSpPr>
        <p:spPr bwMode="auto">
          <a:xfrm>
            <a:off x="5239512" y="4297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OpenAI Cookbook</a:t>
            </a:r>
            <a:endParaRPr lang="en-US" sz="1600"/>
          </a:p>
        </p:txBody>
      </p:sp>
      <p:sp>
        <p:nvSpPr>
          <p:cNvPr id="610462989" name="Text 16"/>
          <p:cNvSpPr/>
          <p:nvPr/>
        </p:nvSpPr>
        <p:spPr bwMode="auto">
          <a:xfrm>
            <a:off x="4645152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Function calling examples</a:t>
            </a:r>
            <a:endParaRPr lang="en-US" sz="1100"/>
          </a:p>
        </p:txBody>
      </p:sp>
      <p:sp>
        <p:nvSpPr>
          <p:cNvPr id="6618389" name="Shape 17"/>
          <p:cNvSpPr/>
          <p:nvPr/>
        </p:nvSpPr>
        <p:spPr bwMode="auto">
          <a:xfrm>
            <a:off x="4645152" y="5349240"/>
            <a:ext cx="3017519" cy="0"/>
          </a:xfrm>
          <a:prstGeom prst="line">
            <a:avLst/>
          </a:prstGeom>
          <a:noFill/>
          <a:ln w="6350">
            <a:solidFill>
              <a:srgbClr val="00D9FF">
                <a:alpha val="50000"/>
              </a:srgbClr>
            </a:solidFill>
            <a:prstDash val="solid"/>
          </a:ln>
        </p:spPr>
      </p:sp>
      <p:sp>
        <p:nvSpPr>
          <p:cNvPr id="787825649" name="Text 18"/>
          <p:cNvSpPr/>
          <p:nvPr/>
        </p:nvSpPr>
        <p:spPr bwMode="auto">
          <a:xfrm>
            <a:off x="4645152" y="5440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cookbook.openai.com</a:t>
            </a:r>
            <a:endParaRPr lang="en-US" sz="1100"/>
          </a:p>
        </p:txBody>
      </p:sp>
      <p:sp>
        <p:nvSpPr>
          <p:cNvPr id="935169637" name="Shape 19"/>
          <p:cNvSpPr/>
          <p:nvPr/>
        </p:nvSpPr>
        <p:spPr bwMode="auto">
          <a:xfrm>
            <a:off x="8193024" y="4160519"/>
            <a:ext cx="3611880" cy="1691640"/>
          </a:xfrm>
          <a:prstGeom prst="rect">
            <a:avLst/>
          </a:prstGeom>
          <a:solidFill>
            <a:srgbClr val="131829"/>
          </a:solidFill>
          <a:ln w="12700">
            <a:solidFill>
              <a:srgbClr val="1E2940"/>
            </a:solidFill>
            <a:prstDash val="solid"/>
          </a:ln>
        </p:spPr>
      </p:sp>
      <p:pic>
        <p:nvPicPr>
          <p:cNvPr id="1605853478" name="Image 3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467344" y="4343400"/>
            <a:ext cx="457200" cy="457200"/>
          </a:xfrm>
          <a:prstGeom prst="rect">
            <a:avLst/>
          </a:prstGeom>
        </p:spPr>
      </p:pic>
      <p:sp>
        <p:nvSpPr>
          <p:cNvPr id="1192015995" name="Text 20"/>
          <p:cNvSpPr/>
          <p:nvPr/>
        </p:nvSpPr>
        <p:spPr bwMode="auto">
          <a:xfrm>
            <a:off x="9061704" y="4297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Spec</a:t>
            </a:r>
            <a:endParaRPr lang="en-US" sz="1600"/>
          </a:p>
        </p:txBody>
      </p:sp>
      <p:sp>
        <p:nvSpPr>
          <p:cNvPr id="635337710" name="Text 21"/>
          <p:cNvSpPr/>
          <p:nvPr/>
        </p:nvSpPr>
        <p:spPr bwMode="auto">
          <a:xfrm>
            <a:off x="8467344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Especificación oficial</a:t>
            </a:r>
            <a:endParaRPr lang="en-US" sz="1100"/>
          </a:p>
        </p:txBody>
      </p:sp>
      <p:sp>
        <p:nvSpPr>
          <p:cNvPr id="997359839" name="Shape 22"/>
          <p:cNvSpPr/>
          <p:nvPr/>
        </p:nvSpPr>
        <p:spPr bwMode="auto">
          <a:xfrm>
            <a:off x="8467344" y="5349240"/>
            <a:ext cx="3017519" cy="0"/>
          </a:xfrm>
          <a:prstGeom prst="line">
            <a:avLst/>
          </a:prstGeom>
          <a:noFill/>
          <a:ln w="6350">
            <a:solidFill>
              <a:srgbClr val="00D9FF">
                <a:alpha val="50000"/>
              </a:srgbClr>
            </a:solidFill>
            <a:prstDash val="solid"/>
          </a:ln>
        </p:spPr>
      </p:sp>
      <p:sp>
        <p:nvSpPr>
          <p:cNvPr id="73404217" name="Text 23"/>
          <p:cNvSpPr/>
          <p:nvPr/>
        </p:nvSpPr>
        <p:spPr bwMode="auto">
          <a:xfrm>
            <a:off x="8467344" y="5440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0D9FF"/>
                </a:solidFill>
                <a:latin typeface="Consolas"/>
                <a:ea typeface="Consolas"/>
                <a:cs typeface="Consolas"/>
              </a:rPr>
              <a:t>modelcontextprotocol.io</a:t>
            </a:r>
            <a:endParaRPr lang="en-US" sz="1100"/>
          </a:p>
        </p:txBody>
      </p:sp>
      <p:sp>
        <p:nvSpPr>
          <p:cNvPr id="603711869" name="Shape 24"/>
          <p:cNvSpPr/>
          <p:nvPr/>
        </p:nvSpPr>
        <p:spPr bwMode="auto">
          <a:xfrm>
            <a:off x="548640" y="5989320"/>
            <a:ext cx="11064240" cy="365760"/>
          </a:xfrm>
          <a:prstGeom prst="rect">
            <a:avLst/>
          </a:prstGeom>
          <a:solidFill>
            <a:srgbClr val="050810"/>
          </a:solidFill>
          <a:ln w="12700">
            <a:solidFill>
              <a:srgbClr val="00FF94"/>
            </a:solidFill>
            <a:prstDash val="solid"/>
          </a:ln>
        </p:spPr>
      </p:sp>
      <p:sp>
        <p:nvSpPr>
          <p:cNvPr id="519444579" name="Text 25"/>
          <p:cNvSpPr/>
          <p:nvPr/>
        </p:nvSpPr>
        <p:spPr bwMode="auto">
          <a:xfrm>
            <a:off x="77724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300">
                <a:solidFill>
                  <a:srgbClr val="00FF94"/>
                </a:solidFill>
                <a:latin typeface="Consolas"/>
                <a:ea typeface="Consolas"/>
                <a:cs typeface="Consolas"/>
              </a:rPr>
              <a:t>SÍGUEME  ·  </a:t>
            </a: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elrarodenegro  ·  </a:t>
            </a:r>
            <a:r>
              <a:rPr lang="en-US" sz="1100" i="1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ciberseguridad · ethical hacking · IA aplicada</a:t>
            </a:r>
            <a:endParaRPr lang="en-US" sz="1100"/>
          </a:p>
        </p:txBody>
      </p:sp>
      <p:sp>
        <p:nvSpPr>
          <p:cNvPr id="1640565561" name="Shape 26"/>
          <p:cNvSpPr/>
          <p:nvPr/>
        </p:nvSpPr>
        <p:spPr bwMode="auto">
          <a:xfrm>
            <a:off x="457200" y="6446520"/>
            <a:ext cx="11277295" cy="0"/>
          </a:xfrm>
          <a:prstGeom prst="line">
            <a:avLst/>
          </a:prstGeom>
          <a:noFill/>
          <a:ln w="6350">
            <a:solidFill>
              <a:srgbClr val="00D9FF">
                <a:alpha val="30000"/>
              </a:srgbClr>
            </a:solidFill>
            <a:prstDash val="solid"/>
          </a:ln>
        </p:spPr>
      </p:sp>
      <p:sp>
        <p:nvSpPr>
          <p:cNvPr id="348810816" name="Text 27"/>
          <p:cNvSpPr/>
          <p:nvPr/>
        </p:nvSpPr>
        <p:spPr bwMode="auto"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elrarodenegro · Cristian</a:t>
            </a:r>
            <a:r>
              <a:rPr lang="es-ES" sz="900" b="0" i="0" u="none" strike="noStrike" cap="none" spc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 Rios</a:t>
            </a:r>
            <a:endParaRPr lang="en-US" sz="900"/>
          </a:p>
        </p:txBody>
      </p:sp>
      <p:sp>
        <p:nvSpPr>
          <p:cNvPr id="1989035880" name="Text 28"/>
          <p:cNvSpPr/>
          <p:nvPr/>
        </p:nvSpPr>
        <p:spPr bwMode="auto">
          <a:xfrm>
            <a:off x="10820095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23 / 24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146188" name="Text 0"/>
          <p:cNvSpPr/>
          <p:nvPr/>
        </p:nvSpPr>
        <p:spPr bwMode="auto">
          <a:xfrm>
            <a:off x="548640" y="18288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¿Preguntas?</a:t>
            </a:r>
            <a:endParaRPr lang="en-US" sz="12000"/>
          </a:p>
        </p:txBody>
      </p:sp>
      <p:sp>
        <p:nvSpPr>
          <p:cNvPr id="1361516943" name="Shape 1"/>
          <p:cNvSpPr/>
          <p:nvPr/>
        </p:nvSpPr>
        <p:spPr bwMode="auto">
          <a:xfrm>
            <a:off x="5120640" y="3291840"/>
            <a:ext cx="1920240" cy="0"/>
          </a:xfrm>
          <a:prstGeom prst="line">
            <a:avLst/>
          </a:prstGeom>
          <a:noFill/>
          <a:ln w="38100">
            <a:solidFill>
              <a:srgbClr val="00D9FF"/>
            </a:solidFill>
            <a:prstDash val="solid"/>
          </a:ln>
        </p:spPr>
      </p:sp>
      <p:sp>
        <p:nvSpPr>
          <p:cNvPr id="92729338" name="Text 3"/>
          <p:cNvSpPr/>
          <p:nvPr/>
        </p:nvSpPr>
        <p:spPr bwMode="auto"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Gracias por compartir esta hora y media.</a:t>
            </a:r>
            <a:endParaRPr 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Axity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Creación de agentes de IA para automatización de procesos</dc:title>
  <dc:subject>PptxGenJS Presentation</dc:subject>
  <dc:creator>Cristian - elrarodenegro</dc:creator>
  <cp:lastModifiedBy/>
  <cp:revision>2</cp:revision>
  <dcterms:created xsi:type="dcterms:W3CDTF">2026-04-27T22:47:26Z</dcterms:created>
  <dcterms:modified xsi:type="dcterms:W3CDTF">2026-05-09T17:31:52Z</dcterms:modified>
</cp:coreProperties>
</file>