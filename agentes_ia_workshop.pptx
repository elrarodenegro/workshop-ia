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image" Target="../media/image-18-6.png"/><Relationship Id="rId7" Type="http://schemas.openxmlformats.org/officeDocument/2006/relationships/image" Target="../media/image-18-7.png"/><Relationship Id="rId8" Type="http://schemas.openxmlformats.org/officeDocument/2006/relationships/image" Target="../media/image-1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 · 90 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agentes de IA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1031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automatización de procesos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31089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Building AI Agents for Process Automation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3840480"/>
            <a:ext cx="365760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29768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FUNDAMENTOS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Fundamentals</a:t>
            </a:r>
            <a:endParaRPr lang="en-US" sz="10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42976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4632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ARQUITECTURAS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84632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Architectures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0" y="429768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3920" y="4251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WORKSHOP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8503920" y="4526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Hands-on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548640" y="5852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· elrarodenegro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548640" y="6126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Cybersecurity · AI Agents · Automation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10241280" y="5760720"/>
            <a:ext cx="1463040" cy="548640"/>
          </a:xfrm>
          <a:prstGeom prst="rect">
            <a:avLst/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241280" y="57607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agent.run()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soy?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whoami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029200" cy="457200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502920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elrarodenegro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2697480"/>
            <a:ext cx="1371600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017520"/>
            <a:ext cx="45720" cy="4572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&amp; Security Architect @ Axity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3429000"/>
            <a:ext cx="45720" cy="4572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3337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Tenable specialist · LATAM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3840480"/>
            <a:ext cx="45720" cy="4572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749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 de plataformas de threat hunting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4251960"/>
            <a:ext cx="45720" cy="4572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de elrarodenegro · educación en hacking ético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4937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 STORY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5212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Cybersecurity Championship · Athens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5321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Disciplina + curiosidad + 5am.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2011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/ Agents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233172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0" y="233172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API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818120" y="233172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23317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869680" y="2331720"/>
            <a:ext cx="109728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0" y="233172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 Use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0104120" y="2331720"/>
            <a:ext cx="64008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04120" y="2331720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0" y="288036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00800" y="3200400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0" y="320040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452360" y="3200400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32004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595360" y="3200400"/>
            <a:ext cx="164592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95360" y="3200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Celery + Redis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0080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0" y="406908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40690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818120" y="406908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18120" y="406908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Neo4j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46177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400800" y="493776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493776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Tenable Suite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092440" y="493776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092440" y="493776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Burp Suite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9509760" y="4937760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509760" y="4937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OSINT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roadmap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105156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91440" cy="1051560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828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min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2402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984248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92608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292608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Fundamentals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583680" y="198424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agente? Anatomía. Cuándo NO usar agentes.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2880360"/>
            <a:ext cx="11064240" cy="105156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48640" y="2880360"/>
            <a:ext cx="91440" cy="1051560"/>
          </a:xfrm>
          <a:prstGeom prst="rect">
            <a:avLst/>
          </a:prstGeom>
          <a:solidFill>
            <a:srgbClr val="B02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0175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min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777240" y="342900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3172968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2608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2926080" y="3383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Architectures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6583680" y="317296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niveles: simple → multi-agente → producción. MCP.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548640" y="4069080"/>
            <a:ext cx="11064240" cy="105156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48640" y="4069080"/>
            <a:ext cx="91440" cy="105156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77240" y="42062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 min</a:t>
            </a:r>
            <a:endParaRPr lang="en-US" sz="1800" dirty="0"/>
          </a:p>
        </p:txBody>
      </p:sp>
      <p:sp>
        <p:nvSpPr>
          <p:cNvPr id="24" name="Text 20"/>
          <p:cNvSpPr/>
          <p:nvPr/>
        </p:nvSpPr>
        <p:spPr>
          <a:xfrm>
            <a:off x="777240" y="4617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0" y="4361688"/>
            <a:ext cx="457200" cy="45720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2926080" y="4160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</a:t>
            </a:r>
            <a:endParaRPr lang="en-US" sz="2200" dirty="0"/>
          </a:p>
        </p:txBody>
      </p:sp>
      <p:sp>
        <p:nvSpPr>
          <p:cNvPr id="27" name="Text 22"/>
          <p:cNvSpPr/>
          <p:nvPr/>
        </p:nvSpPr>
        <p:spPr>
          <a:xfrm>
            <a:off x="292608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Hands-on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583680" y="436168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casos: low-code → Python + Claude → comparación de modelos.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48640" y="5257800"/>
            <a:ext cx="11064240" cy="105156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48640" y="5257800"/>
            <a:ext cx="91440" cy="105156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777240" y="5394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min</a:t>
            </a:r>
            <a:endParaRPr lang="en-US" sz="1800" dirty="0"/>
          </a:p>
        </p:txBody>
      </p:sp>
      <p:sp>
        <p:nvSpPr>
          <p:cNvPr id="32" name="Text 27"/>
          <p:cNvSpPr/>
          <p:nvPr/>
        </p:nvSpPr>
        <p:spPr>
          <a:xfrm>
            <a:off x="777240" y="58064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</a:t>
            </a:r>
            <a:endParaRPr lang="en-US" sz="10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5550408"/>
            <a:ext cx="457200" cy="45720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2926080" y="53492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+ Q&amp;A</a:t>
            </a:r>
            <a:endParaRPr lang="en-US" sz="2200" dirty="0"/>
          </a:p>
        </p:txBody>
      </p:sp>
      <p:sp>
        <p:nvSpPr>
          <p:cNvPr id="35" name="Text 29"/>
          <p:cNvSpPr/>
          <p:nvPr/>
        </p:nvSpPr>
        <p:spPr>
          <a:xfrm>
            <a:off x="2926080" y="5760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Wrap up</a:t>
            </a:r>
            <a:endParaRPr lang="en-US" sz="1100" dirty="0"/>
          </a:p>
        </p:txBody>
      </p:sp>
      <p:sp>
        <p:nvSpPr>
          <p:cNvPr id="36" name="Text 30"/>
          <p:cNvSpPr/>
          <p:nvPr/>
        </p:nvSpPr>
        <p:spPr>
          <a:xfrm>
            <a:off x="6583680" y="5550408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clave. Recursos. Preguntas.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548640" y="3657600"/>
            <a:ext cx="54864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BLOQUE 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 de IA agéntica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Foundations of agentic AI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un agente · Anatomía · Vs. automatización tradicional · Cuándo NO usar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¿Cuántas cosas hiciste hoy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548640" y="2286000"/>
            <a:ext cx="11064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una máquina pudo haber hecho por ti?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029200" y="3657600"/>
            <a:ext cx="2103120" cy="0"/>
          </a:xfrm>
          <a:prstGeom prst="line">
            <a:avLst/>
          </a:prstGeom>
          <a:noFill/>
          <a:ln w="25400">
            <a:solidFill>
              <a:srgbClr val="00F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38404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How many things did you do today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1605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that a machine could have done for you?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5303520"/>
            <a:ext cx="393192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00FF9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54406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846320" y="5349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DEMO EN VIVO  →  Tenable AI Agent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conceptos que la gente confunde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LLM vs Chatbot vs Agent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3611880" cy="461772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36118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96596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08760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Large Language Model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brain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77240" y="3611880"/>
            <a:ext cx="91440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" y="3794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texto, devuelve texto.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tiene memoria entre llamadas.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puede ejecutar acciones.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EJEMPLOS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777240" y="5669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GPT-4, Claude, Gemini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370832" y="1691640"/>
            <a:ext cx="3611880" cy="461772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370832" y="1691640"/>
            <a:ext cx="361188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432" y="1965960"/>
            <a:ext cx="640080" cy="64008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330952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CHATBOT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5330952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Conversational UI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4599432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mesero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4599432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waiter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599432" y="3611880"/>
            <a:ext cx="914400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599432" y="3794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interfaz de chat.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Mantiene la conversación.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Responde, pero no actúa por ti.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599432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EJEMPLOS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4599432" y="5669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ChatGPT, claude.ai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8193024" y="1691640"/>
            <a:ext cx="3611880" cy="461772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193024" y="1691640"/>
            <a:ext cx="3611880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1624" y="1965960"/>
            <a:ext cx="640080" cy="64008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153144" y="20116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9153144" y="23317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8421624" y="2743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asistente</a:t>
            </a:r>
            <a:endParaRPr lang="en-US" sz="2200" dirty="0"/>
          </a:p>
        </p:txBody>
      </p:sp>
      <p:sp>
        <p:nvSpPr>
          <p:cNvPr id="33" name="Text 28"/>
          <p:cNvSpPr/>
          <p:nvPr/>
        </p:nvSpPr>
        <p:spPr>
          <a:xfrm>
            <a:off x="8421624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assistant</a:t>
            </a:r>
            <a:endParaRPr lang="en-US" sz="1100" dirty="0"/>
          </a:p>
        </p:txBody>
      </p:sp>
      <p:sp>
        <p:nvSpPr>
          <p:cNvPr id="34" name="Shape 29"/>
          <p:cNvSpPr/>
          <p:nvPr/>
        </p:nvSpPr>
        <p:spPr>
          <a:xfrm>
            <a:off x="8421624" y="3611880"/>
            <a:ext cx="914400" cy="0"/>
          </a:xfrm>
          <a:prstGeom prst="line">
            <a:avLst/>
          </a:prstGeom>
          <a:noFill/>
          <a:ln w="19050">
            <a:solidFill>
              <a:srgbClr val="00FF94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8421624" y="379476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herramientas + memoria.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 hacer, lo ejecuta,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 el resultado, itera.</a:t>
            </a:r>
            <a:endParaRPr lang="en-US" sz="1200" dirty="0"/>
          </a:p>
        </p:txBody>
      </p:sp>
      <p:sp>
        <p:nvSpPr>
          <p:cNvPr id="36" name="Text 31"/>
          <p:cNvSpPr/>
          <p:nvPr/>
        </p:nvSpPr>
        <p:spPr>
          <a:xfrm>
            <a:off x="8421624" y="54406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8421624" y="56692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Cursor, Claude Code, n8n + AI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loop del agente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agentic loop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corazón de cualquier agente: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60908" y="2194560"/>
            <a:ext cx="2377440" cy="2194560"/>
          </a:xfrm>
          <a:prstGeom prst="rect">
            <a:avLst/>
          </a:prstGeom>
          <a:solidFill>
            <a:srgbClr val="131829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0908" y="2194560"/>
            <a:ext cx="23774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0908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4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3868" y="2834640"/>
            <a:ext cx="731520" cy="7315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0908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PERCIBIR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0908" y="3950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Perceive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60908" y="4526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Recibe input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contexto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3256636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3558388" y="2194560"/>
            <a:ext cx="2377440" cy="2194560"/>
          </a:xfrm>
          <a:prstGeom prst="rect">
            <a:avLst/>
          </a:prstGeom>
          <a:solidFill>
            <a:srgbClr val="131829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558388" y="2194560"/>
            <a:ext cx="23774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58388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4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348" y="2834640"/>
            <a:ext cx="731520" cy="73152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558388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RAZONAR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3558388" y="3950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Reason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3558388" y="4526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qué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usar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5954116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6255868" y="2194560"/>
            <a:ext cx="2377440" cy="2194560"/>
          </a:xfrm>
          <a:prstGeom prst="rect">
            <a:avLst/>
          </a:prstGeom>
          <a:solidFill>
            <a:srgbClr val="131829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55868" y="2194560"/>
            <a:ext cx="23774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55868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4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8828" y="2834640"/>
            <a:ext cx="731520" cy="7315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255868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ACTUAR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6255868" y="3950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Act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6255868" y="4526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herramienta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8651596" y="306324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2200" dirty="0"/>
          </a:p>
        </p:txBody>
      </p:sp>
      <p:sp>
        <p:nvSpPr>
          <p:cNvPr id="30" name="Shape 25"/>
          <p:cNvSpPr/>
          <p:nvPr/>
        </p:nvSpPr>
        <p:spPr>
          <a:xfrm>
            <a:off x="8953348" y="2194560"/>
            <a:ext cx="2377440" cy="2194560"/>
          </a:xfrm>
          <a:prstGeom prst="rect">
            <a:avLst/>
          </a:prstGeom>
          <a:solidFill>
            <a:srgbClr val="131829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953348" y="2194560"/>
            <a:ext cx="23774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953348" y="2377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400" dirty="0"/>
          </a:p>
        </p:txBody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308" y="2834640"/>
            <a:ext cx="731520" cy="731520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8953348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OBSERVAR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8953348" y="3950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Observe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8953348" y="4526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 resultado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decide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10142068" y="5257800"/>
            <a:ext cx="0" cy="274320"/>
          </a:xfrm>
          <a:prstGeom prst="line">
            <a:avLst/>
          </a:prstGeom>
          <a:noFill/>
          <a:ln w="25400">
            <a:solidFill>
              <a:srgbClr val="00FF94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2049628" y="5532120"/>
            <a:ext cx="8092440" cy="0"/>
          </a:xfrm>
          <a:prstGeom prst="line">
            <a:avLst/>
          </a:prstGeom>
          <a:noFill/>
          <a:ln w="25400">
            <a:solidFill>
              <a:srgbClr val="00FF94"/>
            </a:solidFill>
            <a:prstDash val="dash"/>
          </a:ln>
        </p:spPr>
      </p:sp>
      <p:sp>
        <p:nvSpPr>
          <p:cNvPr id="39" name="Shape 33"/>
          <p:cNvSpPr/>
          <p:nvPr/>
        </p:nvSpPr>
        <p:spPr>
          <a:xfrm>
            <a:off x="2049628" y="5257800"/>
            <a:ext cx="0" cy="274320"/>
          </a:xfrm>
          <a:prstGeom prst="line">
            <a:avLst/>
          </a:prstGeom>
          <a:noFill/>
          <a:ln w="25400">
            <a:solidFill>
              <a:srgbClr val="00FF94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1912468" y="5102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4815688" y="5349240"/>
            <a:ext cx="2560320" cy="365760"/>
          </a:xfrm>
          <a:prstGeom prst="rect">
            <a:avLst/>
          </a:prstGeom>
          <a:solidFill>
            <a:srgbClr val="0A0E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815688" y="5349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spc="2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· until done</a:t>
            </a:r>
            <a:endParaRPr lang="en-US" sz="1200" dirty="0"/>
          </a:p>
        </p:txBody>
      </p:sp>
      <p:sp>
        <p:nvSpPr>
          <p:cNvPr id="43" name="Shape 37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131829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no es "un chatbot inteligente" — es un sistema que </a:t>
            </a:r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y actúa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bucle.</a:t>
            </a:r>
            <a:endParaRPr lang="en-US" sz="1200" dirty="0"/>
          </a:p>
        </p:txBody>
      </p:sp>
      <p:sp>
        <p:nvSpPr>
          <p:cNvPr id="45" name="Shape 39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Anatomía de un agente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5 components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 asistente humano nuevo en su primer día: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2212848" cy="416052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65960"/>
            <a:ext cx="2212848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1488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3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016" y="2788920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34747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3794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Model / LLM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197864" y="4114800"/>
            <a:ext cx="731520" cy="0"/>
          </a:xfrm>
          <a:prstGeom prst="line">
            <a:avLst/>
          </a:prstGeom>
          <a:noFill/>
          <a:ln w="12700">
            <a:solidFill>
              <a:srgbClr val="1E29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94360" y="420624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que razona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94360" y="5166360"/>
            <a:ext cx="1938528" cy="841248"/>
          </a:xfrm>
          <a:prstGeom prst="rect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" y="521208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ANALOGÍA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640080" y="541324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cerebro de la persona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2715768" y="1965960"/>
            <a:ext cx="2212848" cy="416052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15768" y="1965960"/>
            <a:ext cx="2212848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715768" y="21488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360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9584" y="2788920"/>
            <a:ext cx="585216" cy="58521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715768" y="34747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INSTRUCCIONES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2715768" y="3794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System prompt</a:t>
            </a:r>
            <a:endParaRPr lang="en-US" sz="900" dirty="0"/>
          </a:p>
        </p:txBody>
      </p:sp>
      <p:sp>
        <p:nvSpPr>
          <p:cNvPr id="23" name="Shape 19"/>
          <p:cNvSpPr/>
          <p:nvPr/>
        </p:nvSpPr>
        <p:spPr>
          <a:xfrm>
            <a:off x="3456432" y="4114800"/>
            <a:ext cx="731520" cy="0"/>
          </a:xfrm>
          <a:prstGeom prst="line">
            <a:avLst/>
          </a:prstGeom>
          <a:noFill/>
          <a:ln w="12700">
            <a:solidFill>
              <a:srgbClr val="1E294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852928" y="420624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Reglas, tono, objetivos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2852928" y="5166360"/>
            <a:ext cx="1938528" cy="841248"/>
          </a:xfrm>
          <a:prstGeom prst="rect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852928" y="521208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ANALOGÍA</a:t>
            </a:r>
            <a:endParaRPr lang="en-US" sz="800" dirty="0"/>
          </a:p>
        </p:txBody>
      </p:sp>
      <p:sp>
        <p:nvSpPr>
          <p:cNvPr id="27" name="Text 23"/>
          <p:cNvSpPr/>
          <p:nvPr/>
        </p:nvSpPr>
        <p:spPr>
          <a:xfrm>
            <a:off x="2898648" y="541324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manual del puesto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974336" y="1965960"/>
            <a:ext cx="2212848" cy="416052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4974336" y="1965960"/>
            <a:ext cx="2212848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974336" y="21488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3600" dirty="0"/>
          </a:p>
        </p:txBody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8152" y="2788920"/>
            <a:ext cx="585216" cy="585216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974336" y="34747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HERRAMIENTAS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4974336" y="3794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Tools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5715000" y="4114800"/>
            <a:ext cx="731520" cy="0"/>
          </a:xfrm>
          <a:prstGeom prst="line">
            <a:avLst/>
          </a:prstGeom>
          <a:noFill/>
          <a:ln w="12700">
            <a:solidFill>
              <a:srgbClr val="1E2940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5111496" y="420624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APIs, funciones, sistemas que puede invocar</a:t>
            </a:r>
            <a:endParaRPr lang="en-US" sz="1050" dirty="0"/>
          </a:p>
        </p:txBody>
      </p:sp>
      <p:sp>
        <p:nvSpPr>
          <p:cNvPr id="36" name="Shape 31"/>
          <p:cNvSpPr/>
          <p:nvPr/>
        </p:nvSpPr>
        <p:spPr>
          <a:xfrm>
            <a:off x="5111496" y="5166360"/>
            <a:ext cx="1938528" cy="841248"/>
          </a:xfrm>
          <a:prstGeom prst="rect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5111496" y="521208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ANALOGÍA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5157216" y="541324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 credenciales y accesos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7232904" y="1965960"/>
            <a:ext cx="2212848" cy="416052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40" name="Shape 35"/>
          <p:cNvSpPr/>
          <p:nvPr/>
        </p:nvSpPr>
        <p:spPr>
          <a:xfrm>
            <a:off x="7232904" y="1965960"/>
            <a:ext cx="2212848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232904" y="21488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3600" dirty="0"/>
          </a:p>
        </p:txBody>
      </p:sp>
      <p:pic>
        <p:nvPicPr>
          <p:cNvPr id="4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0" y="2788920"/>
            <a:ext cx="585216" cy="585216"/>
          </a:xfrm>
          <a:prstGeom prst="rect">
            <a:avLst/>
          </a:prstGeom>
        </p:spPr>
      </p:pic>
      <p:sp>
        <p:nvSpPr>
          <p:cNvPr id="43" name="Text 37"/>
          <p:cNvSpPr/>
          <p:nvPr/>
        </p:nvSpPr>
        <p:spPr>
          <a:xfrm>
            <a:off x="7232904" y="34747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MEMORIA</a:t>
            </a:r>
            <a:endParaRPr lang="en-US" sz="1300" dirty="0"/>
          </a:p>
        </p:txBody>
      </p:sp>
      <p:sp>
        <p:nvSpPr>
          <p:cNvPr id="44" name="Text 38"/>
          <p:cNvSpPr/>
          <p:nvPr/>
        </p:nvSpPr>
        <p:spPr>
          <a:xfrm>
            <a:off x="7232904" y="3794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Memory</a:t>
            </a:r>
            <a:endParaRPr lang="en-US" sz="900" dirty="0"/>
          </a:p>
        </p:txBody>
      </p:sp>
      <p:sp>
        <p:nvSpPr>
          <p:cNvPr id="45" name="Shape 39"/>
          <p:cNvSpPr/>
          <p:nvPr/>
        </p:nvSpPr>
        <p:spPr>
          <a:xfrm>
            <a:off x="7973568" y="4114800"/>
            <a:ext cx="731520" cy="0"/>
          </a:xfrm>
          <a:prstGeom prst="line">
            <a:avLst/>
          </a:prstGeom>
          <a:noFill/>
          <a:ln w="12700">
            <a:solidFill>
              <a:srgbClr val="1E2940"/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7370064" y="420624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Corto plazo (chat) y largo plazo (vector DB)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7370064" y="5166360"/>
            <a:ext cx="1938528" cy="841248"/>
          </a:xfrm>
          <a:prstGeom prst="rect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7370064" y="521208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ANALOGÍA</a:t>
            </a:r>
            <a:endParaRPr lang="en-US" sz="800" dirty="0"/>
          </a:p>
        </p:txBody>
      </p:sp>
      <p:sp>
        <p:nvSpPr>
          <p:cNvPr id="49" name="Text 43"/>
          <p:cNvSpPr/>
          <p:nvPr/>
        </p:nvSpPr>
        <p:spPr>
          <a:xfrm>
            <a:off x="7415784" y="541324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 libreta de notas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9491472" y="1965960"/>
            <a:ext cx="2212848" cy="416052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9491472" y="1965960"/>
            <a:ext cx="2212848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9491472" y="2148840"/>
            <a:ext cx="2212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3600" dirty="0"/>
          </a:p>
        </p:txBody>
      </p:sp>
      <p:pic>
        <p:nvPicPr>
          <p:cNvPr id="5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05288" y="2788920"/>
            <a:ext cx="585216" cy="585216"/>
          </a:xfrm>
          <a:prstGeom prst="rect">
            <a:avLst/>
          </a:prstGeom>
        </p:spPr>
      </p:pic>
      <p:sp>
        <p:nvSpPr>
          <p:cNvPr id="54" name="Text 47"/>
          <p:cNvSpPr/>
          <p:nvPr/>
        </p:nvSpPr>
        <p:spPr>
          <a:xfrm>
            <a:off x="9491472" y="3474720"/>
            <a:ext cx="22128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ORQUESTADOR</a:t>
            </a:r>
            <a:endParaRPr lang="en-US" sz="1300" dirty="0"/>
          </a:p>
        </p:txBody>
      </p:sp>
      <p:sp>
        <p:nvSpPr>
          <p:cNvPr id="55" name="Text 48"/>
          <p:cNvSpPr/>
          <p:nvPr/>
        </p:nvSpPr>
        <p:spPr>
          <a:xfrm>
            <a:off x="9491472" y="3794760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Orchestrator</a:t>
            </a:r>
            <a:endParaRPr lang="en-US" sz="900" dirty="0"/>
          </a:p>
        </p:txBody>
      </p:sp>
      <p:sp>
        <p:nvSpPr>
          <p:cNvPr id="56" name="Shape 49"/>
          <p:cNvSpPr/>
          <p:nvPr/>
        </p:nvSpPr>
        <p:spPr>
          <a:xfrm>
            <a:off x="10232136" y="4114800"/>
            <a:ext cx="731520" cy="0"/>
          </a:xfrm>
          <a:prstGeom prst="line">
            <a:avLst/>
          </a:prstGeom>
          <a:noFill/>
          <a:ln w="12700">
            <a:solidFill>
              <a:srgbClr val="1E2940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9628632" y="4206240"/>
            <a:ext cx="193852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decide el flujo: el LLM o código externo</a:t>
            </a:r>
            <a:endParaRPr lang="en-US" sz="1050" dirty="0"/>
          </a:p>
        </p:txBody>
      </p:sp>
      <p:sp>
        <p:nvSpPr>
          <p:cNvPr id="58" name="Shape 51"/>
          <p:cNvSpPr/>
          <p:nvPr/>
        </p:nvSpPr>
        <p:spPr>
          <a:xfrm>
            <a:off x="9628632" y="5166360"/>
            <a:ext cx="1938528" cy="841248"/>
          </a:xfrm>
          <a:prstGeom prst="rect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59" name="Text 52"/>
          <p:cNvSpPr/>
          <p:nvPr/>
        </p:nvSpPr>
        <p:spPr>
          <a:xfrm>
            <a:off x="9628632" y="5212080"/>
            <a:ext cx="1938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2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ANALOGÍA</a:t>
            </a:r>
            <a:endParaRPr lang="en-US" sz="800" dirty="0"/>
          </a:p>
        </p:txBody>
      </p:sp>
      <p:sp>
        <p:nvSpPr>
          <p:cNvPr id="60" name="Text 53"/>
          <p:cNvSpPr/>
          <p:nvPr/>
        </p:nvSpPr>
        <p:spPr>
          <a:xfrm>
            <a:off x="9674352" y="5413248"/>
            <a:ext cx="18470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supervisor que coordina</a:t>
            </a:r>
            <a:endParaRPr lang="en-US" sz="1000" dirty="0"/>
          </a:p>
        </p:txBody>
      </p:sp>
      <p:sp>
        <p:nvSpPr>
          <p:cNvPr id="61" name="Shape 5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62" name="Text 5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63" name="Text 5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Agentes vs. Automatización tradicional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agents vs traditional automation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5440680" cy="457200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5440680" cy="73152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AUTOMATIZACIÓN TRADICIONAL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508760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 · RPA · Workflows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2296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pasos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4612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TÚ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1089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ambigüedad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24612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35661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en runtime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4612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" y="40233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ejecución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246120" y="4114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Bajo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22960" y="44805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Predictibilidad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3246120" y="4572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Alta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822960" y="49377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2296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246120" y="5029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Procesos repetitivos y bien definidos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22960" y="53949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72200" y="1691640"/>
            <a:ext cx="5440680" cy="457200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2200" y="1691640"/>
            <a:ext cx="544068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920240"/>
            <a:ext cx="548640" cy="548640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7132320" y="18745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AGENTES DE IA</a:t>
            </a:r>
            <a:endParaRPr lang="en-US" sz="1500" dirty="0"/>
          </a:p>
        </p:txBody>
      </p:sp>
      <p:sp>
        <p:nvSpPr>
          <p:cNvPr id="32" name="Text 28"/>
          <p:cNvSpPr/>
          <p:nvPr/>
        </p:nvSpPr>
        <p:spPr>
          <a:xfrm>
            <a:off x="7132320" y="22402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· Tool Use · Loop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446520" y="2743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los pasos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869680" y="2743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AGENTE</a:t>
            </a:r>
            <a:endParaRPr lang="en-US" sz="1200" dirty="0"/>
          </a:p>
        </p:txBody>
      </p:sp>
      <p:sp>
        <p:nvSpPr>
          <p:cNvPr id="35" name="Shape 31"/>
          <p:cNvSpPr/>
          <p:nvPr/>
        </p:nvSpPr>
        <p:spPr>
          <a:xfrm>
            <a:off x="6446520" y="31089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644652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ambigüedad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8869680" y="3200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200" dirty="0"/>
          </a:p>
        </p:txBody>
      </p:sp>
      <p:sp>
        <p:nvSpPr>
          <p:cNvPr id="38" name="Shape 34"/>
          <p:cNvSpPr/>
          <p:nvPr/>
        </p:nvSpPr>
        <p:spPr>
          <a:xfrm>
            <a:off x="6446520" y="35661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446520" y="36576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en runtime</a:t>
            </a:r>
            <a:endParaRPr lang="en-US" sz="1100" dirty="0"/>
          </a:p>
        </p:txBody>
      </p:sp>
      <p:sp>
        <p:nvSpPr>
          <p:cNvPr id="40" name="Text 36"/>
          <p:cNvSpPr/>
          <p:nvPr/>
        </p:nvSpPr>
        <p:spPr>
          <a:xfrm>
            <a:off x="8869680" y="36576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</a:t>
            </a:r>
            <a:endParaRPr lang="en-US" sz="1200" dirty="0"/>
          </a:p>
        </p:txBody>
      </p:sp>
      <p:sp>
        <p:nvSpPr>
          <p:cNvPr id="41" name="Shape 37"/>
          <p:cNvSpPr/>
          <p:nvPr/>
        </p:nvSpPr>
        <p:spPr>
          <a:xfrm>
            <a:off x="6446520" y="40233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446520" y="4114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ejecución</a:t>
            </a:r>
            <a:endParaRPr lang="en-US" sz="1100" dirty="0"/>
          </a:p>
        </p:txBody>
      </p:sp>
      <p:sp>
        <p:nvSpPr>
          <p:cNvPr id="43" name="Text 39"/>
          <p:cNvSpPr/>
          <p:nvPr/>
        </p:nvSpPr>
        <p:spPr>
          <a:xfrm>
            <a:off x="8869680" y="41148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Medio-alto</a:t>
            </a:r>
            <a:endParaRPr lang="en-US" sz="1200" dirty="0"/>
          </a:p>
        </p:txBody>
      </p:sp>
      <p:sp>
        <p:nvSpPr>
          <p:cNvPr id="44" name="Shape 40"/>
          <p:cNvSpPr/>
          <p:nvPr/>
        </p:nvSpPr>
        <p:spPr>
          <a:xfrm>
            <a:off x="6446520" y="44805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6446520" y="45720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Predictibilidad</a:t>
            </a:r>
            <a:endParaRPr lang="en-US" sz="1100" dirty="0"/>
          </a:p>
        </p:txBody>
      </p:sp>
      <p:sp>
        <p:nvSpPr>
          <p:cNvPr id="46" name="Text 42"/>
          <p:cNvSpPr/>
          <p:nvPr/>
        </p:nvSpPr>
        <p:spPr>
          <a:xfrm>
            <a:off x="8869680" y="45720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</a:t>
            </a:r>
            <a:endParaRPr lang="en-US" sz="1200" dirty="0"/>
          </a:p>
        </p:txBody>
      </p:sp>
      <p:sp>
        <p:nvSpPr>
          <p:cNvPr id="47" name="Shape 43"/>
          <p:cNvSpPr/>
          <p:nvPr/>
        </p:nvSpPr>
        <p:spPr>
          <a:xfrm>
            <a:off x="6446520" y="49377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6446520" y="50292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</a:t>
            </a:r>
            <a:endParaRPr lang="en-US" sz="1100" dirty="0"/>
          </a:p>
        </p:txBody>
      </p:sp>
      <p:sp>
        <p:nvSpPr>
          <p:cNvPr id="49" name="Text 45"/>
          <p:cNvSpPr/>
          <p:nvPr/>
        </p:nvSpPr>
        <p:spPr>
          <a:xfrm>
            <a:off x="8869680" y="50292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Procesos con juicio, variabilidad o contexto</a:t>
            </a:r>
            <a:endParaRPr lang="en-US" sz="1200" dirty="0"/>
          </a:p>
        </p:txBody>
      </p:sp>
      <p:sp>
        <p:nvSpPr>
          <p:cNvPr id="50" name="Shape 46"/>
          <p:cNvSpPr/>
          <p:nvPr/>
        </p:nvSpPr>
        <p:spPr>
          <a:xfrm>
            <a:off x="6446520" y="5394960"/>
            <a:ext cx="4937760" cy="0"/>
          </a:xfrm>
          <a:prstGeom prst="line">
            <a:avLst/>
          </a:prstGeom>
          <a:noFill/>
          <a:ln w="6350">
            <a:solidFill>
              <a:srgbClr val="1E2940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53" name="Text 49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Cuándo NO usar un agente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when not to use agents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credibilidad técnica empieza por saber cuándo no necesitas la herramienta de moda.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5486400" cy="3886200"/>
          </a:xfrm>
          <a:prstGeom prst="rect">
            <a:avLst/>
          </a:prstGeom>
          <a:solidFill>
            <a:srgbClr val="13182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965960"/>
            <a:ext cx="54864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075688"/>
            <a:ext cx="246888" cy="2468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43000" y="19933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USES UN AGENTE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868680" y="2752344"/>
            <a:ext cx="7315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tarea es 100% determinista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868680" y="3255264"/>
            <a:ext cx="7315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siempre son los mismos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68680" y="3758184"/>
            <a:ext cx="7315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9728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input está bien estructurado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68680" y="4261104"/>
            <a:ext cx="7315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Necesitas latencia ultra-baja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868680" y="4764024"/>
            <a:ext cx="7315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9728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por ejecución importa mucho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68680" y="5266944"/>
            <a:ext cx="73152" cy="73152"/>
          </a:xfrm>
          <a:prstGeom prst="rect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9728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toleras ningún margen de error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172200" y="1965960"/>
            <a:ext cx="5486400" cy="3886200"/>
          </a:xfrm>
          <a:prstGeom prst="rect">
            <a:avLst/>
          </a:prstGeom>
          <a:solidFill>
            <a:srgbClr val="131829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172200" y="1965960"/>
            <a:ext cx="5486400" cy="45720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75688"/>
            <a:ext cx="246888" cy="24688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766560" y="1993392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 USA UN AGENTE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6492240" y="2752344"/>
            <a:ext cx="73152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720840" y="26060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input es texto libre o ambiguo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6492240" y="3255264"/>
            <a:ext cx="73152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720840" y="3108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pasos cambian según el contexto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6492240" y="3758184"/>
            <a:ext cx="73152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72084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combinar múltiples herramientas</a:t>
            </a:r>
            <a:endParaRPr lang="en-US" sz="1300" dirty="0"/>
          </a:p>
        </p:txBody>
      </p:sp>
      <p:sp>
        <p:nvSpPr>
          <p:cNvPr id="32" name="Shape 28"/>
          <p:cNvSpPr/>
          <p:nvPr/>
        </p:nvSpPr>
        <p:spPr>
          <a:xfrm>
            <a:off x="6492240" y="4261104"/>
            <a:ext cx="73152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672084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interpretar o resumir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6492240" y="4764024"/>
            <a:ext cx="73152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720840" y="46177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que tomar decisiones con criterio</a:t>
            </a:r>
            <a:endParaRPr lang="en-US" sz="1300" dirty="0"/>
          </a:p>
        </p:txBody>
      </p:sp>
      <p:sp>
        <p:nvSpPr>
          <p:cNvPr id="36" name="Shape 32"/>
          <p:cNvSpPr/>
          <p:nvPr/>
        </p:nvSpPr>
        <p:spPr>
          <a:xfrm>
            <a:off x="6492240" y="5266944"/>
            <a:ext cx="73152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6720840" y="5120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requiere razonamiento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05081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731520" y="59893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ORO: 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puedes resolverlo con un </a:t>
            </a:r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usa un </a:t>
            </a:r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if/else.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42" name="Text 3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548640" y="3657600"/>
            <a:ext cx="548640" cy="54864"/>
          </a:xfrm>
          <a:prstGeom prst="rect">
            <a:avLst/>
          </a:prstGeom>
          <a:solidFill>
            <a:srgbClr val="B02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BLOQUE 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de agentes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Agent architectures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niveles de complejidad · MCP como capa unificadora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1 · Agente simple con Tool Use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simple agent with tool use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926080"/>
            <a:ext cx="1828800" cy="1097280"/>
          </a:xfrm>
          <a:prstGeom prst="rect">
            <a:avLst/>
          </a:prstGeom>
          <a:solidFill>
            <a:srgbClr val="131829"/>
          </a:solidFill>
          <a:ln w="25400">
            <a:solidFill>
              <a:srgbClr val="00D9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31089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611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606040" y="3474720"/>
            <a:ext cx="914400" cy="0"/>
          </a:xfrm>
          <a:prstGeom prst="line">
            <a:avLst/>
          </a:prstGeom>
          <a:noFill/>
          <a:ln w="25400">
            <a:solidFill>
              <a:srgbClr val="00D9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46120" y="3246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606040" y="35204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703320" y="2606040"/>
            <a:ext cx="2286000" cy="1737360"/>
          </a:xfrm>
          <a:prstGeom prst="rect">
            <a:avLst/>
          </a:prstGeom>
          <a:solidFill>
            <a:srgbClr val="131829"/>
          </a:solidFill>
          <a:ln w="25400">
            <a:solidFill>
              <a:srgbClr val="00FF94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703320" y="2606040"/>
            <a:ext cx="228600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27889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7033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703320" y="36576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system_prompt +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3703320" y="3886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[...]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08076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FF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⇄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5943600" y="292608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tool_call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5943600" y="370332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766560" y="2286000"/>
            <a:ext cx="219456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423160"/>
            <a:ext cx="365760" cy="36576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0664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weather_api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766560" y="3063240"/>
            <a:ext cx="219456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0" y="32004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406640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calendar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766560" y="3840480"/>
            <a:ext cx="219456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9440" y="3977640"/>
            <a:ext cx="365760" cy="36576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406640" y="38404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send_email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6766560" y="19202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5989320" y="3474720"/>
            <a:ext cx="777240" cy="-868680"/>
          </a:xfrm>
          <a:prstGeom prst="line">
            <a:avLst/>
          </a:prstGeom>
          <a:noFill/>
          <a:ln w="9525">
            <a:solidFill>
              <a:srgbClr val="00D9FF">
                <a:alpha val="50000"/>
              </a:srgbClr>
            </a:solidFill>
            <a:prstDash val="dash"/>
          </a:ln>
        </p:spPr>
      </p:sp>
      <p:sp>
        <p:nvSpPr>
          <p:cNvPr id="31" name="Shape 24"/>
          <p:cNvSpPr/>
          <p:nvPr/>
        </p:nvSpPr>
        <p:spPr>
          <a:xfrm>
            <a:off x="5989320" y="3474720"/>
            <a:ext cx="777240" cy="-91440"/>
          </a:xfrm>
          <a:prstGeom prst="line">
            <a:avLst/>
          </a:prstGeom>
          <a:noFill/>
          <a:ln w="9525">
            <a:solidFill>
              <a:srgbClr val="00D9FF">
                <a:alpha val="50000"/>
              </a:srgbClr>
            </a:solidFill>
            <a:prstDash val="dash"/>
          </a:ln>
        </p:spPr>
      </p:sp>
      <p:sp>
        <p:nvSpPr>
          <p:cNvPr id="32" name="Shape 25"/>
          <p:cNvSpPr/>
          <p:nvPr/>
        </p:nvSpPr>
        <p:spPr>
          <a:xfrm>
            <a:off x="5989320" y="3474720"/>
            <a:ext cx="777240" cy="685800"/>
          </a:xfrm>
          <a:prstGeom prst="line">
            <a:avLst/>
          </a:prstGeom>
          <a:noFill/>
          <a:ln w="9525">
            <a:solidFill>
              <a:srgbClr val="00D9FF">
                <a:alpha val="50000"/>
              </a:srgbClr>
            </a:solidFill>
            <a:prstDash val="dash"/>
          </a:ln>
        </p:spPr>
      </p:sp>
      <p:sp>
        <p:nvSpPr>
          <p:cNvPr id="33" name="Shape 26"/>
          <p:cNvSpPr/>
          <p:nvPr/>
        </p:nvSpPr>
        <p:spPr>
          <a:xfrm>
            <a:off x="548640" y="4846320"/>
            <a:ext cx="11064240" cy="1417320"/>
          </a:xfrm>
          <a:prstGeom prst="rect">
            <a:avLst/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777240" y="4983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 TÍPICO</a:t>
            </a:r>
            <a:endParaRPr lang="en-US" sz="1100" dirty="0"/>
          </a:p>
        </p:txBody>
      </p:sp>
      <p:sp>
        <p:nvSpPr>
          <p:cNvPr id="35" name="Text 28"/>
          <p:cNvSpPr/>
          <p:nvPr/>
        </p:nvSpPr>
        <p:spPr>
          <a:xfrm>
            <a:off x="777240" y="5257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"Mira el clima de mañana y agéndame una reunión con Pedro a las 9 am si no llueve"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777240" y="5669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El LLM decide en qué orden invocar weather_api, calendar y send_email · 1-3 herramientas · Sin memoria persistente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39" name="Text 3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2 · Agente con memoria + RAG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agent with memory + RAG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3108960"/>
            <a:ext cx="1554480" cy="914400"/>
          </a:xfrm>
          <a:prstGeom prst="rect">
            <a:avLst/>
          </a:prstGeom>
          <a:solidFill>
            <a:srgbClr val="131829"/>
          </a:solidFill>
          <a:ln w="19050">
            <a:solidFill>
              <a:srgbClr val="00D9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3246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USUARIO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926080" y="2743200"/>
            <a:ext cx="2286000" cy="1645920"/>
          </a:xfrm>
          <a:prstGeom prst="rect">
            <a:avLst/>
          </a:prstGeom>
          <a:solidFill>
            <a:srgbClr val="131829"/>
          </a:solidFill>
          <a:ln w="25400">
            <a:solidFill>
              <a:srgbClr val="00FF9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926080" y="2743200"/>
            <a:ext cx="228600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29260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926080" y="34290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LLM AGENT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926080" y="37490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retrieval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2926080" y="40233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context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1737360"/>
            <a:ext cx="2560320" cy="1463040"/>
          </a:xfrm>
          <a:prstGeom prst="rect">
            <a:avLst/>
          </a:prstGeom>
          <a:solidFill>
            <a:srgbClr val="131829"/>
          </a:solidFill>
          <a:ln w="25400">
            <a:solidFill>
              <a:srgbClr val="B026FF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1737360"/>
            <a:ext cx="2560320" cy="54864"/>
          </a:xfrm>
          <a:prstGeom prst="rect">
            <a:avLst/>
          </a:prstGeom>
          <a:solidFill>
            <a:srgbClr val="B026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9202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2648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VECTOR DB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126480" y="269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Memoria de largo plazo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126480" y="2926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Pinecone · Chroma · Weaviate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9052560" y="1737360"/>
            <a:ext cx="2560320" cy="1463040"/>
          </a:xfrm>
          <a:prstGeom prst="rect">
            <a:avLst/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4120" y="1920240"/>
            <a:ext cx="457200" cy="4572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052560" y="2423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KNOWLEDGE BASE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052560" y="26974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Docs, FAQs, manuales,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9052560" y="2926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conversaciones previas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6126480" y="4114800"/>
            <a:ext cx="5486400" cy="868680"/>
          </a:xfrm>
          <a:prstGeom prst="rect">
            <a:avLst/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9360" y="4297680"/>
            <a:ext cx="502920" cy="5029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94944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6949440" y="443484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APIs, funciones, sistemas externos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103120" y="3566160"/>
            <a:ext cx="822960" cy="0"/>
          </a:xfrm>
          <a:prstGeom prst="line">
            <a:avLst/>
          </a:prstGeom>
          <a:noFill/>
          <a:ln w="19050">
            <a:solidFill>
              <a:srgbClr val="00D9FF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5212080" y="3200400"/>
            <a:ext cx="914400" cy="-731520"/>
          </a:xfrm>
          <a:prstGeom prst="line">
            <a:avLst/>
          </a:prstGeom>
          <a:noFill/>
          <a:ln w="19050">
            <a:solidFill>
              <a:srgbClr val="B026FF"/>
            </a:solidFill>
            <a:prstDash val="dash"/>
          </a:ln>
        </p:spPr>
      </p:sp>
      <p:sp>
        <p:nvSpPr>
          <p:cNvPr id="31" name="Text 24"/>
          <p:cNvSpPr/>
          <p:nvPr/>
        </p:nvSpPr>
        <p:spPr>
          <a:xfrm>
            <a:off x="5166360" y="246888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retrieve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5212080" y="4114800"/>
            <a:ext cx="914400" cy="365760"/>
          </a:xfrm>
          <a:prstGeom prst="line">
            <a:avLst/>
          </a:prstGeom>
          <a:noFill/>
          <a:ln w="19050">
            <a:solidFill>
              <a:srgbClr val="00D9FF"/>
            </a:solidFill>
            <a:prstDash val="dash"/>
          </a:ln>
        </p:spPr>
      </p:sp>
      <p:sp>
        <p:nvSpPr>
          <p:cNvPr id="33" name="Text 26"/>
          <p:cNvSpPr/>
          <p:nvPr/>
        </p:nvSpPr>
        <p:spPr>
          <a:xfrm>
            <a:off x="5166360" y="4251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invoke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8686800" y="2468880"/>
            <a:ext cx="365760" cy="0"/>
          </a:xfrm>
          <a:prstGeom prst="line">
            <a:avLst/>
          </a:prstGeom>
          <a:noFill/>
          <a:ln w="12700">
            <a:solidFill>
              <a:srgbClr val="00D9FF">
                <a:alpha val="70000"/>
              </a:srgbClr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548640" y="5212080"/>
            <a:ext cx="11064240" cy="1051560"/>
          </a:xfrm>
          <a:prstGeom prst="rect">
            <a:avLst/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777240" y="53492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 TÍPICO</a:t>
            </a:r>
            <a:endParaRPr lang="en-US" sz="1100" dirty="0"/>
          </a:p>
        </p:txBody>
      </p:sp>
      <p:sp>
        <p:nvSpPr>
          <p:cNvPr id="37" name="Text 30"/>
          <p:cNvSpPr/>
          <p:nvPr/>
        </p:nvSpPr>
        <p:spPr>
          <a:xfrm>
            <a:off x="777240" y="5623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de soporte que conoce la documentación interna de tu producto y aprende de cada caso resuelto.</a:t>
            </a:r>
            <a:endParaRPr lang="en-US" sz="1300" dirty="0"/>
          </a:p>
        </p:txBody>
      </p:sp>
      <p:sp>
        <p:nvSpPr>
          <p:cNvPr id="38" name="Text 31"/>
          <p:cNvSpPr/>
          <p:nvPr/>
        </p:nvSpPr>
        <p:spPr>
          <a:xfrm>
            <a:off x="77724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El LLM busca contexto relevante en la Vector DB ANTES de responder · Aprende de interacciones previas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3 · Multi-agente / orquestación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multi-agent orchestration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166360" y="1691640"/>
            <a:ext cx="1828800" cy="914400"/>
          </a:xfrm>
          <a:prstGeom prst="rect">
            <a:avLst/>
          </a:prstGeom>
          <a:solidFill>
            <a:srgbClr val="131829"/>
          </a:solidFill>
          <a:ln w="25400">
            <a:solidFill>
              <a:srgbClr val="00FF9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166360" y="1691640"/>
            <a:ext cx="182880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592" y="185623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66360" y="2286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SUPERVISOR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371600" y="3840480"/>
            <a:ext cx="1828800" cy="1280160"/>
          </a:xfrm>
          <a:prstGeom prst="rect">
            <a:avLst/>
          </a:prstGeom>
          <a:solidFill>
            <a:srgbClr val="131829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371600" y="3840480"/>
            <a:ext cx="182880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4832" y="4023360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INVESTIGADOR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37160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Busca 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recolecta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80760" y="2606040"/>
            <a:ext cx="-3794760" cy="1234440"/>
          </a:xfrm>
          <a:prstGeom prst="line">
            <a:avLst/>
          </a:prstGeom>
          <a:noFill/>
          <a:ln w="15240">
            <a:solidFill>
              <a:srgbClr val="00D9FF">
                <a:alpha val="70000"/>
              </a:srgbClr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5166360" y="3840480"/>
            <a:ext cx="1828800" cy="1280160"/>
          </a:xfrm>
          <a:prstGeom prst="rect">
            <a:avLst/>
          </a:prstGeom>
          <a:solidFill>
            <a:srgbClr val="131829"/>
          </a:solidFill>
          <a:ln w="19050">
            <a:solidFill>
              <a:srgbClr val="B026FF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166360" y="3840480"/>
            <a:ext cx="1828800" cy="54864"/>
          </a:xfrm>
          <a:prstGeom prst="rect">
            <a:avLst/>
          </a:prstGeom>
          <a:solidFill>
            <a:srgbClr val="B026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9592" y="4023360"/>
            <a:ext cx="402336" cy="40233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16636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REDACTOR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16636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Sintetiza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escribe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080760" y="2606040"/>
            <a:ext cx="0" cy="1234440"/>
          </a:xfrm>
          <a:prstGeom prst="line">
            <a:avLst/>
          </a:prstGeom>
          <a:noFill/>
          <a:ln w="15240">
            <a:solidFill>
              <a:srgbClr val="B026FF">
                <a:alpha val="70000"/>
              </a:srgbClr>
            </a:solidFill>
            <a:prstDash val="dash"/>
          </a:ln>
        </p:spPr>
      </p:sp>
      <p:sp>
        <p:nvSpPr>
          <p:cNvPr id="21" name="Shape 16"/>
          <p:cNvSpPr/>
          <p:nvPr/>
        </p:nvSpPr>
        <p:spPr>
          <a:xfrm>
            <a:off x="8961120" y="3840480"/>
            <a:ext cx="1828800" cy="1280160"/>
          </a:xfrm>
          <a:prstGeom prst="rect">
            <a:avLst/>
          </a:prstGeom>
          <a:solidFill>
            <a:srgbClr val="131829"/>
          </a:solidFill>
          <a:ln w="19050">
            <a:solidFill>
              <a:srgbClr val="00FF94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8961120" y="3840480"/>
            <a:ext cx="182880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4352" y="4023360"/>
            <a:ext cx="402336" cy="40233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961120" y="44348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REVISOR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8961120" y="47091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Valida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mejora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6080760" y="2606040"/>
            <a:ext cx="3794760" cy="1234440"/>
          </a:xfrm>
          <a:prstGeom prst="line">
            <a:avLst/>
          </a:prstGeom>
          <a:noFill/>
          <a:ln w="15240">
            <a:solidFill>
              <a:srgbClr val="00FF94">
                <a:alpha val="70000"/>
              </a:srgbClr>
            </a:solidFill>
            <a:prstDash val="dash"/>
          </a:ln>
        </p:spPr>
      </p:sp>
      <p:sp>
        <p:nvSpPr>
          <p:cNvPr id="27" name="Shape 21"/>
          <p:cNvSpPr/>
          <p:nvPr/>
        </p:nvSpPr>
        <p:spPr>
          <a:xfrm>
            <a:off x="548640" y="5486400"/>
            <a:ext cx="11064240" cy="777240"/>
          </a:xfrm>
          <a:prstGeom prst="rect">
            <a:avLst/>
          </a:prstGeom>
          <a:solidFill>
            <a:srgbClr val="050810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777240" y="5577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PATRONES COMUNES</a:t>
            </a:r>
            <a:endParaRPr lang="en-US" sz="1000" dirty="0"/>
          </a:p>
        </p:txBody>
      </p:sp>
      <p:sp>
        <p:nvSpPr>
          <p:cNvPr id="29" name="Text 23"/>
          <p:cNvSpPr/>
          <p:nvPr/>
        </p:nvSpPr>
        <p:spPr>
          <a:xfrm>
            <a:off x="777240" y="58521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Router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enruta tareas al agente correcto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Planner-Executor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uno planea, otro ejecuta 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Swarm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agentes pares colaboran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54864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FRAMEWORKS: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377440" y="3127248"/>
            <a:ext cx="1188720" cy="329184"/>
          </a:xfrm>
          <a:prstGeom prst="roundRect">
            <a:avLst>
              <a:gd name="adj" fmla="val 13889"/>
            </a:avLst>
          </a:prstGeom>
          <a:solidFill>
            <a:srgbClr val="131829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377440" y="3127248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3749040" y="3127248"/>
            <a:ext cx="914400" cy="329184"/>
          </a:xfrm>
          <a:prstGeom prst="roundRect">
            <a:avLst>
              <a:gd name="adj" fmla="val 13889"/>
            </a:avLst>
          </a:prstGeom>
          <a:solidFill>
            <a:srgbClr val="131829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3749040" y="3127248"/>
            <a:ext cx="914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CrewAI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4846320" y="3127248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131829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4846320" y="312724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AutoGen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035040" y="3127248"/>
            <a:ext cx="1463040" cy="329184"/>
          </a:xfrm>
          <a:prstGeom prst="roundRect">
            <a:avLst>
              <a:gd name="adj" fmla="val 13889"/>
            </a:avLst>
          </a:prstGeom>
          <a:solidFill>
            <a:srgbClr val="131829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6035040" y="3127248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 Swarm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41" name="Text 35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4 · Agente autónomo en producción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production-grade agent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3611880" cy="169164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73152" cy="1691640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2024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OBSERVABILIDAD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08760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traces, métricas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2743200"/>
            <a:ext cx="91440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70832" y="1645920"/>
            <a:ext cx="3611880" cy="169164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70832" y="1645920"/>
            <a:ext cx="73152" cy="1691640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5152" y="1920240"/>
            <a:ext cx="548640" cy="54864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30952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GUARDRAILS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30952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Validación, límites, seguridad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45152" y="2743200"/>
            <a:ext cx="914400" cy="0"/>
          </a:xfrm>
          <a:prstGeom prst="line">
            <a:avLst/>
          </a:prstGeom>
          <a:noFill/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93024" y="1645920"/>
            <a:ext cx="3611880" cy="169164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93024" y="1645920"/>
            <a:ext cx="73152" cy="1691640"/>
          </a:xfrm>
          <a:prstGeom prst="rect">
            <a:avLst/>
          </a:prstGeom>
          <a:solidFill>
            <a:srgbClr val="B026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344" y="1920240"/>
            <a:ext cx="548640" cy="5486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53144" y="19202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HUMAN-IN-THE-LOOP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9153144" y="22860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Aprobación para acciones críticas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8467344" y="2743200"/>
            <a:ext cx="914400" cy="0"/>
          </a:xfrm>
          <a:prstGeom prst="line">
            <a:avLst/>
          </a:prstGeom>
          <a:noFill/>
          <a:ln w="12700">
            <a:solidFill>
              <a:srgbClr val="B026FF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48640" y="3520440"/>
            <a:ext cx="3611880" cy="169164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48640" y="3520440"/>
            <a:ext cx="73152" cy="169164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794760"/>
            <a:ext cx="548640" cy="54864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508760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COLA DE TAREAS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50876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+ Redis · async workers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22960" y="4617720"/>
            <a:ext cx="914400" cy="0"/>
          </a:xfrm>
          <a:prstGeom prst="line">
            <a:avLst/>
          </a:prstGeom>
          <a:noFill/>
          <a:ln w="12700">
            <a:solidFill>
              <a:srgbClr val="00FF94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370832" y="3520440"/>
            <a:ext cx="3611880" cy="169164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4370832" y="3520440"/>
            <a:ext cx="73152" cy="1691640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5152" y="3794760"/>
            <a:ext cx="548640" cy="54864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5330952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PERSISTENCIA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5330952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Vector DB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4645152" y="4617720"/>
            <a:ext cx="91440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193024" y="3520440"/>
            <a:ext cx="3611880" cy="169164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8193024" y="3520440"/>
            <a:ext cx="73152" cy="1691640"/>
          </a:xfrm>
          <a:prstGeom prst="rect">
            <a:avLst/>
          </a:prstGeom>
          <a:solidFill>
            <a:srgbClr val="94A3B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7344" y="3794760"/>
            <a:ext cx="548640" cy="548640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153144" y="37947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INFRAESTRUCTURA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9153144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· Kubernetes · cloud</a:t>
            </a:r>
            <a:endParaRPr lang="en-US" sz="1100" dirty="0"/>
          </a:p>
        </p:txBody>
      </p:sp>
      <p:sp>
        <p:nvSpPr>
          <p:cNvPr id="40" name="Shape 32"/>
          <p:cNvSpPr/>
          <p:nvPr/>
        </p:nvSpPr>
        <p:spPr>
          <a:xfrm>
            <a:off x="8467344" y="4617720"/>
            <a:ext cx="91440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48640" y="5532120"/>
            <a:ext cx="11064240" cy="731520"/>
          </a:xfrm>
          <a:prstGeom prst="rect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7240" y="5715000"/>
            <a:ext cx="365760" cy="36576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280160" y="5532120"/>
            <a:ext cx="10241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EJEMPLO REAL ·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Tenable AI Agent ·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de email → validación de inventario → ejecución de scan → entrega de reporte.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FastAPI + Celery + Redis + PostgreSQL.</a:t>
            </a:r>
            <a:endParaRPr lang="en-US" sz="1100" dirty="0"/>
          </a:p>
        </p:txBody>
      </p:sp>
      <p:sp>
        <p:nvSpPr>
          <p:cNvPr id="44" name="Shape 3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46" name="Text 3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· Model Context Protocol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USB-C of AI agents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1064240" cy="548640"/>
          </a:xfrm>
          <a:prstGeom prst="rect">
            <a:avLst/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73352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5544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estándar abierto para conectar herramientas a cualquier LLM.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377440"/>
            <a:ext cx="5486400" cy="3886200"/>
          </a:xfrm>
          <a:prstGeom prst="rect">
            <a:avLst/>
          </a:prstGeom>
          <a:solidFill>
            <a:srgbClr val="13182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ANTES DE MCP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M×N integration problem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7240" y="324612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7724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0" y="324612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77240" y="406908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0" y="406908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77240" y="489204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7240" y="4892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72000" y="489204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4892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Gmail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1965960" y="3497580"/>
            <a:ext cx="2606040" cy="0"/>
          </a:xfrm>
          <a:prstGeom prst="line">
            <a:avLst/>
          </a:prstGeom>
          <a:noFill/>
          <a:ln w="762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965960" y="3497580"/>
            <a:ext cx="2606040" cy="822960"/>
          </a:xfrm>
          <a:prstGeom prst="line">
            <a:avLst/>
          </a:prstGeom>
          <a:noFill/>
          <a:ln w="762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965960" y="3497580"/>
            <a:ext cx="2606040" cy="1645920"/>
          </a:xfrm>
          <a:prstGeom prst="line">
            <a:avLst/>
          </a:prstGeom>
          <a:noFill/>
          <a:ln w="762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965960" y="4320540"/>
            <a:ext cx="2606040" cy="-822960"/>
          </a:xfrm>
          <a:prstGeom prst="line">
            <a:avLst/>
          </a:prstGeom>
          <a:noFill/>
          <a:ln w="762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965960" y="4320540"/>
            <a:ext cx="2606040" cy="0"/>
          </a:xfrm>
          <a:prstGeom prst="line">
            <a:avLst/>
          </a:prstGeom>
          <a:noFill/>
          <a:ln w="762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965960" y="4320540"/>
            <a:ext cx="2606040" cy="822960"/>
          </a:xfrm>
          <a:prstGeom prst="line">
            <a:avLst/>
          </a:prstGeom>
          <a:noFill/>
          <a:ln w="762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965960" y="5143500"/>
            <a:ext cx="2606040" cy="-1645920"/>
          </a:xfrm>
          <a:prstGeom prst="line">
            <a:avLst/>
          </a:prstGeom>
          <a:noFill/>
          <a:ln w="762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965960" y="5143500"/>
            <a:ext cx="2606040" cy="-822960"/>
          </a:xfrm>
          <a:prstGeom prst="line">
            <a:avLst/>
          </a:prstGeom>
          <a:noFill/>
          <a:ln w="762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965960" y="5143500"/>
            <a:ext cx="2606040" cy="0"/>
          </a:xfrm>
          <a:prstGeom prst="line">
            <a:avLst/>
          </a:prstGeom>
          <a:noFill/>
          <a:ln w="7620">
            <a:solidFill>
              <a:srgbClr val="EF4444">
                <a:alpha val="5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4864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× N integraciones custom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172200" y="2377440"/>
            <a:ext cx="5486400" cy="3886200"/>
          </a:xfrm>
          <a:prstGeom prst="rect">
            <a:avLst/>
          </a:prstGeom>
          <a:solidFill>
            <a:srgbClr val="131829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72200" y="2468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 MCP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6172200" y="2788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 + N · standard protocol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6400800" y="324612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400800" y="324612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400800" y="406908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0" y="40690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GPT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6400800" y="4892040"/>
            <a:ext cx="118872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400800" y="489204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Gemini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8275320" y="3703320"/>
            <a:ext cx="1280160" cy="777240"/>
          </a:xfrm>
          <a:prstGeom prst="roundRect">
            <a:avLst>
              <a:gd name="adj" fmla="val 11765"/>
            </a:avLst>
          </a:prstGeom>
          <a:solidFill>
            <a:srgbClr val="00FF94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275320" y="370332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275320" y="406908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A0E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protocol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10195560" y="324612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10195560" y="3246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10195560" y="406908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195560" y="406908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10195560" y="4892040"/>
            <a:ext cx="1280160" cy="502920"/>
          </a:xfrm>
          <a:prstGeom prst="roundRect">
            <a:avLst>
              <a:gd name="adj" fmla="val 9091"/>
            </a:avLst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10195560" y="48920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Gmail</a:t>
            </a:r>
            <a:endParaRPr lang="en-US" sz="1100" dirty="0"/>
          </a:p>
        </p:txBody>
      </p:sp>
      <p:sp>
        <p:nvSpPr>
          <p:cNvPr id="51" name="Shape 48"/>
          <p:cNvSpPr/>
          <p:nvPr/>
        </p:nvSpPr>
        <p:spPr>
          <a:xfrm>
            <a:off x="7589520" y="3497580"/>
            <a:ext cx="685800" cy="571500"/>
          </a:xfrm>
          <a:prstGeom prst="line">
            <a:avLst/>
          </a:prstGeom>
          <a:noFill/>
          <a:ln w="12700">
            <a:solidFill>
              <a:srgbClr val="00FF94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9555480" y="4069080"/>
            <a:ext cx="640080" cy="-571500"/>
          </a:xfrm>
          <a:prstGeom prst="line">
            <a:avLst/>
          </a:prstGeom>
          <a:noFill/>
          <a:ln w="12700">
            <a:solidFill>
              <a:srgbClr val="00FF94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589520" y="4320540"/>
            <a:ext cx="685800" cy="-251460"/>
          </a:xfrm>
          <a:prstGeom prst="line">
            <a:avLst/>
          </a:prstGeom>
          <a:noFill/>
          <a:ln w="12700">
            <a:solidFill>
              <a:srgbClr val="00FF94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9555480" y="4069080"/>
            <a:ext cx="640080" cy="251460"/>
          </a:xfrm>
          <a:prstGeom prst="line">
            <a:avLst/>
          </a:prstGeom>
          <a:noFill/>
          <a:ln w="12700">
            <a:solidFill>
              <a:srgbClr val="00FF9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589520" y="5143500"/>
            <a:ext cx="685800" cy="-1074420"/>
          </a:xfrm>
          <a:prstGeom prst="line">
            <a:avLst/>
          </a:prstGeom>
          <a:noFill/>
          <a:ln w="12700">
            <a:solidFill>
              <a:srgbClr val="00FF94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9555480" y="4069080"/>
            <a:ext cx="640080" cy="1074420"/>
          </a:xfrm>
          <a:prstGeom prst="line">
            <a:avLst/>
          </a:prstGeom>
          <a:noFill/>
          <a:ln w="12700">
            <a:solidFill>
              <a:srgbClr val="00FF9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6172200" y="5852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+ N integraciones (¡suma!)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60" name="Text 57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24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0" dirty="0"/>
          </a:p>
        </p:txBody>
      </p:sp>
      <p:sp>
        <p:nvSpPr>
          <p:cNvPr id="3" name="Shape 1"/>
          <p:cNvSpPr/>
          <p:nvPr/>
        </p:nvSpPr>
        <p:spPr>
          <a:xfrm>
            <a:off x="548640" y="3657600"/>
            <a:ext cx="54864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BLOQUE 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4160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práctico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Hands-on building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53949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casos progresivos · low-code → Python → comparación entre modelos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5943600"/>
            <a:ext cx="11064240" cy="502920"/>
          </a:xfrm>
          <a:prstGeom prst="rect">
            <a:avLst/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03504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5943600"/>
            <a:ext cx="10058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Sigue paso a paso en el GitBook  ·  workbook completo con código y guías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24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1 · Agente personal en low-code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12 min · n8n / Make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n8n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DIFICULTAD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★☆☆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1540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9828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Todos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331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OBJETIVO  ·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un agente que lea correos no leídos, los clasifique por urgencia y cree tareas en Notion/Trello.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29488" y="3108960"/>
            <a:ext cx="1920240" cy="1371600"/>
          </a:xfrm>
          <a:prstGeom prst="rect">
            <a:avLst/>
          </a:prstGeom>
          <a:solidFill>
            <a:srgbClr val="131829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9488" y="3108960"/>
            <a:ext cx="192024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88" y="3337560"/>
            <a:ext cx="548640" cy="5486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929488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Gmail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2858872" y="3611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032608" y="3108960"/>
            <a:ext cx="1920240" cy="1371600"/>
          </a:xfrm>
          <a:prstGeom prst="rect">
            <a:avLst/>
          </a:prstGeom>
          <a:solidFill>
            <a:srgbClr val="131829"/>
          </a:solidFill>
          <a:ln w="19050">
            <a:solidFill>
              <a:srgbClr val="00FF94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032608" y="3108960"/>
            <a:ext cx="1920240" cy="54864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8408" y="3337560"/>
            <a:ext cx="548640" cy="54864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3032608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Agent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(Classifier)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961992" y="3611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9" name="Shape 25"/>
          <p:cNvSpPr/>
          <p:nvPr/>
        </p:nvSpPr>
        <p:spPr>
          <a:xfrm>
            <a:off x="5135728" y="3108960"/>
            <a:ext cx="1920240" cy="1371600"/>
          </a:xfrm>
          <a:prstGeom prst="rect">
            <a:avLst/>
          </a:prstGeom>
          <a:solidFill>
            <a:srgbClr val="131829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5135728" y="3108960"/>
            <a:ext cx="1920240" cy="54864"/>
          </a:xfrm>
          <a:prstGeom prst="rect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1528" y="3337560"/>
            <a:ext cx="548640" cy="5486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5135728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 urgency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7065112" y="3611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4" name="Shape 29"/>
          <p:cNvSpPr/>
          <p:nvPr/>
        </p:nvSpPr>
        <p:spPr>
          <a:xfrm>
            <a:off x="7238848" y="3108960"/>
            <a:ext cx="1920240" cy="1371600"/>
          </a:xfrm>
          <a:prstGeom prst="rect">
            <a:avLst/>
          </a:prstGeom>
          <a:solidFill>
            <a:srgbClr val="131829"/>
          </a:solidFill>
          <a:ln w="19050">
            <a:solidFill>
              <a:srgbClr val="B026F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7238848" y="3108960"/>
            <a:ext cx="1920240" cy="54864"/>
          </a:xfrm>
          <a:prstGeom prst="rect">
            <a:avLst/>
          </a:prstGeom>
          <a:solidFill>
            <a:srgbClr val="B026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4648" y="3337560"/>
            <a:ext cx="548640" cy="54864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7238848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Task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Notion/Trello</a:t>
            </a:r>
            <a:endParaRPr lang="en-US" sz="1100" dirty="0"/>
          </a:p>
        </p:txBody>
      </p:sp>
      <p:sp>
        <p:nvSpPr>
          <p:cNvPr id="38" name="Text 32"/>
          <p:cNvSpPr/>
          <p:nvPr/>
        </p:nvSpPr>
        <p:spPr>
          <a:xfrm>
            <a:off x="9168232" y="361188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9341968" y="3108960"/>
            <a:ext cx="1920240" cy="1371600"/>
          </a:xfrm>
          <a:prstGeom prst="rect">
            <a:avLst/>
          </a:prstGeom>
          <a:solidFill>
            <a:srgbClr val="131829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9341968" y="3108960"/>
            <a:ext cx="1920240" cy="54864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27768" y="3337560"/>
            <a:ext cx="548640" cy="54864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341968" y="397764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Slack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Notify</a:t>
            </a:r>
            <a:endParaRPr lang="en-US" sz="1100" dirty="0"/>
          </a:p>
        </p:txBody>
      </p:sp>
      <p:sp>
        <p:nvSpPr>
          <p:cNvPr id="43" name="Shape 36"/>
          <p:cNvSpPr/>
          <p:nvPr/>
        </p:nvSpPr>
        <p:spPr>
          <a:xfrm>
            <a:off x="548640" y="4937760"/>
            <a:ext cx="5440680" cy="13258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5074920"/>
            <a:ext cx="365760" cy="36576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23444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CONCEPTO QUE ENSEÑA</a:t>
            </a:r>
            <a:endParaRPr lang="en-US" sz="1100" dirty="0"/>
          </a:p>
        </p:txBody>
      </p:sp>
      <p:sp>
        <p:nvSpPr>
          <p:cNvPr id="46" name="Text 38"/>
          <p:cNvSpPr/>
          <p:nvPr/>
        </p:nvSpPr>
        <p:spPr>
          <a:xfrm>
            <a:off x="777240" y="5440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básico, sin escribir código.</a:t>
            </a:r>
            <a:endParaRPr lang="en-US" sz="1200" dirty="0"/>
          </a:p>
        </p:txBody>
      </p:sp>
      <p:sp>
        <p:nvSpPr>
          <p:cNvPr id="47" name="Text 39"/>
          <p:cNvSpPr/>
          <p:nvPr/>
        </p:nvSpPr>
        <p:spPr>
          <a:xfrm>
            <a:off x="777240" y="57607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agente decide la herramienta a invocar a partir del contenido del correo.</a:t>
            </a:r>
            <a:endParaRPr lang="en-US" sz="1100" dirty="0"/>
          </a:p>
        </p:txBody>
      </p:sp>
      <p:sp>
        <p:nvSpPr>
          <p:cNvPr id="48" name="Shape 40"/>
          <p:cNvSpPr/>
          <p:nvPr/>
        </p:nvSpPr>
        <p:spPr>
          <a:xfrm>
            <a:off x="6172200" y="4937760"/>
            <a:ext cx="5440680" cy="13258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5074920"/>
            <a:ext cx="365760" cy="365760"/>
          </a:xfrm>
          <a:prstGeom prst="rect">
            <a:avLst/>
          </a:prstGeom>
        </p:spPr>
      </p:pic>
      <p:sp>
        <p:nvSpPr>
          <p:cNvPr id="50" name="Text 41"/>
          <p:cNvSpPr/>
          <p:nvPr/>
        </p:nvSpPr>
        <p:spPr>
          <a:xfrm>
            <a:off x="685800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 QUÉ EMPEZAR AQUÍ</a:t>
            </a:r>
            <a:endParaRPr lang="en-US" sz="1100" dirty="0"/>
          </a:p>
        </p:txBody>
      </p:sp>
      <p:sp>
        <p:nvSpPr>
          <p:cNvPr id="51" name="Text 42"/>
          <p:cNvSpPr/>
          <p:nvPr/>
        </p:nvSpPr>
        <p:spPr>
          <a:xfrm>
            <a:off x="6400800" y="54406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técnicos no se pierden. Técnicos ven la velocidad del prototipado.</a:t>
            </a:r>
            <a:endParaRPr lang="en-US" sz="1200" dirty="0"/>
          </a:p>
        </p:txBody>
      </p:sp>
      <p:sp>
        <p:nvSpPr>
          <p:cNvPr id="52" name="Text 43"/>
          <p:cNvSpPr/>
          <p:nvPr/>
        </p:nvSpPr>
        <p:spPr>
          <a:xfrm>
            <a:off x="6400800" y="58521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Misma lógica que veremos luego en código.</a:t>
            </a:r>
            <a:endParaRPr lang="en-US" sz="1100" dirty="0"/>
          </a:p>
        </p:txBody>
      </p:sp>
      <p:sp>
        <p:nvSpPr>
          <p:cNvPr id="53" name="Shape 44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54" name="Text 4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55" name="Text 46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24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2 · Python + Claude Tool Use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14 min · API +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+ Claude API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DIFICULTAD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★★☆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9828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Técnica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6858000" cy="3931920"/>
          </a:xfrm>
          <a:prstGeom prst="rect">
            <a:avLst/>
          </a:prstGeom>
          <a:solidFill>
            <a:srgbClr val="050810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2331720"/>
            <a:ext cx="6858000" cy="365760"/>
          </a:xfrm>
          <a:prstGeom prst="rect">
            <a:avLst/>
          </a:prstGeom>
          <a:solidFill>
            <a:srgbClr val="1318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2423160"/>
            <a:ext cx="164592" cy="164592"/>
          </a:xfrm>
          <a:prstGeom prst="oval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96112" y="2423160"/>
            <a:ext cx="164592" cy="164592"/>
          </a:xfrm>
          <a:prstGeom prst="oval">
            <a:avLst/>
          </a:prstGeom>
          <a:solidFill>
            <a:srgbClr val="FBBF2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06424" y="2423160"/>
            <a:ext cx="164592" cy="164592"/>
          </a:xfrm>
          <a:prstGeom prst="oval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3317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agent.py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278892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anthropic import Anthropic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77240" y="297637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client = Anthropic()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77240" y="316382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77240" y="335127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tools = [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77240" y="353872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"leer_correos",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77240" y="372618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"description": "Lee correos no leidos",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77240" y="391363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"input_schema": {...}},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77240" y="410108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{"name": "crear_tarea",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77240" y="428853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"description": "Crea tarea en Notion",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77240" y="447598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"input_schema": {...}},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77240" y="46634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77240" y="485089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77240" y="503834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 = client.messages.create(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777240" y="5225796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model="claude-opus-4-7",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77240" y="5413248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tools=tools,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77240" y="560070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messages=[{"role":"user",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77240" y="5788152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"content": user_input}]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777240" y="59756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89520" y="2331720"/>
            <a:ext cx="4023360" cy="3931920"/>
          </a:xfrm>
          <a:prstGeom prst="rect">
            <a:avLst/>
          </a:prstGeom>
          <a:solidFill>
            <a:srgbClr val="131829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89520" y="2468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 LOOP DE TOOL USE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7726680" y="2926080"/>
            <a:ext cx="365760" cy="365760"/>
          </a:xfrm>
          <a:prstGeom prst="oval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26680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83880" y="292608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 message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83880" y="313639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"Procesa mis correos"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726680" y="3566160"/>
            <a:ext cx="365760" cy="365760"/>
          </a:xfrm>
          <a:prstGeom prst="oval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2668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183880" y="356616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responds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183880" y="377647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tool_use: leer_correos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726680" y="4206240"/>
            <a:ext cx="365760" cy="365760"/>
          </a:xfrm>
          <a:prstGeom prst="oval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2668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183880" y="420624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execute tool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183880" y="441655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obtienes resultado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26680" y="4846320"/>
            <a:ext cx="365760" cy="365760"/>
          </a:xfrm>
          <a:prstGeom prst="oval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2668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8183880" y="484632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tool_result back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183880" y="505663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 lo devuelves a Claude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726680" y="5486400"/>
            <a:ext cx="365760" cy="365760"/>
          </a:xfrm>
          <a:prstGeom prst="oval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26680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183880" y="5486400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 decision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183880" y="5696712"/>
            <a:ext cx="3337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 hasta stop_reason: end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548640" y="6400800"/>
            <a:ext cx="11064240" cy="0"/>
          </a:xfrm>
          <a:prstGeom prst="rect">
            <a:avLst/>
          </a:prstGeom>
          <a:noFill/>
          <a:ln w="12700">
            <a:solidFill>
              <a:srgbClr val="333333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24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3 · El mismo agente, 3 cerebros distintos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Claude vs GPT vs Gemini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TIEMPO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33756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2044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APIs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DIFICULTAD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★★★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915400" y="1554480"/>
            <a:ext cx="2697480" cy="64008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098280" y="160020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AUDIENCIA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098280" y="18288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2331720"/>
            <a:ext cx="11064240" cy="502920"/>
          </a:xfrm>
          <a:prstGeom prst="rect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3317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CASO  ·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 que recibe un CVE → consulta severidad → sugiere remediación. </a:t>
            </a:r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Implementado con las 3 APIs.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017520"/>
            <a:ext cx="3611880" cy="3246120"/>
          </a:xfrm>
          <a:prstGeom prst="rect">
            <a:avLst/>
          </a:prstGeom>
          <a:solidFill>
            <a:srgbClr val="131829"/>
          </a:solidFill>
          <a:ln w="19050">
            <a:solidFill>
              <a:srgbClr val="00D9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017520"/>
            <a:ext cx="361188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246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548640" y="3657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554480" y="4023360"/>
            <a:ext cx="1600200" cy="0"/>
          </a:xfrm>
          <a:prstGeom prst="line">
            <a:avLst/>
          </a:prstGeom>
          <a:noFill/>
          <a:ln w="12700">
            <a:solidFill>
              <a:srgbClr val="00D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160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370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tool_use blocks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1520" y="47548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FORTALEZA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1520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Razonamiento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estructurado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31520" y="55778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caro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370832" y="3017520"/>
            <a:ext cx="3611880" cy="3246120"/>
          </a:xfrm>
          <a:prstGeom prst="rect">
            <a:avLst/>
          </a:prstGeom>
          <a:solidFill>
            <a:srgbClr val="131829"/>
          </a:solidFill>
          <a:ln w="19050">
            <a:solidFill>
              <a:srgbClr val="B026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3017520"/>
            <a:ext cx="3611880" cy="73152"/>
          </a:xfrm>
          <a:prstGeom prst="rect">
            <a:avLst/>
          </a:prstGeom>
          <a:solidFill>
            <a:srgbClr val="B02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246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4370832" y="3657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376672" y="4023360"/>
            <a:ext cx="1600200" cy="0"/>
          </a:xfrm>
          <a:prstGeom prst="line">
            <a:avLst/>
          </a:prstGeom>
          <a:noFill/>
          <a:ln w="12700">
            <a:solidFill>
              <a:srgbClr val="B026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53712" y="4160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FORMATO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53712" y="4370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function_call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553712" y="47548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FORTALEZA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53712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maduro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553712" y="55778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553712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estricto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193024" y="3017520"/>
            <a:ext cx="3611880" cy="3246120"/>
          </a:xfrm>
          <a:prstGeom prst="rect">
            <a:avLst/>
          </a:prstGeom>
          <a:solidFill>
            <a:srgbClr val="131829"/>
          </a:solidFill>
          <a:ln w="19050">
            <a:solidFill>
              <a:srgbClr val="00FF9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93024" y="3017520"/>
            <a:ext cx="3611880" cy="73152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193024" y="324612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8193024" y="36576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Google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9198864" y="4023360"/>
            <a:ext cx="1600200" cy="0"/>
          </a:xfrm>
          <a:prstGeom prst="line">
            <a:avLst/>
          </a:prstGeom>
          <a:noFill/>
          <a:ln w="12700">
            <a:solidFill>
              <a:srgbClr val="00FF9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75904" y="416052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FORMATO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375904" y="4370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functionCalls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375904" y="475488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FORTALEZA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375904" y="49834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8375904" y="5577840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TRADE-OFF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375904" y="58064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joven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24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demuestra el workshop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what the workshop proves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137160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91440" cy="1371600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96596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5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21031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91840" y="1920240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es independiente del proveedor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291840" y="2404872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herramientas, pásalas al modelo, ejecuta el loop. Lo aprendiste una vez — lo usas con cualquier API.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11064240" cy="137160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48640" y="3200400"/>
            <a:ext cx="91440" cy="137160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68680" y="34747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5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7440" y="3611880"/>
            <a:ext cx="640080" cy="6400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91840" y="3429000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Low-code no es "de juguete"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3291840" y="3913632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muchos casos reales, n8n o Make resuelven en 30 minutos lo que en código tomaría días. Empieza ahí.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48640" y="4709160"/>
            <a:ext cx="91440" cy="1371600"/>
          </a:xfrm>
          <a:prstGeom prst="rect">
            <a:avLst/>
          </a:prstGeom>
          <a:solidFill>
            <a:srgbClr val="B02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68680" y="49834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50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7440" y="5120640"/>
            <a:ext cx="640080" cy="6400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291840" y="4937760"/>
            <a:ext cx="8183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cuello de botella no es el modelo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3291840" y="5422392"/>
            <a:ext cx="8183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definir bien las herramientas, los inputs y el system prompt. Ahí se gana o se pierde la calidad del agente.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24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mensajes para llevarse a casa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 things to remember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11064240" cy="141732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45920"/>
            <a:ext cx="137160" cy="1417320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8745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es simple.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005840" y="2359152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pattern is simple.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Percibir → Razonar → Actuar → Observar. En bucle. Eso es todo.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218688"/>
            <a:ext cx="11064240" cy="141732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3218688"/>
            <a:ext cx="137160" cy="1417320"/>
          </a:xfrm>
          <a:prstGeom prst="rect">
            <a:avLst/>
          </a:prstGeom>
          <a:solidFill>
            <a:srgbClr val="00FF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44728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Empieza pequeño.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005840" y="393192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Start small.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417880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agente con una herramienta resolviendo un problema real &gt; diez agentes en PowerPoint.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791456"/>
            <a:ext cx="11064240" cy="141732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4791456"/>
            <a:ext cx="137160" cy="1417320"/>
          </a:xfrm>
          <a:prstGeom prst="rect">
            <a:avLst/>
          </a:prstGeom>
          <a:solidFill>
            <a:srgbClr val="B026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502005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eres el cuello de botella.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1005840" y="5504688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02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You are the bottleneck now.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575157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que sepa describir bien procesos, ganará. La IA ya está lista. ¿Y tú?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24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Recursos · Sigue construyendo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resources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502920"/>
            <a:ext cx="109728" cy="365760"/>
          </a:xfrm>
          <a:prstGeom prst="rect">
            <a:avLst/>
          </a:prstGeom>
          <a:solidFill>
            <a:srgbClr val="00D9FF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91640"/>
            <a:ext cx="11064240" cy="2194560"/>
          </a:xfrm>
          <a:prstGeom prst="rect">
            <a:avLst/>
          </a:prstGeom>
          <a:solidFill>
            <a:srgbClr val="131829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91640"/>
            <a:ext cx="11064240" cy="73152"/>
          </a:xfrm>
          <a:prstGeom prst="rect">
            <a:avLst/>
          </a:prstGeom>
          <a:solidFill>
            <a:srgbClr val="00D9FF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103120"/>
            <a:ext cx="128016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46888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WORKBOOK COMPLETO  ·  GITBOOK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2468880" y="23317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a paso de los 3 casos del workshop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2468880" y="28346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completo · setup paso a paso · screenshots · tips · troubleshooting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468880" y="324612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 elrarodenegro.gitbook.io/agentes-ia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4160520"/>
            <a:ext cx="3611880" cy="169164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34340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17320" y="4297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Docs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822960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Use guide oficial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5349240"/>
            <a:ext cx="3017520" cy="0"/>
          </a:xfrm>
          <a:prstGeom prst="line">
            <a:avLst/>
          </a:prstGeom>
          <a:noFill/>
          <a:ln w="6350">
            <a:solidFill>
              <a:srgbClr val="00D9FF">
                <a:alpha val="50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22960" y="5440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docs.anthropic.com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370832" y="4160520"/>
            <a:ext cx="3611880" cy="169164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5152" y="43434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239512" y="4297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Cookbook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4645152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 calling examples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645152" y="5349240"/>
            <a:ext cx="3017520" cy="0"/>
          </a:xfrm>
          <a:prstGeom prst="line">
            <a:avLst/>
          </a:prstGeom>
          <a:noFill/>
          <a:ln w="6350">
            <a:solidFill>
              <a:srgbClr val="00D9FF">
                <a:alpha val="5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645152" y="5440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cookbook.openai.com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193024" y="4160520"/>
            <a:ext cx="3611880" cy="1691640"/>
          </a:xfrm>
          <a:prstGeom prst="rect">
            <a:avLst/>
          </a:prstGeom>
          <a:solidFill>
            <a:srgbClr val="131829"/>
          </a:solidFill>
          <a:ln w="12700">
            <a:solidFill>
              <a:srgbClr val="1E294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7344" y="434340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9061704" y="42976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Spec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8467344" y="4937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 oficial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8467344" y="5349240"/>
            <a:ext cx="3017520" cy="0"/>
          </a:xfrm>
          <a:prstGeom prst="line">
            <a:avLst/>
          </a:prstGeom>
          <a:noFill/>
          <a:ln w="6350">
            <a:solidFill>
              <a:srgbClr val="00D9FF">
                <a:alpha val="50000"/>
              </a:srgbClr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8467344" y="54406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modelcontextprotocol.io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solidFill>
            <a:srgbClr val="050810"/>
          </a:solidFill>
          <a:ln w="12700">
            <a:solidFill>
              <a:srgbClr val="00FF94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7724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FF9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SÍGUEME  ·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 ·  </a:t>
            </a:r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ciberseguridad · ethical hacking · IA aplicada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457200" y="6446520"/>
            <a:ext cx="11277295" cy="0"/>
          </a:xfrm>
          <a:prstGeom prst="line">
            <a:avLst/>
          </a:prstGeom>
          <a:noFill/>
          <a:ln w="6350">
            <a:solidFill>
              <a:srgbClr val="00D9FF">
                <a:alpha val="3000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elrarodenegro · Cristian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24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120640" y="3291840"/>
            <a:ext cx="1920240" cy="0"/>
          </a:xfrm>
          <a:prstGeom prst="line">
            <a:avLst/>
          </a:prstGeom>
          <a:noFill/>
          <a:ln w="38100">
            <a:solidFill>
              <a:srgbClr val="00D9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520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Questions?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4572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por compartir esta hora y media.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solidFill>
            <a:srgbClr val="131829"/>
          </a:solidFill>
          <a:ln w="12700">
            <a:solidFill>
              <a:srgbClr val="00D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58521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Cristian  ·  </a:t>
            </a:r>
            <a:pPr algn="ctr" indent="0" marL="0">
              <a:buNone/>
            </a:pPr>
            <a:r>
              <a:rPr lang="en-US" sz="1400" b="1" dirty="0">
                <a:solidFill>
                  <a:srgbClr val="00D9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elrarodenegro</a:t>
            </a:r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algn="ctr"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&amp; AI Agents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Axity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Creación de agentes de IA para automatización de procesos</dc:title>
  <dc:subject>PptxGenJS Presentation</dc:subject>
  <dc:creator>Cristian - elrarodenegro</dc:creator>
  <cp:lastModifiedBy>Cristian - elrarodenegro</cp:lastModifiedBy>
  <cp:revision>1</cp:revision>
  <dcterms:created xsi:type="dcterms:W3CDTF">2026-04-27T22:47:26Z</dcterms:created>
  <dcterms:modified xsi:type="dcterms:W3CDTF">2026-04-27T22:47:26Z</dcterms:modified>
</cp:coreProperties>
</file>